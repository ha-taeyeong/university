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50"/>
    <p:restoredTop sz="94610"/>
  </p:normalViewPr>
  <p:slideViewPr>
    <p:cSldViewPr snapToGrid="0" snapToObjects="1">
      <p:cViewPr varScale="1">
        <p:scale>
          <a:sx n="148" d="100"/>
          <a:sy n="148" d="100"/>
        </p:scale>
        <p:origin x="6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6812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3" Type="http://schemas.openxmlformats.org/officeDocument/2006/relationships/image" Target="../media/image1.png"/><Relationship Id="rId21" Type="http://schemas.openxmlformats.org/officeDocument/2006/relationships/image" Target="../media/image39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4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3" Type="http://schemas.openxmlformats.org/officeDocument/2006/relationships/image" Target="../media/image1.png"/><Relationship Id="rId21" Type="http://schemas.openxmlformats.org/officeDocument/2006/relationships/image" Target="../media/image57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5" Type="http://schemas.openxmlformats.org/officeDocument/2006/relationships/image" Target="../media/image6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24" Type="http://schemas.openxmlformats.org/officeDocument/2006/relationships/image" Target="../media/image60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23" Type="http://schemas.openxmlformats.org/officeDocument/2006/relationships/image" Target="../media/image59.png"/><Relationship Id="rId10" Type="http://schemas.openxmlformats.org/officeDocument/2006/relationships/image" Target="../media/image46.png"/><Relationship Id="rId19" Type="http://schemas.openxmlformats.org/officeDocument/2006/relationships/image" Target="../media/image55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Relationship Id="rId22" Type="http://schemas.openxmlformats.org/officeDocument/2006/relationships/image" Target="../media/image5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18" Type="http://schemas.openxmlformats.org/officeDocument/2006/relationships/image" Target="../media/image76.png"/><Relationship Id="rId26" Type="http://schemas.openxmlformats.org/officeDocument/2006/relationships/image" Target="../media/image84.png"/><Relationship Id="rId3" Type="http://schemas.openxmlformats.org/officeDocument/2006/relationships/image" Target="../media/image1.png"/><Relationship Id="rId21" Type="http://schemas.openxmlformats.org/officeDocument/2006/relationships/image" Target="../media/image79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17" Type="http://schemas.openxmlformats.org/officeDocument/2006/relationships/image" Target="../media/image75.png"/><Relationship Id="rId25" Type="http://schemas.openxmlformats.org/officeDocument/2006/relationships/image" Target="../media/image83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74.png"/><Relationship Id="rId20" Type="http://schemas.openxmlformats.org/officeDocument/2006/relationships/image" Target="../media/image78.png"/><Relationship Id="rId29" Type="http://schemas.openxmlformats.org/officeDocument/2006/relationships/image" Target="../media/image8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24" Type="http://schemas.openxmlformats.org/officeDocument/2006/relationships/image" Target="../media/image82.png"/><Relationship Id="rId5" Type="http://schemas.openxmlformats.org/officeDocument/2006/relationships/image" Target="../media/image63.png"/><Relationship Id="rId15" Type="http://schemas.openxmlformats.org/officeDocument/2006/relationships/image" Target="../media/image73.png"/><Relationship Id="rId23" Type="http://schemas.openxmlformats.org/officeDocument/2006/relationships/image" Target="../media/image81.png"/><Relationship Id="rId28" Type="http://schemas.openxmlformats.org/officeDocument/2006/relationships/image" Target="../media/image86.png"/><Relationship Id="rId10" Type="http://schemas.openxmlformats.org/officeDocument/2006/relationships/image" Target="../media/image68.png"/><Relationship Id="rId19" Type="http://schemas.openxmlformats.org/officeDocument/2006/relationships/image" Target="../media/image77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72.png"/><Relationship Id="rId22" Type="http://schemas.openxmlformats.org/officeDocument/2006/relationships/image" Target="../media/image80.png"/><Relationship Id="rId27" Type="http://schemas.openxmlformats.org/officeDocument/2006/relationships/image" Target="../media/image85.png"/><Relationship Id="rId30" Type="http://schemas.openxmlformats.org/officeDocument/2006/relationships/image" Target="../media/image8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98.png"/><Relationship Id="rId18" Type="http://schemas.openxmlformats.org/officeDocument/2006/relationships/image" Target="../media/image103.png"/><Relationship Id="rId3" Type="http://schemas.openxmlformats.org/officeDocument/2006/relationships/image" Target="../media/image1.png"/><Relationship Id="rId21" Type="http://schemas.openxmlformats.org/officeDocument/2006/relationships/image" Target="../media/image106.png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17" Type="http://schemas.openxmlformats.org/officeDocument/2006/relationships/image" Target="../media/image10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01.png"/><Relationship Id="rId20" Type="http://schemas.openxmlformats.org/officeDocument/2006/relationships/image" Target="../media/image10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24" Type="http://schemas.openxmlformats.org/officeDocument/2006/relationships/image" Target="../media/image109.png"/><Relationship Id="rId5" Type="http://schemas.openxmlformats.org/officeDocument/2006/relationships/image" Target="../media/image90.png"/><Relationship Id="rId15" Type="http://schemas.openxmlformats.org/officeDocument/2006/relationships/image" Target="../media/image100.png"/><Relationship Id="rId23" Type="http://schemas.openxmlformats.org/officeDocument/2006/relationships/image" Target="../media/image108.png"/><Relationship Id="rId10" Type="http://schemas.openxmlformats.org/officeDocument/2006/relationships/image" Target="../media/image95.png"/><Relationship Id="rId19" Type="http://schemas.openxmlformats.org/officeDocument/2006/relationships/image" Target="../media/image104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Relationship Id="rId14" Type="http://schemas.openxmlformats.org/officeDocument/2006/relationships/image" Target="../media/image99.png"/><Relationship Id="rId22" Type="http://schemas.openxmlformats.org/officeDocument/2006/relationships/image" Target="../media/image10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13" Type="http://schemas.openxmlformats.org/officeDocument/2006/relationships/image" Target="../media/image119.png"/><Relationship Id="rId18" Type="http://schemas.openxmlformats.org/officeDocument/2006/relationships/image" Target="../media/image124.png"/><Relationship Id="rId26" Type="http://schemas.openxmlformats.org/officeDocument/2006/relationships/image" Target="../media/image21.png"/><Relationship Id="rId3" Type="http://schemas.openxmlformats.org/officeDocument/2006/relationships/image" Target="../media/image1.png"/><Relationship Id="rId21" Type="http://schemas.openxmlformats.org/officeDocument/2006/relationships/image" Target="../media/image127.png"/><Relationship Id="rId7" Type="http://schemas.openxmlformats.org/officeDocument/2006/relationships/image" Target="../media/image113.png"/><Relationship Id="rId12" Type="http://schemas.openxmlformats.org/officeDocument/2006/relationships/image" Target="../media/image118.png"/><Relationship Id="rId17" Type="http://schemas.openxmlformats.org/officeDocument/2006/relationships/image" Target="../media/image123.png"/><Relationship Id="rId25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22.png"/><Relationship Id="rId20" Type="http://schemas.openxmlformats.org/officeDocument/2006/relationships/image" Target="../media/image1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2.png"/><Relationship Id="rId11" Type="http://schemas.openxmlformats.org/officeDocument/2006/relationships/image" Target="../media/image117.png"/><Relationship Id="rId24" Type="http://schemas.openxmlformats.org/officeDocument/2006/relationships/image" Target="../media/image19.png"/><Relationship Id="rId5" Type="http://schemas.openxmlformats.org/officeDocument/2006/relationships/image" Target="../media/image111.png"/><Relationship Id="rId15" Type="http://schemas.openxmlformats.org/officeDocument/2006/relationships/image" Target="../media/image121.png"/><Relationship Id="rId23" Type="http://schemas.openxmlformats.org/officeDocument/2006/relationships/image" Target="../media/image129.png"/><Relationship Id="rId10" Type="http://schemas.openxmlformats.org/officeDocument/2006/relationships/image" Target="../media/image116.png"/><Relationship Id="rId19" Type="http://schemas.openxmlformats.org/officeDocument/2006/relationships/image" Target="../media/image125.png"/><Relationship Id="rId4" Type="http://schemas.openxmlformats.org/officeDocument/2006/relationships/image" Target="../media/image110.png"/><Relationship Id="rId9" Type="http://schemas.openxmlformats.org/officeDocument/2006/relationships/image" Target="../media/image115.png"/><Relationship Id="rId14" Type="http://schemas.openxmlformats.org/officeDocument/2006/relationships/image" Target="../media/image120.png"/><Relationship Id="rId22" Type="http://schemas.openxmlformats.org/officeDocument/2006/relationships/image" Target="../media/image1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13" Type="http://schemas.openxmlformats.org/officeDocument/2006/relationships/image" Target="../media/image139.png"/><Relationship Id="rId18" Type="http://schemas.openxmlformats.org/officeDocument/2006/relationships/image" Target="../media/image144.png"/><Relationship Id="rId3" Type="http://schemas.openxmlformats.org/officeDocument/2006/relationships/image" Target="../media/image1.png"/><Relationship Id="rId21" Type="http://schemas.openxmlformats.org/officeDocument/2006/relationships/image" Target="../media/image37.png"/><Relationship Id="rId7" Type="http://schemas.openxmlformats.org/officeDocument/2006/relationships/image" Target="../media/image133.png"/><Relationship Id="rId12" Type="http://schemas.openxmlformats.org/officeDocument/2006/relationships/image" Target="../media/image138.png"/><Relationship Id="rId17" Type="http://schemas.openxmlformats.org/officeDocument/2006/relationships/image" Target="../media/image143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42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2.png"/><Relationship Id="rId11" Type="http://schemas.openxmlformats.org/officeDocument/2006/relationships/image" Target="../media/image137.png"/><Relationship Id="rId5" Type="http://schemas.openxmlformats.org/officeDocument/2006/relationships/image" Target="../media/image131.png"/><Relationship Id="rId15" Type="http://schemas.openxmlformats.org/officeDocument/2006/relationships/image" Target="../media/image141.png"/><Relationship Id="rId10" Type="http://schemas.openxmlformats.org/officeDocument/2006/relationships/image" Target="../media/image136.png"/><Relationship Id="rId19" Type="http://schemas.openxmlformats.org/officeDocument/2006/relationships/image" Target="../media/image20.png"/><Relationship Id="rId4" Type="http://schemas.openxmlformats.org/officeDocument/2006/relationships/image" Target="../media/image130.png"/><Relationship Id="rId9" Type="http://schemas.openxmlformats.org/officeDocument/2006/relationships/image" Target="../media/image135.png"/><Relationship Id="rId14" Type="http://schemas.openxmlformats.org/officeDocument/2006/relationships/image" Target="../media/image1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2305050"/>
            <a:ext cx="3098750" cy="2667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7800" y="2533650"/>
            <a:ext cx="304800" cy="304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5626" y="4400550"/>
            <a:ext cx="285750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6550" y="2305050"/>
            <a:ext cx="3098750" cy="2667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5150" y="2533650"/>
            <a:ext cx="3048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14876" y="4210050"/>
            <a:ext cx="36195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73901" y="2305050"/>
            <a:ext cx="3098750" cy="2667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02501" y="2533650"/>
            <a:ext cx="3048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80327" y="4210050"/>
            <a:ext cx="285750" cy="342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68936" y="5562600"/>
            <a:ext cx="1320105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65241" y="5562600"/>
            <a:ext cx="791617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33058" y="5562600"/>
            <a:ext cx="1081385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90643" y="5562600"/>
            <a:ext cx="1032421" cy="3048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457200" y="457200"/>
            <a:ext cx="11277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kern="0" spc="144" dirty="0">
                <a:solidFill>
                  <a:srgbClr val="000000">
                    <a:alpha val="0"/>
                  </a:srgbClr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디지털 안전불감증 탈출</a:t>
            </a:r>
            <a:endParaRPr lang="en-US" sz="3600" dirty="0"/>
          </a:p>
        </p:txBody>
      </p:sp>
      <p:sp>
        <p:nvSpPr>
          <p:cNvPr id="17" name="Text 1"/>
          <p:cNvSpPr/>
          <p:nvPr/>
        </p:nvSpPr>
        <p:spPr>
          <a:xfrm>
            <a:off x="457200" y="1066800"/>
            <a:ext cx="112776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ko-KR" altLang="en-US" sz="2250" b="1" dirty="0">
                <a:solidFill>
                  <a:srgbClr val="BFDBFE"/>
                </a:solidFill>
                <a:latin typeface="ui-sans-serif" pitchFamily="34" charset="0"/>
              </a:rPr>
              <a:t>디지털 안전불감증 탈출 프로젝트</a:t>
            </a:r>
            <a:endParaRPr lang="en-US" sz="2250" dirty="0"/>
          </a:p>
        </p:txBody>
      </p:sp>
      <p:sp>
        <p:nvSpPr>
          <p:cNvPr id="18" name="Text 2"/>
          <p:cNvSpPr/>
          <p:nvPr/>
        </p:nvSpPr>
        <p:spPr>
          <a:xfrm>
            <a:off x="1706880" y="1485900"/>
            <a:ext cx="87782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청년층을 위한 디지털 사기 방어 능력 향상을 위한 몰입형 교육 플랫폼</a:t>
            </a:r>
            <a:endParaRPr lang="en-US" sz="1350" dirty="0"/>
          </a:p>
        </p:txBody>
      </p:sp>
      <p:sp>
        <p:nvSpPr>
          <p:cNvPr id="19" name="Text 3"/>
          <p:cNvSpPr/>
          <p:nvPr/>
        </p:nvSpPr>
        <p:spPr>
          <a:xfrm>
            <a:off x="1447800" y="2533650"/>
            <a:ext cx="304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4"/>
          <p:cNvSpPr/>
          <p:nvPr/>
        </p:nvSpPr>
        <p:spPr>
          <a:xfrm>
            <a:off x="1447800" y="2952750"/>
            <a:ext cx="26415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미션 1</a:t>
            </a:r>
            <a:endParaRPr lang="en-US" sz="1500" dirty="0"/>
          </a:p>
        </p:txBody>
      </p:sp>
      <p:sp>
        <p:nvSpPr>
          <p:cNvPr id="21" name="Text 5"/>
          <p:cNvSpPr/>
          <p:nvPr/>
        </p:nvSpPr>
        <p:spPr>
          <a:xfrm>
            <a:off x="1447800" y="3333750"/>
            <a:ext cx="26415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DE04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수상한 문자 분석</a:t>
            </a:r>
            <a:endParaRPr lang="en-US" sz="1350" dirty="0"/>
          </a:p>
        </p:txBody>
      </p:sp>
      <p:sp>
        <p:nvSpPr>
          <p:cNvPr id="22" name="Text 6"/>
          <p:cNvSpPr/>
          <p:nvPr/>
        </p:nvSpPr>
        <p:spPr>
          <a:xfrm>
            <a:off x="1447800" y="3714750"/>
            <a:ext cx="2641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"단기간 고수익 알바"</a:t>
            </a:r>
            <a:endParaRPr lang="en-US" sz="1050" dirty="0"/>
          </a:p>
        </p:txBody>
      </p:sp>
      <p:sp>
        <p:nvSpPr>
          <p:cNvPr id="23" name="Text 7"/>
          <p:cNvSpPr/>
          <p:nvPr/>
        </p:nvSpPr>
        <p:spPr>
          <a:xfrm>
            <a:off x="1447800" y="3914775"/>
            <a:ext cx="287014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문자에서 사기 단서 3가지를 찾아 클릭하여 수집</a:t>
            </a:r>
            <a:endParaRPr lang="en-US" sz="1050" dirty="0"/>
          </a:p>
        </p:txBody>
      </p:sp>
      <p:sp>
        <p:nvSpPr>
          <p:cNvPr id="24" name="Text 8"/>
          <p:cNvSpPr/>
          <p:nvPr/>
        </p:nvSpPr>
        <p:spPr>
          <a:xfrm>
            <a:off x="4775150" y="2533650"/>
            <a:ext cx="304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9"/>
          <p:cNvSpPr/>
          <p:nvPr/>
        </p:nvSpPr>
        <p:spPr>
          <a:xfrm>
            <a:off x="4775150" y="2952750"/>
            <a:ext cx="26415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미션 2</a:t>
            </a:r>
            <a:endParaRPr lang="en-US" sz="1500" dirty="0"/>
          </a:p>
        </p:txBody>
      </p:sp>
      <p:sp>
        <p:nvSpPr>
          <p:cNvPr id="26" name="Text 10"/>
          <p:cNvSpPr/>
          <p:nvPr/>
        </p:nvSpPr>
        <p:spPr>
          <a:xfrm>
            <a:off x="4775150" y="3333750"/>
            <a:ext cx="26415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CA5A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사기범과의 대화</a:t>
            </a:r>
            <a:endParaRPr lang="en-US" sz="1350" dirty="0"/>
          </a:p>
        </p:txBody>
      </p:sp>
      <p:sp>
        <p:nvSpPr>
          <p:cNvPr id="27" name="Text 11"/>
          <p:cNvSpPr/>
          <p:nvPr/>
        </p:nvSpPr>
        <p:spPr>
          <a:xfrm>
            <a:off x="4775150" y="3714750"/>
            <a:ext cx="2641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텔레그램/카톡 대화창에서</a:t>
            </a:r>
            <a:endParaRPr lang="en-US" sz="1050" dirty="0"/>
          </a:p>
        </p:txBody>
      </p:sp>
      <p:sp>
        <p:nvSpPr>
          <p:cNvPr id="28" name="Text 12"/>
          <p:cNvSpPr/>
          <p:nvPr/>
        </p:nvSpPr>
        <p:spPr>
          <a:xfrm>
            <a:off x="4775150" y="3905250"/>
            <a:ext cx="2641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민감 정보 보호 행동 구현</a:t>
            </a:r>
            <a:endParaRPr lang="en-US" sz="1050" dirty="0"/>
          </a:p>
        </p:txBody>
      </p:sp>
      <p:sp>
        <p:nvSpPr>
          <p:cNvPr id="29" name="Text 13"/>
          <p:cNvSpPr/>
          <p:nvPr/>
        </p:nvSpPr>
        <p:spPr>
          <a:xfrm>
            <a:off x="8102501" y="2533650"/>
            <a:ext cx="304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14"/>
          <p:cNvSpPr/>
          <p:nvPr/>
        </p:nvSpPr>
        <p:spPr>
          <a:xfrm>
            <a:off x="8102501" y="2952750"/>
            <a:ext cx="26415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미션 3</a:t>
            </a:r>
            <a:endParaRPr lang="en-US" sz="1500" dirty="0"/>
          </a:p>
        </p:txBody>
      </p:sp>
      <p:sp>
        <p:nvSpPr>
          <p:cNvPr id="31" name="Text 15"/>
          <p:cNvSpPr/>
          <p:nvPr/>
        </p:nvSpPr>
        <p:spPr>
          <a:xfrm>
            <a:off x="8102501" y="3333750"/>
            <a:ext cx="26415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86EFA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위험 감지 및 탈출</a:t>
            </a:r>
            <a:endParaRPr lang="en-US" sz="1350" dirty="0"/>
          </a:p>
        </p:txBody>
      </p:sp>
      <p:sp>
        <p:nvSpPr>
          <p:cNvPr id="32" name="Text 16"/>
          <p:cNvSpPr/>
          <p:nvPr/>
        </p:nvSpPr>
        <p:spPr>
          <a:xfrm>
            <a:off x="7838346" y="3714750"/>
            <a:ext cx="31698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민감 정보를 '위험 분석 시스템'에 </a:t>
            </a:r>
            <a:endParaRPr lang="en-US" sz="1050" dirty="0"/>
          </a:p>
        </p:txBody>
      </p:sp>
      <p:sp>
        <p:nvSpPr>
          <p:cNvPr id="33" name="Text 17"/>
          <p:cNvSpPr/>
          <p:nvPr/>
        </p:nvSpPr>
        <p:spPr>
          <a:xfrm>
            <a:off x="8102501" y="3905250"/>
            <a:ext cx="2641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드래그하여 112 신고</a:t>
            </a:r>
            <a:endParaRPr lang="en-US" sz="1050" dirty="0"/>
          </a:p>
        </p:txBody>
      </p:sp>
      <p:sp>
        <p:nvSpPr>
          <p:cNvPr id="34" name="Text 18"/>
          <p:cNvSpPr/>
          <p:nvPr/>
        </p:nvSpPr>
        <p:spPr>
          <a:xfrm>
            <a:off x="4175729" y="5596926"/>
            <a:ext cx="1218367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Spring Boot</a:t>
            </a:r>
            <a:endParaRPr lang="en-US" sz="1200" dirty="0"/>
          </a:p>
        </p:txBody>
      </p:sp>
      <p:sp>
        <p:nvSpPr>
          <p:cNvPr id="35" name="Text 19"/>
          <p:cNvSpPr/>
          <p:nvPr/>
        </p:nvSpPr>
        <p:spPr>
          <a:xfrm>
            <a:off x="5512965" y="5592253"/>
            <a:ext cx="58418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9D5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React</a:t>
            </a:r>
            <a:endParaRPr lang="en-US" sz="1200" dirty="0"/>
          </a:p>
        </p:txBody>
      </p:sp>
      <p:sp>
        <p:nvSpPr>
          <p:cNvPr id="36" name="Text 20"/>
          <p:cNvSpPr/>
          <p:nvPr/>
        </p:nvSpPr>
        <p:spPr>
          <a:xfrm>
            <a:off x="6396662" y="5594589"/>
            <a:ext cx="931902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BBF7D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Frontend</a:t>
            </a:r>
            <a:endParaRPr lang="en-US" sz="1200" dirty="0"/>
          </a:p>
        </p:txBody>
      </p:sp>
      <p:sp>
        <p:nvSpPr>
          <p:cNvPr id="37" name="Text 21"/>
          <p:cNvSpPr/>
          <p:nvPr/>
        </p:nvSpPr>
        <p:spPr>
          <a:xfrm>
            <a:off x="7526119" y="5592253"/>
            <a:ext cx="873145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EF08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Backend</a:t>
            </a:r>
            <a:endParaRPr lang="en-US" sz="1200" dirty="0"/>
          </a:p>
        </p:txBody>
      </p:sp>
      <p:sp>
        <p:nvSpPr>
          <p:cNvPr id="38" name="Text 22"/>
          <p:cNvSpPr/>
          <p:nvPr/>
        </p:nvSpPr>
        <p:spPr>
          <a:xfrm>
            <a:off x="457200" y="6210300"/>
            <a:ext cx="11277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altLang="ko-KR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</a:t>
            </a:r>
            <a:r>
              <a:rPr lang="ko-KR" alt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조 </a:t>
            </a: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20237107 </a:t>
            </a:r>
            <a:r>
              <a:rPr lang="ko-KR" alt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하태영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 0" descr="preencoded.png">
            <a:extLst>
              <a:ext uri="{FF2B5EF4-FFF2-40B4-BE49-F238E27FC236}">
                <a16:creationId xmlns:a16="http://schemas.microsoft.com/office/drawing/2014/main" id="{DA9F5473-705E-C9FF-E5A1-DD15BE1DE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023" y="1385888"/>
            <a:ext cx="3657600" cy="37719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623" y="1614488"/>
            <a:ext cx="285750" cy="342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0223" y="1385888"/>
            <a:ext cx="3657600" cy="3771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8823" y="1614488"/>
            <a:ext cx="36195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6423" y="1385888"/>
            <a:ext cx="3657600" cy="3771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5023" y="1614488"/>
            <a:ext cx="285750" cy="34290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381000" y="381000"/>
            <a:ext cx="425660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kern="0" spc="54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프로젝트 배경 및 목표</a:t>
            </a:r>
            <a:endParaRPr lang="en-US" sz="2700" dirty="0"/>
          </a:p>
        </p:txBody>
      </p:sp>
      <p:sp>
        <p:nvSpPr>
          <p:cNvPr id="13" name="Text 1"/>
          <p:cNvSpPr/>
          <p:nvPr/>
        </p:nvSpPr>
        <p:spPr>
          <a:xfrm>
            <a:off x="11504414" y="438150"/>
            <a:ext cx="36790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2/8</a:t>
            </a:r>
            <a:endParaRPr lang="en-US" sz="1500" dirty="0"/>
          </a:p>
        </p:txBody>
      </p:sp>
      <p:sp>
        <p:nvSpPr>
          <p:cNvPr id="14" name="Text 2"/>
          <p:cNvSpPr/>
          <p:nvPr/>
        </p:nvSpPr>
        <p:spPr>
          <a:xfrm>
            <a:off x="1070773" y="1633538"/>
            <a:ext cx="275552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디지털 사기 증가 추세</a:t>
            </a:r>
            <a:endParaRPr lang="en-US" sz="1800" dirty="0"/>
          </a:p>
        </p:txBody>
      </p:sp>
      <p:sp>
        <p:nvSpPr>
          <p:cNvPr id="15" name="Text 3"/>
          <p:cNvSpPr/>
          <p:nvPr/>
        </p:nvSpPr>
        <p:spPr>
          <a:xfrm>
            <a:off x="670723" y="2109788"/>
            <a:ext cx="31623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최근 1년간 청년층을 타겟으로 한 디지털 사기 신고가 급증</a:t>
            </a:r>
            <a:endParaRPr lang="en-US" sz="1350" dirty="0"/>
          </a:p>
        </p:txBody>
      </p:sp>
      <p:sp>
        <p:nvSpPr>
          <p:cNvPr id="16" name="Text 4"/>
          <p:cNvSpPr/>
          <p:nvPr/>
        </p:nvSpPr>
        <p:spPr>
          <a:xfrm>
            <a:off x="670723" y="2757488"/>
            <a:ext cx="31623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고액 알바 유혹을 통한 스미싱 및 허위 광고가 주요 수법</a:t>
            </a:r>
            <a:endParaRPr lang="en-US" sz="1350" dirty="0"/>
          </a:p>
        </p:txBody>
      </p:sp>
      <p:sp>
        <p:nvSpPr>
          <p:cNvPr id="17" name="Text 5"/>
          <p:cNvSpPr/>
          <p:nvPr/>
        </p:nvSpPr>
        <p:spPr>
          <a:xfrm>
            <a:off x="670723" y="3405188"/>
            <a:ext cx="31623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사기 피해자 대부분이 처음 접하는 디지털 사기 유형</a:t>
            </a:r>
            <a:endParaRPr lang="en-US" sz="1350" dirty="0"/>
          </a:p>
        </p:txBody>
      </p:sp>
      <p:sp>
        <p:nvSpPr>
          <p:cNvPr id="18" name="Text 6"/>
          <p:cNvSpPr/>
          <p:nvPr/>
        </p:nvSpPr>
        <p:spPr>
          <a:xfrm>
            <a:off x="632623" y="4738688"/>
            <a:ext cx="38404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* 청년층: 19-34세대를 의미</a:t>
            </a:r>
            <a:endParaRPr lang="en-US" sz="1050" dirty="0"/>
          </a:p>
        </p:txBody>
      </p:sp>
      <p:sp>
        <p:nvSpPr>
          <p:cNvPr id="19" name="Text 7"/>
          <p:cNvSpPr/>
          <p:nvPr/>
        </p:nvSpPr>
        <p:spPr>
          <a:xfrm>
            <a:off x="5033173" y="1633538"/>
            <a:ext cx="229010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안전불감증 문제점</a:t>
            </a:r>
            <a:endParaRPr lang="en-US" sz="1800" dirty="0"/>
          </a:p>
        </p:txBody>
      </p:sp>
      <p:sp>
        <p:nvSpPr>
          <p:cNvPr id="20" name="Text 8"/>
          <p:cNvSpPr/>
          <p:nvPr/>
        </p:nvSpPr>
        <p:spPr>
          <a:xfrm>
            <a:off x="4556923" y="2109788"/>
            <a:ext cx="31623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개인 정보 보호 의식 부족, 민감 정보 공유 거부 불력</a:t>
            </a:r>
            <a:endParaRPr lang="en-US" sz="1350" dirty="0"/>
          </a:p>
        </p:txBody>
      </p:sp>
      <p:sp>
        <p:nvSpPr>
          <p:cNvPr id="21" name="Text 9"/>
          <p:cNvSpPr/>
          <p:nvPr/>
        </p:nvSpPr>
        <p:spPr>
          <a:xfrm>
            <a:off x="4556923" y="2757488"/>
            <a:ext cx="31623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사기 경계 신호를 인식하지 못하는 취약성</a:t>
            </a:r>
            <a:endParaRPr lang="en-US" sz="1350" dirty="0"/>
          </a:p>
        </p:txBody>
      </p:sp>
      <p:sp>
        <p:nvSpPr>
          <p:cNvPr id="22" name="Text 10"/>
          <p:cNvSpPr/>
          <p:nvPr/>
        </p:nvSpPr>
        <p:spPr>
          <a:xfrm>
            <a:off x="4556923" y="3405188"/>
            <a:ext cx="31623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디지털 환경에서의 안전한 행동 습관 형성 실패</a:t>
            </a:r>
            <a:endParaRPr lang="en-US" sz="1350" dirty="0"/>
          </a:p>
        </p:txBody>
      </p:sp>
      <p:sp>
        <p:nvSpPr>
          <p:cNvPr id="23" name="Text 11"/>
          <p:cNvSpPr/>
          <p:nvPr/>
        </p:nvSpPr>
        <p:spPr>
          <a:xfrm>
            <a:off x="4556923" y="4052888"/>
            <a:ext cx="31623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즉각적인 대화 중단 및 신고 절차 숙지 부족</a:t>
            </a:r>
            <a:endParaRPr lang="en-US" sz="1350" dirty="0"/>
          </a:p>
        </p:txBody>
      </p:sp>
      <p:sp>
        <p:nvSpPr>
          <p:cNvPr id="24" name="Text 12"/>
          <p:cNvSpPr/>
          <p:nvPr/>
        </p:nvSpPr>
        <p:spPr>
          <a:xfrm>
            <a:off x="4518823" y="4738688"/>
            <a:ext cx="38404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* '설마 나에게는 아닐 거야' 심리적 여유감</a:t>
            </a:r>
            <a:endParaRPr lang="en-US" sz="1050" dirty="0"/>
          </a:p>
        </p:txBody>
      </p:sp>
      <p:sp>
        <p:nvSpPr>
          <p:cNvPr id="25" name="Text 13"/>
          <p:cNvSpPr/>
          <p:nvPr/>
        </p:nvSpPr>
        <p:spPr>
          <a:xfrm>
            <a:off x="8843173" y="1633538"/>
            <a:ext cx="174146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프로젝트 목표</a:t>
            </a:r>
            <a:endParaRPr lang="en-US" sz="1800" dirty="0"/>
          </a:p>
        </p:txBody>
      </p:sp>
      <p:sp>
        <p:nvSpPr>
          <p:cNvPr id="26" name="Text 14"/>
          <p:cNvSpPr/>
          <p:nvPr/>
        </p:nvSpPr>
        <p:spPr>
          <a:xfrm>
            <a:off x="8443123" y="2109788"/>
            <a:ext cx="31623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체험형 학습을 통한 디지털 사기 경각심 고취</a:t>
            </a:r>
            <a:endParaRPr lang="en-US" sz="1350" dirty="0"/>
          </a:p>
        </p:txBody>
      </p:sp>
      <p:sp>
        <p:nvSpPr>
          <p:cNvPr id="27" name="Text 15"/>
          <p:cNvSpPr/>
          <p:nvPr/>
        </p:nvSpPr>
        <p:spPr>
          <a:xfrm>
            <a:off x="8443123" y="2757488"/>
            <a:ext cx="31623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실제 사기 상황에 대비한 실전 대처 능력 향상</a:t>
            </a:r>
            <a:endParaRPr lang="en-US" sz="1350" dirty="0"/>
          </a:p>
        </p:txBody>
      </p:sp>
      <p:sp>
        <p:nvSpPr>
          <p:cNvPr id="28" name="Text 16"/>
          <p:cNvSpPr/>
          <p:nvPr/>
        </p:nvSpPr>
        <p:spPr>
          <a:xfrm>
            <a:off x="8443123" y="3405188"/>
            <a:ext cx="31623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안전불감증 유도 요소를 인식하고 대처하는 능력 배양</a:t>
            </a:r>
            <a:endParaRPr lang="en-US" sz="1350" dirty="0"/>
          </a:p>
        </p:txBody>
      </p:sp>
      <p:sp>
        <p:nvSpPr>
          <p:cNvPr id="29" name="Text 17"/>
          <p:cNvSpPr/>
          <p:nvPr/>
        </p:nvSpPr>
        <p:spPr>
          <a:xfrm>
            <a:off x="8443123" y="4052888"/>
            <a:ext cx="31623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사기 피해 확산을 방지하고 디지털 안전한 환경 조성</a:t>
            </a:r>
            <a:endParaRPr lang="en-US" sz="1350" dirty="0"/>
          </a:p>
        </p:txBody>
      </p:sp>
      <p:sp>
        <p:nvSpPr>
          <p:cNvPr id="30" name="Text 18"/>
          <p:cNvSpPr/>
          <p:nvPr/>
        </p:nvSpPr>
        <p:spPr>
          <a:xfrm>
            <a:off x="8382000" y="4572000"/>
            <a:ext cx="38404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* '고액 알바의 유혹' 골든 타임 챌린지 형태로 구현</a:t>
            </a:r>
            <a:endParaRPr lang="en-US" sz="1050" dirty="0"/>
          </a:p>
        </p:txBody>
      </p:sp>
      <p:sp>
        <p:nvSpPr>
          <p:cNvPr id="31" name="Text 19"/>
          <p:cNvSpPr/>
          <p:nvPr/>
        </p:nvSpPr>
        <p:spPr>
          <a:xfrm>
            <a:off x="3702844" y="5295900"/>
            <a:ext cx="6840855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endParaRPr lang="en-US" sz="1350" dirty="0"/>
          </a:p>
        </p:txBody>
      </p:sp>
      <p:pic>
        <p:nvPicPr>
          <p:cNvPr id="34" name="Image 24" descr="preencoded.png">
            <a:extLst>
              <a:ext uri="{FF2B5EF4-FFF2-40B4-BE49-F238E27FC236}">
                <a16:creationId xmlns:a16="http://schemas.microsoft.com/office/drawing/2014/main" id="{6318F634-3248-7EEE-08C7-7D86389B75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37811" y="6067425"/>
            <a:ext cx="7038082" cy="419100"/>
          </a:xfrm>
          <a:prstGeom prst="rect">
            <a:avLst/>
          </a:prstGeom>
        </p:spPr>
      </p:pic>
      <p:pic>
        <p:nvPicPr>
          <p:cNvPr id="35" name="Image 25" descr="preencoded.png">
            <a:extLst>
              <a:ext uri="{FF2B5EF4-FFF2-40B4-BE49-F238E27FC236}">
                <a16:creationId xmlns:a16="http://schemas.microsoft.com/office/drawing/2014/main" id="{5C51E303-EDAB-B2EA-14DD-7DA598ACE04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66411" y="6172200"/>
            <a:ext cx="152400" cy="171450"/>
          </a:xfrm>
          <a:prstGeom prst="rect">
            <a:avLst/>
          </a:prstGeom>
        </p:spPr>
      </p:pic>
      <p:pic>
        <p:nvPicPr>
          <p:cNvPr id="36" name="Image 26" descr="preencoded.png">
            <a:extLst>
              <a:ext uri="{FF2B5EF4-FFF2-40B4-BE49-F238E27FC236}">
                <a16:creationId xmlns:a16="http://schemas.microsoft.com/office/drawing/2014/main" id="{D5855B69-08AB-524C-3CC2-266D143B5F8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85368" y="6172200"/>
            <a:ext cx="161925" cy="171450"/>
          </a:xfrm>
          <a:prstGeom prst="rect">
            <a:avLst/>
          </a:prstGeom>
        </p:spPr>
      </p:pic>
      <p:sp>
        <p:nvSpPr>
          <p:cNvPr id="37" name="Text 22">
            <a:extLst>
              <a:ext uri="{FF2B5EF4-FFF2-40B4-BE49-F238E27FC236}">
                <a16:creationId xmlns:a16="http://schemas.microsoft.com/office/drawing/2014/main" id="{FB129E22-579F-0156-4A6F-24DAC08BDAC2}"/>
              </a:ext>
            </a:extLst>
          </p:cNvPr>
          <p:cNvSpPr/>
          <p:nvPr/>
        </p:nvSpPr>
        <p:spPr>
          <a:xfrm>
            <a:off x="3630927" y="6148387"/>
            <a:ext cx="4642324" cy="352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altLang="ko-KR" sz="1350" dirty="0" err="1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디지털</a:t>
            </a:r>
            <a:r>
              <a:rPr lang="en-US" altLang="ko-KR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altLang="ko-KR" sz="1350" dirty="0" err="1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안전불감증에서</a:t>
            </a:r>
            <a:r>
              <a:rPr lang="en-US" altLang="ko-KR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altLang="ko-KR" sz="1350" dirty="0" err="1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탈출하기</a:t>
            </a:r>
            <a:r>
              <a:rPr lang="en-US" altLang="ko-KR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altLang="ko-KR" sz="1350" dirty="0" err="1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위한</a:t>
            </a:r>
            <a:r>
              <a:rPr lang="en-US" altLang="ko-KR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altLang="ko-KR" sz="1350" dirty="0" err="1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첫걸음</a:t>
            </a:r>
            <a:r>
              <a:rPr lang="en-US" altLang="ko-KR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, </a:t>
            </a:r>
            <a:r>
              <a:rPr lang="en-US" altLang="ko-KR" sz="1350" dirty="0" err="1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지금</a:t>
            </a:r>
            <a:r>
              <a:rPr lang="en-US" altLang="ko-KR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altLang="ko-KR" sz="1350" dirty="0" err="1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시작해요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Image 0" descr="preencoded.png">
            <a:extLst>
              <a:ext uri="{FF2B5EF4-FFF2-40B4-BE49-F238E27FC236}">
                <a16:creationId xmlns:a16="http://schemas.microsoft.com/office/drawing/2014/main" id="{E62A0DA3-FF2B-1407-AC29-B40B51A9A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066800"/>
            <a:ext cx="11430000" cy="150971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295400"/>
            <a:ext cx="361950" cy="342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2881313"/>
            <a:ext cx="3657600" cy="2667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3497" y="3071813"/>
            <a:ext cx="634603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490913"/>
            <a:ext cx="285750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9650" y="4595813"/>
            <a:ext cx="2838450" cy="533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5850" y="4691063"/>
            <a:ext cx="104775" cy="1333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7200" y="2881313"/>
            <a:ext cx="3657600" cy="2667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99697" y="3071813"/>
            <a:ext cx="634603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57700" y="3490913"/>
            <a:ext cx="36195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72050" y="4595813"/>
            <a:ext cx="2762250" cy="533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48250" y="4691063"/>
            <a:ext cx="104775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3400" y="2881313"/>
            <a:ext cx="3657600" cy="2667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985897" y="3071813"/>
            <a:ext cx="634603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43900" y="3490913"/>
            <a:ext cx="285750" cy="342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82050" y="4824413"/>
            <a:ext cx="2838450" cy="533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58250" y="4919663"/>
            <a:ext cx="104775" cy="1333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935486" y="5853113"/>
            <a:ext cx="6321028" cy="4953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164086" y="6015038"/>
            <a:ext cx="219075" cy="1714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67388" y="6015038"/>
            <a:ext cx="171450" cy="17145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381000" y="381000"/>
            <a:ext cx="896058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kern="0" spc="54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시나리오: '고액 알바의 유혹' 골든 타임 챌린지</a:t>
            </a:r>
            <a:endParaRPr lang="en-US" sz="2700" dirty="0"/>
          </a:p>
        </p:txBody>
      </p:sp>
      <p:sp>
        <p:nvSpPr>
          <p:cNvPr id="24" name="Text 1"/>
          <p:cNvSpPr/>
          <p:nvPr/>
        </p:nvSpPr>
        <p:spPr>
          <a:xfrm>
            <a:off x="11504414" y="438150"/>
            <a:ext cx="36790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3/8</a:t>
            </a:r>
            <a:endParaRPr lang="en-US" sz="1500" dirty="0"/>
          </a:p>
        </p:txBody>
      </p:sp>
      <p:sp>
        <p:nvSpPr>
          <p:cNvPr id="25" name="Text 2"/>
          <p:cNvSpPr/>
          <p:nvPr/>
        </p:nvSpPr>
        <p:spPr>
          <a:xfrm>
            <a:off x="1123950" y="1314450"/>
            <a:ext cx="357848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몰입형 시뮬레이션 게임 개요</a:t>
            </a:r>
            <a:endParaRPr lang="en-US" sz="1800" dirty="0"/>
          </a:p>
        </p:txBody>
      </p:sp>
      <p:sp>
        <p:nvSpPr>
          <p:cNvPr id="26" name="Text 3"/>
          <p:cNvSpPr/>
          <p:nvPr/>
        </p:nvSpPr>
        <p:spPr>
          <a:xfrm>
            <a:off x="609600" y="1790700"/>
            <a:ext cx="10972800" cy="557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우리는 청년층을 타겟으로 하는 최신 디지털 사기 유형을 </a:t>
            </a:r>
            <a:r>
              <a:rPr lang="en-US" sz="1350" b="1" dirty="0">
                <a:solidFill>
                  <a:srgbClr val="F59E0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3단계의 연속적인 미션</a:t>
            </a: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으로 구성하여 몰입도를 극대화했습니다. '고액 알바의 유혹' 골든 타임 챌린지는 실제 사기 상황을 체험하며 디지털 안전불감증을 탈출하는 여정입니다.</a:t>
            </a:r>
            <a:endParaRPr lang="en-US" sz="1350" dirty="0"/>
          </a:p>
        </p:txBody>
      </p:sp>
      <p:sp>
        <p:nvSpPr>
          <p:cNvPr id="27" name="Text 4"/>
          <p:cNvSpPr/>
          <p:nvPr/>
        </p:nvSpPr>
        <p:spPr>
          <a:xfrm>
            <a:off x="571500" y="3071813"/>
            <a:ext cx="685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도입부</a:t>
            </a:r>
            <a:endParaRPr lang="en-US" sz="1500" dirty="0"/>
          </a:p>
        </p:txBody>
      </p:sp>
      <p:sp>
        <p:nvSpPr>
          <p:cNvPr id="28" name="Text 5"/>
          <p:cNvSpPr/>
          <p:nvPr/>
        </p:nvSpPr>
        <p:spPr>
          <a:xfrm>
            <a:off x="3347025" y="3128963"/>
            <a:ext cx="76152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미션 1</a:t>
            </a:r>
            <a:endParaRPr lang="en-US" sz="1050" dirty="0"/>
          </a:p>
        </p:txBody>
      </p:sp>
      <p:sp>
        <p:nvSpPr>
          <p:cNvPr id="29" name="Text 6"/>
          <p:cNvSpPr/>
          <p:nvPr/>
        </p:nvSpPr>
        <p:spPr>
          <a:xfrm>
            <a:off x="1009650" y="3452813"/>
            <a:ext cx="28384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EF08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미끼 투척</a:t>
            </a:r>
            <a:endParaRPr lang="en-US" sz="1350" dirty="0"/>
          </a:p>
        </p:txBody>
      </p:sp>
      <p:sp>
        <p:nvSpPr>
          <p:cNvPr id="30" name="Text 7"/>
          <p:cNvSpPr/>
          <p:nvPr/>
        </p:nvSpPr>
        <p:spPr>
          <a:xfrm>
            <a:off x="1009650" y="3795713"/>
            <a:ext cx="28384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"단기간 고수익 알바" 문자가 도착하고, 플레이어는 </a:t>
            </a:r>
            <a:r>
              <a:rPr lang="en-US" sz="1200" b="1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'설마 나에게는 아닐 거야'</a:t>
            </a: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라는 생각으로 링크를 클릭하려 합니다.</a:t>
            </a:r>
            <a:endParaRPr lang="en-US" sz="1200" dirty="0"/>
          </a:p>
        </p:txBody>
      </p:sp>
      <p:sp>
        <p:nvSpPr>
          <p:cNvPr id="31" name="Text 8"/>
          <p:cNvSpPr/>
          <p:nvPr/>
        </p:nvSpPr>
        <p:spPr>
          <a:xfrm>
            <a:off x="1266825" y="4672013"/>
            <a:ext cx="26860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1050" b="1" dirty="0">
                <a:solidFill>
                  <a:srgbClr val="FEF08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교육 메시지:</a:t>
            </a: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링크 클릭 전 의심하는 습관 형성</a:t>
            </a:r>
            <a:endParaRPr lang="en-US" sz="1050" dirty="0"/>
          </a:p>
        </p:txBody>
      </p:sp>
      <p:sp>
        <p:nvSpPr>
          <p:cNvPr id="32" name="Text 9"/>
          <p:cNvSpPr/>
          <p:nvPr/>
        </p:nvSpPr>
        <p:spPr>
          <a:xfrm>
            <a:off x="4457700" y="3071813"/>
            <a:ext cx="685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진행부</a:t>
            </a:r>
            <a:endParaRPr lang="en-US" sz="1500" dirty="0"/>
          </a:p>
        </p:txBody>
      </p:sp>
      <p:sp>
        <p:nvSpPr>
          <p:cNvPr id="33" name="Text 10"/>
          <p:cNvSpPr/>
          <p:nvPr/>
        </p:nvSpPr>
        <p:spPr>
          <a:xfrm>
            <a:off x="7233875" y="3119646"/>
            <a:ext cx="76152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미션 2</a:t>
            </a:r>
            <a:endParaRPr lang="en-US" sz="1050" dirty="0"/>
          </a:p>
        </p:txBody>
      </p:sp>
      <p:sp>
        <p:nvSpPr>
          <p:cNvPr id="34" name="Text 11"/>
          <p:cNvSpPr/>
          <p:nvPr/>
        </p:nvSpPr>
        <p:spPr>
          <a:xfrm>
            <a:off x="4972050" y="3452813"/>
            <a:ext cx="27622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ECAC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사기범과의 대화</a:t>
            </a:r>
            <a:endParaRPr lang="en-US" sz="1350" dirty="0"/>
          </a:p>
        </p:txBody>
      </p:sp>
      <p:sp>
        <p:nvSpPr>
          <p:cNvPr id="35" name="Text 12"/>
          <p:cNvSpPr/>
          <p:nvPr/>
        </p:nvSpPr>
        <p:spPr>
          <a:xfrm>
            <a:off x="4972050" y="3795713"/>
            <a:ext cx="27622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텔레그램/카톡 대화창에서 사기범이 </a:t>
            </a:r>
            <a:r>
              <a:rPr lang="en-US" sz="1200" b="1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'통장 사본', '비밀번호'</a:t>
            </a: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등 치명적인 민감 정보를 요구합니다.</a:t>
            </a:r>
            <a:endParaRPr lang="en-US" sz="1200" dirty="0"/>
          </a:p>
        </p:txBody>
      </p:sp>
      <p:sp>
        <p:nvSpPr>
          <p:cNvPr id="36" name="Text 13"/>
          <p:cNvSpPr/>
          <p:nvPr/>
        </p:nvSpPr>
        <p:spPr>
          <a:xfrm>
            <a:off x="5229225" y="4672013"/>
            <a:ext cx="26098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1050" b="1" dirty="0">
                <a:solidFill>
                  <a:srgbClr val="FECAC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교육 메시지:</a:t>
            </a: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절대 제공해서는 안 되는 민감 정보의 종류와 위험성 인지</a:t>
            </a:r>
            <a:endParaRPr lang="en-US" sz="1050" dirty="0"/>
          </a:p>
        </p:txBody>
      </p:sp>
      <p:sp>
        <p:nvSpPr>
          <p:cNvPr id="37" name="Text 14"/>
          <p:cNvSpPr/>
          <p:nvPr/>
        </p:nvSpPr>
        <p:spPr>
          <a:xfrm>
            <a:off x="8343900" y="3071813"/>
            <a:ext cx="685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결말부</a:t>
            </a:r>
            <a:endParaRPr lang="en-US" sz="1500" dirty="0"/>
          </a:p>
        </p:txBody>
      </p:sp>
      <p:sp>
        <p:nvSpPr>
          <p:cNvPr id="38" name="Text 15"/>
          <p:cNvSpPr/>
          <p:nvPr/>
        </p:nvSpPr>
        <p:spPr>
          <a:xfrm>
            <a:off x="11110793" y="3119646"/>
            <a:ext cx="76152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미션 3</a:t>
            </a:r>
            <a:endParaRPr lang="en-US" sz="1050" dirty="0"/>
          </a:p>
        </p:txBody>
      </p:sp>
      <p:sp>
        <p:nvSpPr>
          <p:cNvPr id="39" name="Text 16"/>
          <p:cNvSpPr/>
          <p:nvPr/>
        </p:nvSpPr>
        <p:spPr>
          <a:xfrm>
            <a:off x="8782050" y="3452813"/>
            <a:ext cx="28384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BBF7D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위험 감지 및 탈출</a:t>
            </a:r>
            <a:endParaRPr lang="en-US" sz="1350" dirty="0"/>
          </a:p>
        </p:txBody>
      </p:sp>
      <p:sp>
        <p:nvSpPr>
          <p:cNvPr id="40" name="Text 17"/>
          <p:cNvSpPr/>
          <p:nvPr/>
        </p:nvSpPr>
        <p:spPr>
          <a:xfrm>
            <a:off x="8782050" y="3795713"/>
            <a:ext cx="283845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요구받은 민감 정보를 드래그하여 백엔드 </a:t>
            </a:r>
            <a:r>
              <a:rPr lang="en-US" sz="1200" b="1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'위험 분석 시스템'</a:t>
            </a: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에 넣고, 사기 유型을 최종 판단 후 '112 신고' 버튼을 클릭하여 탈출합니다.</a:t>
            </a:r>
            <a:endParaRPr lang="en-US" sz="1200" dirty="0"/>
          </a:p>
        </p:txBody>
      </p:sp>
      <p:sp>
        <p:nvSpPr>
          <p:cNvPr id="41" name="Text 18"/>
          <p:cNvSpPr/>
          <p:nvPr/>
        </p:nvSpPr>
        <p:spPr>
          <a:xfrm>
            <a:off x="9039225" y="4900613"/>
            <a:ext cx="26860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1050" b="1" dirty="0">
                <a:solidFill>
                  <a:srgbClr val="BBF7D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교육 메시지:</a:t>
            </a: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즉시 대화 중단 및 신고 절차 숙지</a:t>
            </a:r>
            <a:endParaRPr lang="en-US" sz="1050" dirty="0"/>
          </a:p>
        </p:txBody>
      </p:sp>
      <p:sp>
        <p:nvSpPr>
          <p:cNvPr id="42" name="Text 19"/>
          <p:cNvSpPr/>
          <p:nvPr/>
        </p:nvSpPr>
        <p:spPr>
          <a:xfrm>
            <a:off x="3497461" y="5967413"/>
            <a:ext cx="48095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타겟:</a:t>
            </a:r>
            <a:endParaRPr lang="en-US" sz="1350" dirty="0"/>
          </a:p>
        </p:txBody>
      </p:sp>
      <p:sp>
        <p:nvSpPr>
          <p:cNvPr id="43" name="Text 20"/>
          <p:cNvSpPr/>
          <p:nvPr/>
        </p:nvSpPr>
        <p:spPr>
          <a:xfrm>
            <a:off x="3974455" y="5967413"/>
            <a:ext cx="6947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|</a:t>
            </a:r>
            <a:endParaRPr lang="en-US" sz="1350" dirty="0"/>
          </a:p>
        </p:txBody>
      </p:sp>
      <p:sp>
        <p:nvSpPr>
          <p:cNvPr id="44" name="Text 21"/>
          <p:cNvSpPr/>
          <p:nvPr/>
        </p:nvSpPr>
        <p:spPr>
          <a:xfrm>
            <a:off x="4108549" y="5967413"/>
            <a:ext cx="164681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청년층 (19-34세)</a:t>
            </a:r>
            <a:endParaRPr lang="en-US" sz="1350" dirty="0"/>
          </a:p>
        </p:txBody>
      </p:sp>
      <p:sp>
        <p:nvSpPr>
          <p:cNvPr id="45" name="Text 22"/>
          <p:cNvSpPr/>
          <p:nvPr/>
        </p:nvSpPr>
        <p:spPr>
          <a:xfrm>
            <a:off x="5595193" y="5967413"/>
            <a:ext cx="6947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|</a:t>
            </a:r>
            <a:endParaRPr lang="en-US" sz="1350" dirty="0"/>
          </a:p>
        </p:txBody>
      </p:sp>
      <p:sp>
        <p:nvSpPr>
          <p:cNvPr id="46" name="Text 23"/>
          <p:cNvSpPr/>
          <p:nvPr/>
        </p:nvSpPr>
        <p:spPr>
          <a:xfrm>
            <a:off x="6053138" y="5967413"/>
            <a:ext cx="95779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시간 제한:</a:t>
            </a:r>
            <a:endParaRPr lang="en-US" sz="1350" dirty="0"/>
          </a:p>
        </p:txBody>
      </p:sp>
      <p:sp>
        <p:nvSpPr>
          <p:cNvPr id="47" name="Text 24"/>
          <p:cNvSpPr/>
          <p:nvPr/>
        </p:nvSpPr>
        <p:spPr>
          <a:xfrm>
            <a:off x="6927503" y="5967413"/>
            <a:ext cx="6947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|</a:t>
            </a:r>
            <a:endParaRPr lang="en-US" sz="1350" dirty="0"/>
          </a:p>
        </p:txBody>
      </p:sp>
      <p:sp>
        <p:nvSpPr>
          <p:cNvPr id="48" name="Text 25"/>
          <p:cNvSpPr/>
          <p:nvPr/>
        </p:nvSpPr>
        <p:spPr>
          <a:xfrm>
            <a:off x="7061597" y="5967413"/>
            <a:ext cx="235958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3단계 1회 완료: 15-20분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 0" descr="preencoded.png">
            <a:extLst>
              <a:ext uri="{FF2B5EF4-FFF2-40B4-BE49-F238E27FC236}">
                <a16:creationId xmlns:a16="http://schemas.microsoft.com/office/drawing/2014/main" id="{B996ED7D-9ADC-6584-C8F4-F260B0892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6618" y="1104900"/>
            <a:ext cx="238125" cy="190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638300"/>
            <a:ext cx="2714625" cy="3238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6863" y="2743200"/>
            <a:ext cx="34290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152900"/>
            <a:ext cx="2333625" cy="533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4248150"/>
            <a:ext cx="104775" cy="1333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86125" y="1638300"/>
            <a:ext cx="2714625" cy="3238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33888" y="1752600"/>
            <a:ext cx="3810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71988" y="2743200"/>
            <a:ext cx="3429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76625" y="4152900"/>
            <a:ext cx="2333625" cy="533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52825" y="4248150"/>
            <a:ext cx="104775" cy="1333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91250" y="1638300"/>
            <a:ext cx="2714625" cy="3238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34250" y="1771650"/>
            <a:ext cx="381000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34250" y="2743200"/>
            <a:ext cx="428625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81750" y="4152900"/>
            <a:ext cx="2333625" cy="533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57950" y="4248150"/>
            <a:ext cx="104775" cy="98258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96375" y="1638300"/>
            <a:ext cx="2714625" cy="3238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282238" y="1752600"/>
            <a:ext cx="381000" cy="381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82238" y="2743200"/>
            <a:ext cx="342900" cy="381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286875" y="4152900"/>
            <a:ext cx="2333625" cy="533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363075" y="4248150"/>
            <a:ext cx="104775" cy="1333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81000" y="5181600"/>
            <a:ext cx="11430000" cy="8382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33400" y="5448300"/>
            <a:ext cx="228600" cy="3048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381000" y="381000"/>
            <a:ext cx="425660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kern="0" spc="54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게임 단계별 미션 구성</a:t>
            </a:r>
            <a:endParaRPr lang="en-US" sz="2700" dirty="0"/>
          </a:p>
        </p:txBody>
      </p:sp>
      <p:sp>
        <p:nvSpPr>
          <p:cNvPr id="26" name="Text 1"/>
          <p:cNvSpPr/>
          <p:nvPr/>
        </p:nvSpPr>
        <p:spPr>
          <a:xfrm>
            <a:off x="11504414" y="438150"/>
            <a:ext cx="36790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4/8</a:t>
            </a:r>
            <a:endParaRPr lang="en-US" sz="1500" dirty="0"/>
          </a:p>
        </p:txBody>
      </p:sp>
      <p:sp>
        <p:nvSpPr>
          <p:cNvPr id="27" name="Text 2"/>
          <p:cNvSpPr/>
          <p:nvPr/>
        </p:nvSpPr>
        <p:spPr>
          <a:xfrm>
            <a:off x="-762000" y="1066800"/>
            <a:ext cx="13716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'고액 알바의 유혹' 골든 타임 챌린지: 4단계 미션을 통한 체험형 디지털 사기 방어 교육</a:t>
            </a:r>
            <a:endParaRPr lang="en-US" sz="1500" dirty="0"/>
          </a:p>
        </p:txBody>
      </p:sp>
      <p:sp>
        <p:nvSpPr>
          <p:cNvPr id="28" name="Text 3"/>
          <p:cNvSpPr/>
          <p:nvPr/>
        </p:nvSpPr>
        <p:spPr>
          <a:xfrm>
            <a:off x="1685181" y="1828800"/>
            <a:ext cx="38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29" name="Text 4"/>
          <p:cNvSpPr/>
          <p:nvPr/>
        </p:nvSpPr>
        <p:spPr>
          <a:xfrm>
            <a:off x="1241227" y="2324100"/>
            <a:ext cx="119282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DE04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미끼 투척</a:t>
            </a:r>
            <a:endParaRPr lang="en-US" sz="1800" dirty="0"/>
          </a:p>
        </p:txBody>
      </p:sp>
      <p:sp>
        <p:nvSpPr>
          <p:cNvPr id="30" name="Text 5"/>
          <p:cNvSpPr/>
          <p:nvPr/>
        </p:nvSpPr>
        <p:spPr>
          <a:xfrm>
            <a:off x="571500" y="3276600"/>
            <a:ext cx="2333625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"단기간 고수익 알바" 문자가 도착하고, 플레이어는 '설마 나에게는 아닐 거야'라는 생각으로 링크를 클릭하려 합니다.</a:t>
            </a:r>
            <a:endParaRPr lang="en-US" sz="1050" dirty="0"/>
          </a:p>
        </p:txBody>
      </p:sp>
      <p:sp>
        <p:nvSpPr>
          <p:cNvPr id="31" name="Text 6"/>
          <p:cNvSpPr/>
          <p:nvPr/>
        </p:nvSpPr>
        <p:spPr>
          <a:xfrm>
            <a:off x="790575" y="4229100"/>
            <a:ext cx="218122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EF08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교육 메시지: 링크 클릭 전 의심하는 습관 형성</a:t>
            </a:r>
            <a:endParaRPr lang="en-US" sz="1050" dirty="0"/>
          </a:p>
        </p:txBody>
      </p:sp>
      <p:sp>
        <p:nvSpPr>
          <p:cNvPr id="32" name="Text 7"/>
          <p:cNvSpPr/>
          <p:nvPr/>
        </p:nvSpPr>
        <p:spPr>
          <a:xfrm>
            <a:off x="4590306" y="1828800"/>
            <a:ext cx="38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8"/>
          <p:cNvSpPr/>
          <p:nvPr/>
        </p:nvSpPr>
        <p:spPr>
          <a:xfrm>
            <a:off x="3763714" y="2324100"/>
            <a:ext cx="211133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수상한 문자 분석</a:t>
            </a:r>
            <a:endParaRPr lang="en-US" sz="1800" dirty="0"/>
          </a:p>
        </p:txBody>
      </p:sp>
      <p:sp>
        <p:nvSpPr>
          <p:cNvPr id="34" name="Text 9"/>
          <p:cNvSpPr/>
          <p:nvPr/>
        </p:nvSpPr>
        <p:spPr>
          <a:xfrm>
            <a:off x="3476625" y="3276600"/>
            <a:ext cx="2333625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문자/SNS 광고 팝업창에서 3가지 사기 단서 (비현실적 수익, 어색한 URL)를 찾아 클릭하여 증거를 수집해야 합니다.</a:t>
            </a:r>
            <a:endParaRPr lang="en-US" sz="1050" dirty="0"/>
          </a:p>
        </p:txBody>
      </p:sp>
      <p:sp>
        <p:nvSpPr>
          <p:cNvPr id="35" name="Text 10"/>
          <p:cNvSpPr/>
          <p:nvPr/>
        </p:nvSpPr>
        <p:spPr>
          <a:xfrm>
            <a:off x="3695700" y="4229100"/>
            <a:ext cx="218122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교육 메시지: 스미싱 및 허위 광고의 기술적/언어적 패턴 학습</a:t>
            </a:r>
            <a:endParaRPr lang="en-US" sz="1050" dirty="0"/>
          </a:p>
        </p:txBody>
      </p:sp>
      <p:sp>
        <p:nvSpPr>
          <p:cNvPr id="36" name="Text 11"/>
          <p:cNvSpPr/>
          <p:nvPr/>
        </p:nvSpPr>
        <p:spPr>
          <a:xfrm>
            <a:off x="7495431" y="1828800"/>
            <a:ext cx="38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1200" dirty="0"/>
          </a:p>
        </p:txBody>
      </p:sp>
      <p:sp>
        <p:nvSpPr>
          <p:cNvPr id="37" name="Text 12"/>
          <p:cNvSpPr/>
          <p:nvPr/>
        </p:nvSpPr>
        <p:spPr>
          <a:xfrm>
            <a:off x="6708577" y="2324100"/>
            <a:ext cx="201578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CA5A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사기범과의 대화</a:t>
            </a:r>
            <a:endParaRPr lang="en-US" sz="1800" dirty="0"/>
          </a:p>
        </p:txBody>
      </p:sp>
      <p:sp>
        <p:nvSpPr>
          <p:cNvPr id="38" name="Text 13"/>
          <p:cNvSpPr/>
          <p:nvPr/>
        </p:nvSpPr>
        <p:spPr>
          <a:xfrm>
            <a:off x="6381750" y="3276600"/>
            <a:ext cx="2333625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텔레그램/카톡 대화창에서 사기범이 '통장 사본', '비밀번호' 등 치명적인 민감 정보를 요구합니다.</a:t>
            </a:r>
            <a:endParaRPr lang="en-US" sz="1050" dirty="0"/>
          </a:p>
        </p:txBody>
      </p:sp>
      <p:sp>
        <p:nvSpPr>
          <p:cNvPr id="39" name="Text 14"/>
          <p:cNvSpPr/>
          <p:nvPr/>
        </p:nvSpPr>
        <p:spPr>
          <a:xfrm>
            <a:off x="6600825" y="4229100"/>
            <a:ext cx="2181225" cy="4211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ECAC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교육 메시지: 절대 제공해서는 안 되는 민감 정보의 종류와 위험성 인지</a:t>
            </a:r>
            <a:endParaRPr lang="en-US" sz="1050" dirty="0"/>
          </a:p>
        </p:txBody>
      </p:sp>
      <p:sp>
        <p:nvSpPr>
          <p:cNvPr id="40" name="Text 15"/>
          <p:cNvSpPr/>
          <p:nvPr/>
        </p:nvSpPr>
        <p:spPr>
          <a:xfrm>
            <a:off x="10425112" y="1809750"/>
            <a:ext cx="100757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Text 16"/>
          <p:cNvSpPr/>
          <p:nvPr/>
        </p:nvSpPr>
        <p:spPr>
          <a:xfrm>
            <a:off x="9534079" y="2324100"/>
            <a:ext cx="220688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86EFA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위험 감지 및 탈출</a:t>
            </a:r>
            <a:endParaRPr lang="en-US" sz="1800" dirty="0"/>
          </a:p>
        </p:txBody>
      </p:sp>
      <p:sp>
        <p:nvSpPr>
          <p:cNvPr id="42" name="Text 17"/>
          <p:cNvSpPr/>
          <p:nvPr/>
        </p:nvSpPr>
        <p:spPr>
          <a:xfrm>
            <a:off x="9286875" y="3276600"/>
            <a:ext cx="2333625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요구받은 민감 정보를 드래그하여 백엔드 '위험 분석 시스템'에 넣고, 사기 유형을 최종 판단 후 '112 신고' 버튼을 클릭하여 탈출합니다.</a:t>
            </a:r>
            <a:endParaRPr lang="en-US" sz="1050" dirty="0"/>
          </a:p>
        </p:txBody>
      </p:sp>
      <p:sp>
        <p:nvSpPr>
          <p:cNvPr id="43" name="Text 18"/>
          <p:cNvSpPr/>
          <p:nvPr/>
        </p:nvSpPr>
        <p:spPr>
          <a:xfrm>
            <a:off x="9505950" y="4229100"/>
            <a:ext cx="218122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BBF7D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교육 메시지: 즉시 대화 중단 및 신고 절차 숙지</a:t>
            </a:r>
            <a:endParaRPr lang="en-US" sz="1050" dirty="0"/>
          </a:p>
        </p:txBody>
      </p:sp>
      <p:sp>
        <p:nvSpPr>
          <p:cNvPr id="44" name="Text 19"/>
          <p:cNvSpPr/>
          <p:nvPr/>
        </p:nvSpPr>
        <p:spPr>
          <a:xfrm>
            <a:off x="914400" y="5334000"/>
            <a:ext cx="107442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총 3단계의 미션을 성공적으로 완료하면, 플레이어는 디지털 사기로부터의 안전불감증에서 탈출하게 됩니다. </a:t>
            </a:r>
            <a:r>
              <a:rPr lang="en-US" sz="135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실제 사기 상황에 대비한 실전 대처 능력</a:t>
            </a: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을 향상시킬 수 있습니다.</a:t>
            </a:r>
            <a:endParaRPr lang="en-US" sz="1350" dirty="0"/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F6C590F0-BF21-0FA9-62A5-1CEE189B5442}"/>
              </a:ext>
            </a:extLst>
          </p:cNvPr>
          <p:cNvSpPr/>
          <p:nvPr/>
        </p:nvSpPr>
        <p:spPr>
          <a:xfrm>
            <a:off x="3885084" y="1828800"/>
            <a:ext cx="38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BE3CE359-AAAF-7376-2E4E-DBB21F4508F1}"/>
              </a:ext>
            </a:extLst>
          </p:cNvPr>
          <p:cNvSpPr/>
          <p:nvPr/>
        </p:nvSpPr>
        <p:spPr>
          <a:xfrm>
            <a:off x="1551637" y="1753333"/>
            <a:ext cx="387623" cy="381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51" name="Text 7">
            <a:extLst>
              <a:ext uri="{FF2B5EF4-FFF2-40B4-BE49-F238E27FC236}">
                <a16:creationId xmlns:a16="http://schemas.microsoft.com/office/drawing/2014/main" id="{A8791F7A-3DE0-3D20-DFB1-ACDC9A3C14BA}"/>
              </a:ext>
            </a:extLst>
          </p:cNvPr>
          <p:cNvSpPr/>
          <p:nvPr/>
        </p:nvSpPr>
        <p:spPr>
          <a:xfrm>
            <a:off x="1709201" y="1828068"/>
            <a:ext cx="38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Image 0" descr="preencoded.png">
            <a:extLst>
              <a:ext uri="{FF2B5EF4-FFF2-40B4-BE49-F238E27FC236}">
                <a16:creationId xmlns:a16="http://schemas.microsoft.com/office/drawing/2014/main" id="{E2641388-9B5F-DE52-F57C-34BC92F60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0620" y="990600"/>
            <a:ext cx="4170759" cy="419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9220" y="1104900"/>
            <a:ext cx="190500" cy="1905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4800600"/>
            <a:ext cx="3733800" cy="9525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4943475"/>
            <a:ext cx="152400" cy="1524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9100" y="4800600"/>
            <a:ext cx="3733800" cy="9525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1500" y="4981575"/>
            <a:ext cx="152400" cy="1524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77200" y="4800600"/>
            <a:ext cx="3733800" cy="9525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9600" y="4981575"/>
            <a:ext cx="152400" cy="1524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61979" y="5943600"/>
            <a:ext cx="1035100" cy="3048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14379" y="6010275"/>
            <a:ext cx="152400" cy="1524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73278" y="5943600"/>
            <a:ext cx="1563737" cy="3048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25678" y="6010275"/>
            <a:ext cx="152400" cy="1524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13215" y="5943600"/>
            <a:ext cx="1116806" cy="30480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65615" y="6010275"/>
            <a:ext cx="133350" cy="152400"/>
          </a:xfrm>
          <a:prstGeom prst="rect">
            <a:avLst/>
          </a:prstGeom>
        </p:spPr>
      </p:pic>
      <p:sp>
        <p:nvSpPr>
          <p:cNvPr id="45" name="Text 0"/>
          <p:cNvSpPr/>
          <p:nvPr/>
        </p:nvSpPr>
        <p:spPr>
          <a:xfrm>
            <a:off x="381000" y="381000"/>
            <a:ext cx="567553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kern="0" spc="54" dirty="0">
                <a:solidFill>
                  <a:schemeClr val="bg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기술 구현 및 시스템 아키텍처</a:t>
            </a:r>
            <a:endParaRPr lang="en-US" sz="2700" dirty="0">
              <a:solidFill>
                <a:schemeClr val="bg1"/>
              </a:solidFill>
            </a:endParaRPr>
          </a:p>
        </p:txBody>
      </p:sp>
      <p:sp>
        <p:nvSpPr>
          <p:cNvPr id="46" name="Text 1"/>
          <p:cNvSpPr/>
          <p:nvPr/>
        </p:nvSpPr>
        <p:spPr>
          <a:xfrm>
            <a:off x="11504414" y="438150"/>
            <a:ext cx="36790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5/8</a:t>
            </a:r>
            <a:endParaRPr lang="en-US" sz="1500" dirty="0"/>
          </a:p>
        </p:txBody>
      </p:sp>
      <p:sp>
        <p:nvSpPr>
          <p:cNvPr id="47" name="Text 2"/>
          <p:cNvSpPr/>
          <p:nvPr/>
        </p:nvSpPr>
        <p:spPr>
          <a:xfrm>
            <a:off x="3593544" y="990600"/>
            <a:ext cx="5004911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Spring Boot + React 풀스택 아키텍처</a:t>
            </a:r>
            <a:endParaRPr lang="en-US" sz="1500" dirty="0"/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A95412FA-0141-1F76-0176-77F5BEC538E3}"/>
              </a:ext>
            </a:extLst>
          </p:cNvPr>
          <p:cNvGrpSpPr/>
          <p:nvPr/>
        </p:nvGrpSpPr>
        <p:grpSpPr>
          <a:xfrm>
            <a:off x="454461" y="1703798"/>
            <a:ext cx="2993191" cy="2819400"/>
            <a:chOff x="1821179" y="1685925"/>
            <a:chExt cx="2993191" cy="2819400"/>
          </a:xfrm>
        </p:grpSpPr>
        <p:pic>
          <p:nvPicPr>
            <p:cNvPr id="5" name="Image 3" descr="preencoded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821179" y="1685925"/>
              <a:ext cx="2993191" cy="2819400"/>
            </a:xfrm>
            <a:prstGeom prst="rect">
              <a:avLst/>
            </a:prstGeom>
          </p:spPr>
        </p:pic>
        <p:pic>
          <p:nvPicPr>
            <p:cNvPr id="6" name="Image 4" descr="preencoded.pn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2947868" y="1869177"/>
              <a:ext cx="571500" cy="609600"/>
            </a:xfrm>
            <a:prstGeom prst="rect">
              <a:avLst/>
            </a:prstGeom>
          </p:spPr>
        </p:pic>
        <p:pic>
          <p:nvPicPr>
            <p:cNvPr id="7" name="Image 5" descr="preencoded.pn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062168" y="1983477"/>
              <a:ext cx="342900" cy="381000"/>
            </a:xfrm>
            <a:prstGeom prst="rect">
              <a:avLst/>
            </a:prstGeom>
          </p:spPr>
        </p:pic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2050830" y="3167890"/>
              <a:ext cx="133350" cy="133350"/>
            </a:xfrm>
            <a:prstGeom prst="rect">
              <a:avLst/>
            </a:prstGeom>
          </p:spPr>
        </p:pic>
        <p:pic>
          <p:nvPicPr>
            <p:cNvPr id="9" name="Image 7" descr="preencoded.pn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2057400" y="3445534"/>
              <a:ext cx="133350" cy="133350"/>
            </a:xfrm>
            <a:prstGeom prst="rect">
              <a:avLst/>
            </a:prstGeom>
          </p:spPr>
        </p:pic>
        <p:pic>
          <p:nvPicPr>
            <p:cNvPr id="10" name="Image 8" descr="preencoded.pn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2057400" y="3708004"/>
              <a:ext cx="133350" cy="133350"/>
            </a:xfrm>
            <a:prstGeom prst="rect">
              <a:avLst/>
            </a:prstGeom>
          </p:spPr>
        </p:pic>
        <p:pic>
          <p:nvPicPr>
            <p:cNvPr id="11" name="Image 9" descr="preencoded.pn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2057400" y="3990758"/>
              <a:ext cx="133350" cy="133350"/>
            </a:xfrm>
            <a:prstGeom prst="rect">
              <a:avLst/>
            </a:prstGeom>
          </p:spPr>
        </p:pic>
        <p:sp>
          <p:nvSpPr>
            <p:cNvPr id="48" name="Text 3"/>
            <p:cNvSpPr/>
            <p:nvPr/>
          </p:nvSpPr>
          <p:spPr>
            <a:xfrm>
              <a:off x="1918616" y="2662118"/>
              <a:ext cx="2834640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2100"/>
                </a:lnSpc>
                <a:buNone/>
              </a:pPr>
              <a:r>
                <a:rPr lang="en-US" sz="1500" b="1" dirty="0">
                  <a:solidFill>
                    <a:srgbClr val="93C5FD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프론트엔드 (React)</a:t>
              </a:r>
              <a:endParaRPr lang="en-US" sz="1500" dirty="0"/>
            </a:p>
          </p:txBody>
        </p:sp>
        <p:sp>
          <p:nvSpPr>
            <p:cNvPr id="49" name="Text 4"/>
            <p:cNvSpPr/>
            <p:nvPr/>
          </p:nvSpPr>
          <p:spPr>
            <a:xfrm>
              <a:off x="2296982" y="3129790"/>
              <a:ext cx="2077909" cy="2095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algn="l">
                <a:lnSpc>
                  <a:spcPts val="1500"/>
                </a:lnSpc>
                <a:buSzPct val="100000"/>
              </a:pPr>
              <a:r>
                <a:rPr lang="en-US" sz="1050" dirty="0" err="1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모바일</a:t>
              </a:r>
              <a:r>
                <a:rPr lang="en-US" sz="105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/채팅 UI 중심의 친숙한 배경</a:t>
              </a:r>
              <a:endParaRPr lang="en-US" sz="1050" dirty="0"/>
            </a:p>
          </p:txBody>
        </p:sp>
        <p:sp>
          <p:nvSpPr>
            <p:cNvPr id="50" name="Text 5"/>
            <p:cNvSpPr/>
            <p:nvPr/>
          </p:nvSpPr>
          <p:spPr>
            <a:xfrm>
              <a:off x="2289870" y="3416959"/>
              <a:ext cx="2390329" cy="1905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algn="l">
                <a:lnSpc>
                  <a:spcPts val="1500"/>
                </a:lnSpc>
                <a:buSzPct val="100000"/>
              </a:pPr>
              <a:r>
                <a:rPr lang="en-US" sz="105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CSS 애니메이션으로 긴박한 타이머 구현</a:t>
              </a:r>
              <a:endParaRPr lang="en-US" sz="1050" dirty="0"/>
            </a:p>
          </p:txBody>
        </p:sp>
        <p:sp>
          <p:nvSpPr>
            <p:cNvPr id="51" name="Text 6"/>
            <p:cNvSpPr/>
            <p:nvPr/>
          </p:nvSpPr>
          <p:spPr>
            <a:xfrm>
              <a:off x="2289870" y="3667388"/>
              <a:ext cx="2353270" cy="231036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algn="l">
                <a:lnSpc>
                  <a:spcPts val="1500"/>
                </a:lnSpc>
                <a:buSzPct val="100000"/>
              </a:pPr>
              <a:r>
                <a:rPr lang="en-US" sz="105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Drag &amp; Drop </a:t>
              </a:r>
              <a:r>
                <a:rPr lang="en-US" sz="1050" dirty="0" err="1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퍼즐</a:t>
              </a:r>
              <a:r>
                <a:rPr lang="en-US" sz="105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 </a:t>
              </a:r>
              <a:r>
                <a:rPr lang="en-US" sz="1050" dirty="0" err="1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구현</a:t>
              </a:r>
              <a:r>
                <a:rPr lang="en-US" sz="105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(민감 정보 보호)</a:t>
              </a:r>
              <a:endParaRPr lang="en-US" sz="1050" dirty="0"/>
            </a:p>
          </p:txBody>
        </p:sp>
        <p:sp>
          <p:nvSpPr>
            <p:cNvPr id="52" name="Text 7"/>
            <p:cNvSpPr/>
            <p:nvPr/>
          </p:nvSpPr>
          <p:spPr>
            <a:xfrm>
              <a:off x="2276475" y="3941875"/>
              <a:ext cx="1924050" cy="1905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algn="l">
                <a:lnSpc>
                  <a:spcPts val="1500"/>
                </a:lnSpc>
                <a:buSzPct val="100000"/>
              </a:pPr>
              <a:r>
                <a:rPr lang="en-US" sz="1050" dirty="0" err="1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사용자</a:t>
              </a:r>
              <a:r>
                <a:rPr lang="en-US" sz="105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 인터랙션 및 피드백 처리</a:t>
              </a:r>
              <a:endParaRPr lang="en-US" sz="1050" dirty="0"/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E49177EB-FEFF-A0C2-014A-98237B79151D}"/>
              </a:ext>
            </a:extLst>
          </p:cNvPr>
          <p:cNvGrpSpPr/>
          <p:nvPr/>
        </p:nvGrpSpPr>
        <p:grpSpPr>
          <a:xfrm>
            <a:off x="6372851" y="1696628"/>
            <a:ext cx="2834640" cy="2846797"/>
            <a:chOff x="7536180" y="1676400"/>
            <a:chExt cx="2834640" cy="2846797"/>
          </a:xfrm>
        </p:grpSpPr>
        <p:pic>
          <p:nvPicPr>
            <p:cNvPr id="12" name="Image 10" descr="preencoded.pn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7581900" y="1676400"/>
              <a:ext cx="2743200" cy="2846797"/>
            </a:xfrm>
            <a:prstGeom prst="rect">
              <a:avLst/>
            </a:prstGeom>
          </p:spPr>
        </p:pic>
        <p:pic>
          <p:nvPicPr>
            <p:cNvPr id="13" name="Image 11" descr="preencoded.pn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683570" y="1842499"/>
              <a:ext cx="571500" cy="609600"/>
            </a:xfrm>
            <a:prstGeom prst="rect">
              <a:avLst/>
            </a:prstGeom>
          </p:spPr>
        </p:pic>
        <p:pic>
          <p:nvPicPr>
            <p:cNvPr id="14" name="Image 12" descr="preencoded.pn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8797870" y="1956799"/>
              <a:ext cx="342900" cy="381000"/>
            </a:xfrm>
            <a:prstGeom prst="rect">
              <a:avLst/>
            </a:prstGeom>
          </p:spPr>
        </p:pic>
        <p:pic>
          <p:nvPicPr>
            <p:cNvPr id="15" name="Image 13" descr="preencoded.pn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7792948" y="3159036"/>
              <a:ext cx="133350" cy="133350"/>
            </a:xfrm>
            <a:prstGeom prst="rect">
              <a:avLst/>
            </a:prstGeom>
          </p:spPr>
        </p:pic>
        <p:pic>
          <p:nvPicPr>
            <p:cNvPr id="16" name="Image 14" descr="preencoded.pn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7781479" y="3425147"/>
              <a:ext cx="133350" cy="133350"/>
            </a:xfrm>
            <a:prstGeom prst="rect">
              <a:avLst/>
            </a:prstGeom>
          </p:spPr>
        </p:pic>
        <p:pic>
          <p:nvPicPr>
            <p:cNvPr id="17" name="Image 15" descr="preencoded.pn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7792948" y="3691847"/>
              <a:ext cx="133350" cy="133350"/>
            </a:xfrm>
            <a:prstGeom prst="rect">
              <a:avLst/>
            </a:prstGeom>
          </p:spPr>
        </p:pic>
        <p:pic>
          <p:nvPicPr>
            <p:cNvPr id="18" name="Image 16" descr="preencoded.pn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7792948" y="3958547"/>
              <a:ext cx="133350" cy="133350"/>
            </a:xfrm>
            <a:prstGeom prst="rect">
              <a:avLst/>
            </a:prstGeom>
          </p:spPr>
        </p:pic>
        <p:sp>
          <p:nvSpPr>
            <p:cNvPr id="53" name="Text 8"/>
            <p:cNvSpPr/>
            <p:nvPr/>
          </p:nvSpPr>
          <p:spPr>
            <a:xfrm>
              <a:off x="7536180" y="2596472"/>
              <a:ext cx="2834640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2100"/>
                </a:lnSpc>
                <a:buNone/>
              </a:pPr>
              <a:r>
                <a:rPr lang="en-US" sz="1500" b="1" dirty="0">
                  <a:solidFill>
                    <a:srgbClr val="D8B4FE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백엔드 (Spring Boot)</a:t>
              </a:r>
              <a:endParaRPr lang="en-US" sz="1500" dirty="0"/>
            </a:p>
          </p:txBody>
        </p:sp>
        <p:sp>
          <p:nvSpPr>
            <p:cNvPr id="54" name="Text 9"/>
            <p:cNvSpPr/>
            <p:nvPr/>
          </p:nvSpPr>
          <p:spPr>
            <a:xfrm>
              <a:off x="8039100" y="3129872"/>
              <a:ext cx="1691597" cy="18097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algn="l">
                <a:lnSpc>
                  <a:spcPts val="1500"/>
                </a:lnSpc>
                <a:buSzPct val="100000"/>
              </a:pPr>
              <a:r>
                <a:rPr lang="en-US" sz="105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RESTful API 엔드포인트 설계</a:t>
              </a:r>
              <a:endParaRPr lang="en-US" sz="1050" dirty="0"/>
            </a:p>
          </p:txBody>
        </p:sp>
        <p:sp>
          <p:nvSpPr>
            <p:cNvPr id="55" name="Text 10"/>
            <p:cNvSpPr/>
            <p:nvPr/>
          </p:nvSpPr>
          <p:spPr>
            <a:xfrm>
              <a:off x="8039100" y="3406097"/>
              <a:ext cx="2051193" cy="1905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algn="l">
                <a:lnSpc>
                  <a:spcPts val="1500"/>
                </a:lnSpc>
                <a:buSzPct val="100000"/>
              </a:pPr>
              <a:r>
                <a:rPr lang="en-US" sz="1050" dirty="0" err="1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사기</a:t>
              </a:r>
              <a:r>
                <a:rPr lang="en-US" sz="105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 분석 로직 (키워드 패턴 기반)</a:t>
              </a:r>
              <a:endParaRPr lang="en-US" sz="1050" dirty="0"/>
            </a:p>
          </p:txBody>
        </p:sp>
        <p:sp>
          <p:nvSpPr>
            <p:cNvPr id="56" name="Text 11"/>
            <p:cNvSpPr/>
            <p:nvPr/>
          </p:nvSpPr>
          <p:spPr>
            <a:xfrm>
              <a:off x="8059648" y="3672796"/>
              <a:ext cx="1221713" cy="190501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algn="l">
                <a:lnSpc>
                  <a:spcPts val="1500"/>
                </a:lnSpc>
                <a:buSzPct val="100000"/>
              </a:pPr>
              <a:r>
                <a:rPr lang="en-US" sz="105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MySQL 데이터 관리</a:t>
              </a:r>
              <a:endParaRPr lang="en-US" sz="1050" dirty="0"/>
            </a:p>
          </p:txBody>
        </p:sp>
        <p:sp>
          <p:nvSpPr>
            <p:cNvPr id="57" name="Text 12"/>
            <p:cNvSpPr/>
            <p:nvPr/>
          </p:nvSpPr>
          <p:spPr>
            <a:xfrm>
              <a:off x="8059648" y="3949023"/>
              <a:ext cx="1671049" cy="190499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algn="l">
                <a:lnSpc>
                  <a:spcPts val="1500"/>
                </a:lnSpc>
                <a:buSzPct val="100000"/>
              </a:pPr>
              <a:r>
                <a:rPr lang="en-US" sz="1050" dirty="0" err="1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게임</a:t>
              </a:r>
              <a:r>
                <a:rPr lang="en-US" sz="105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 로직 검증 및 성능 관리</a:t>
              </a:r>
              <a:endParaRPr lang="en-US" sz="1050" dirty="0"/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8F6E504D-A289-E82E-59CA-AB5461CE1CB5}"/>
              </a:ext>
            </a:extLst>
          </p:cNvPr>
          <p:cNvGrpSpPr/>
          <p:nvPr/>
        </p:nvGrpSpPr>
        <p:grpSpPr>
          <a:xfrm>
            <a:off x="9645293" y="1691277"/>
            <a:ext cx="2133600" cy="1562100"/>
            <a:chOff x="9151442" y="80963"/>
            <a:chExt cx="2133600" cy="1562100"/>
          </a:xfrm>
        </p:grpSpPr>
        <p:pic>
          <p:nvPicPr>
            <p:cNvPr id="19" name="Image 17" descr="preencoded.png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9151442" y="80963"/>
              <a:ext cx="2133600" cy="1562100"/>
            </a:xfrm>
            <a:prstGeom prst="rect">
              <a:avLst/>
            </a:prstGeom>
          </p:spPr>
        </p:pic>
        <p:pic>
          <p:nvPicPr>
            <p:cNvPr id="20" name="Image 18" descr="preencoded.png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0046970" y="202599"/>
              <a:ext cx="400050" cy="495300"/>
            </a:xfrm>
            <a:prstGeom prst="rect">
              <a:avLst/>
            </a:prstGeom>
          </p:spPr>
        </p:pic>
        <p:pic>
          <p:nvPicPr>
            <p:cNvPr id="21" name="Image 19" descr="preencoded.png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10123170" y="278799"/>
              <a:ext cx="247650" cy="342900"/>
            </a:xfrm>
            <a:prstGeom prst="rect">
              <a:avLst/>
            </a:prstGeom>
          </p:spPr>
        </p:pic>
        <p:sp>
          <p:nvSpPr>
            <p:cNvPr id="58" name="Text 13"/>
            <p:cNvSpPr/>
            <p:nvPr/>
          </p:nvSpPr>
          <p:spPr>
            <a:xfrm>
              <a:off x="9332595" y="742950"/>
              <a:ext cx="1828800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2100"/>
                </a:lnSpc>
                <a:buNone/>
              </a:pPr>
              <a:r>
                <a:rPr lang="en-US" sz="1350" b="1" dirty="0">
                  <a:solidFill>
                    <a:srgbClr val="86EFAC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MySQL</a:t>
              </a:r>
              <a:endParaRPr lang="en-US" sz="1350" dirty="0"/>
            </a:p>
          </p:txBody>
        </p:sp>
        <p:sp>
          <p:nvSpPr>
            <p:cNvPr id="59" name="Text 14"/>
            <p:cNvSpPr/>
            <p:nvPr/>
          </p:nvSpPr>
          <p:spPr>
            <a:xfrm>
              <a:off x="9332595" y="1123950"/>
              <a:ext cx="1828800" cy="3810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미션 정답 텍스트 및 사용자 데이터 저장</a:t>
              </a:r>
              <a:endParaRPr lang="en-US" sz="1050" dirty="0"/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5B277397-4A7C-F13F-E3C4-F7846D6803C8}"/>
              </a:ext>
            </a:extLst>
          </p:cNvPr>
          <p:cNvGrpSpPr/>
          <p:nvPr/>
        </p:nvGrpSpPr>
        <p:grpSpPr>
          <a:xfrm>
            <a:off x="3831100" y="1703798"/>
            <a:ext cx="2194560" cy="1562100"/>
            <a:chOff x="339668" y="457200"/>
            <a:chExt cx="2194560" cy="1562100"/>
          </a:xfrm>
        </p:grpSpPr>
        <p:pic>
          <p:nvPicPr>
            <p:cNvPr id="22" name="Image 20" descr="preencoded.png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352425" y="457200"/>
              <a:ext cx="2133600" cy="1562100"/>
            </a:xfrm>
            <a:prstGeom prst="rect">
              <a:avLst/>
            </a:prstGeom>
          </p:spPr>
        </p:pic>
        <p:pic>
          <p:nvPicPr>
            <p:cNvPr id="23" name="Image 21" descr="preencoded.png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1170376" y="608056"/>
              <a:ext cx="514350" cy="495300"/>
            </a:xfrm>
            <a:prstGeom prst="rect">
              <a:avLst/>
            </a:prstGeom>
          </p:spPr>
        </p:pic>
        <p:pic>
          <p:nvPicPr>
            <p:cNvPr id="24" name="Image 22" descr="preencoded.png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1246576" y="684256"/>
              <a:ext cx="361950" cy="342900"/>
            </a:xfrm>
            <a:prstGeom prst="rect">
              <a:avLst/>
            </a:prstGeom>
          </p:spPr>
        </p:pic>
        <p:sp>
          <p:nvSpPr>
            <p:cNvPr id="60" name="Text 15"/>
            <p:cNvSpPr/>
            <p:nvPr/>
          </p:nvSpPr>
          <p:spPr>
            <a:xfrm>
              <a:off x="339668" y="1209675"/>
              <a:ext cx="2194560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2100"/>
                </a:lnSpc>
                <a:buNone/>
              </a:pPr>
              <a:r>
                <a:rPr lang="en-US" sz="1350" b="1" dirty="0">
                  <a:solidFill>
                    <a:srgbClr val="FDE047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API Gateway</a:t>
              </a:r>
              <a:endParaRPr lang="en-US" sz="1350" dirty="0"/>
            </a:p>
          </p:txBody>
        </p:sp>
        <p:sp>
          <p:nvSpPr>
            <p:cNvPr id="61" name="Text 16"/>
            <p:cNvSpPr/>
            <p:nvPr/>
          </p:nvSpPr>
          <p:spPr>
            <a:xfrm>
              <a:off x="513151" y="1522456"/>
              <a:ext cx="1828800" cy="3810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프론트엔드 요청 </a:t>
              </a:r>
              <a:r>
                <a:rPr lang="en-US" sz="1050" dirty="0" err="1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처리</a:t>
              </a:r>
              <a:r>
                <a:rPr lang="en-US" sz="105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 </a:t>
              </a:r>
            </a:p>
            <a:p>
              <a:pPr marL="0" indent="0" algn="ctr">
                <a:lnSpc>
                  <a:spcPts val="1500"/>
                </a:lnSpc>
                <a:buNone/>
              </a:pPr>
              <a:r>
                <a:rPr lang="en-US" sz="1050" dirty="0" err="1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및</a:t>
              </a:r>
              <a:r>
                <a:rPr lang="en-US" sz="105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 라우팅</a:t>
              </a:r>
              <a:endParaRPr lang="en-US" sz="1050" dirty="0"/>
            </a:p>
          </p:txBody>
        </p:sp>
      </p:grpSp>
      <p:sp>
        <p:nvSpPr>
          <p:cNvPr id="62" name="Text 17"/>
          <p:cNvSpPr/>
          <p:nvPr/>
        </p:nvSpPr>
        <p:spPr>
          <a:xfrm>
            <a:off x="723900" y="4914900"/>
            <a:ext cx="3505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몰입감 있는 UI</a:t>
            </a:r>
            <a:endParaRPr lang="en-US" sz="1200" dirty="0"/>
          </a:p>
        </p:txBody>
      </p:sp>
      <p:sp>
        <p:nvSpPr>
          <p:cNvPr id="63" name="Text 18"/>
          <p:cNvSpPr/>
          <p:nvPr/>
        </p:nvSpPr>
        <p:spPr>
          <a:xfrm>
            <a:off x="495300" y="5181600"/>
            <a:ext cx="3505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친숙한 모바일/채팅 UI와 CSS 애니메이션을 통해 현실감 있는 몰입 환경 구현</a:t>
            </a:r>
            <a:endParaRPr lang="en-US" sz="1050" dirty="0"/>
          </a:p>
        </p:txBody>
      </p:sp>
      <p:sp>
        <p:nvSpPr>
          <p:cNvPr id="64" name="Text 19"/>
          <p:cNvSpPr/>
          <p:nvPr/>
        </p:nvSpPr>
        <p:spPr>
          <a:xfrm>
            <a:off x="4610100" y="4953000"/>
            <a:ext cx="3429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8B4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보안 로직 검증</a:t>
            </a:r>
            <a:endParaRPr lang="en-US" sz="1200" dirty="0"/>
          </a:p>
        </p:txBody>
      </p:sp>
      <p:sp>
        <p:nvSpPr>
          <p:cNvPr id="65" name="Text 20"/>
          <p:cNvSpPr/>
          <p:nvPr/>
        </p:nvSpPr>
        <p:spPr>
          <a:xfrm>
            <a:off x="4381500" y="5219700"/>
            <a:ext cx="3429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Spring Boot로 사기 분석 로직 구현, 정확한 위험도 판단과 사기 유형 분석</a:t>
            </a:r>
            <a:endParaRPr lang="en-US" sz="1050" dirty="0"/>
          </a:p>
        </p:txBody>
      </p:sp>
      <p:sp>
        <p:nvSpPr>
          <p:cNvPr id="66" name="Text 21"/>
          <p:cNvSpPr/>
          <p:nvPr/>
        </p:nvSpPr>
        <p:spPr>
          <a:xfrm>
            <a:off x="8458200" y="4953000"/>
            <a:ext cx="3429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6EFA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데이터 기반 피드백</a:t>
            </a:r>
            <a:endParaRPr lang="en-US" sz="1200" dirty="0"/>
          </a:p>
        </p:txBody>
      </p:sp>
      <p:sp>
        <p:nvSpPr>
          <p:cNvPr id="67" name="Text 22"/>
          <p:cNvSpPr/>
          <p:nvPr/>
        </p:nvSpPr>
        <p:spPr>
          <a:xfrm>
            <a:off x="8229600" y="5219700"/>
            <a:ext cx="3429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MySQL에 저장된 정답 텍스트와 사용자 최종 점수/클리어 시간 분석</a:t>
            </a:r>
            <a:endParaRPr lang="en-US" sz="1050" dirty="0"/>
          </a:p>
        </p:txBody>
      </p:sp>
      <p:sp>
        <p:nvSpPr>
          <p:cNvPr id="68" name="Text 23"/>
          <p:cNvSpPr/>
          <p:nvPr/>
        </p:nvSpPr>
        <p:spPr>
          <a:xfrm>
            <a:off x="4504879" y="6000750"/>
            <a:ext cx="87636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React</a:t>
            </a:r>
            <a:endParaRPr lang="en-US" sz="1200" dirty="0"/>
          </a:p>
        </p:txBody>
      </p:sp>
      <p:sp>
        <p:nvSpPr>
          <p:cNvPr id="69" name="Text 24"/>
          <p:cNvSpPr/>
          <p:nvPr/>
        </p:nvSpPr>
        <p:spPr>
          <a:xfrm>
            <a:off x="5616178" y="6000750"/>
            <a:ext cx="1510725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BBF7D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Spring Boot</a:t>
            </a:r>
            <a:endParaRPr lang="en-US" sz="1200" dirty="0"/>
          </a:p>
        </p:txBody>
      </p:sp>
      <p:sp>
        <p:nvSpPr>
          <p:cNvPr id="70" name="Text 25"/>
          <p:cNvSpPr/>
          <p:nvPr/>
        </p:nvSpPr>
        <p:spPr>
          <a:xfrm>
            <a:off x="7237065" y="6000750"/>
            <a:ext cx="974408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EF08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MySQL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Image 0" descr="preencoded.png">
            <a:extLst>
              <a:ext uri="{FF2B5EF4-FFF2-40B4-BE49-F238E27FC236}">
                <a16:creationId xmlns:a16="http://schemas.microsoft.com/office/drawing/2014/main" id="{C66EA716-31FA-FF1D-712C-0204D68A2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219200"/>
            <a:ext cx="3657600" cy="39624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447800"/>
            <a:ext cx="457200" cy="457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1524000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4686300"/>
            <a:ext cx="604689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0489" y="4686300"/>
            <a:ext cx="491133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57821" y="4686300"/>
            <a:ext cx="968425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0" y="1219200"/>
            <a:ext cx="3657600" cy="396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5800" y="1447800"/>
            <a:ext cx="457200" cy="457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24388" y="1524000"/>
            <a:ext cx="200025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95800" y="4343400"/>
            <a:ext cx="871835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43835" y="4343400"/>
            <a:ext cx="1229469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95800" y="4686300"/>
            <a:ext cx="1502122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3400" y="1219200"/>
            <a:ext cx="3657600" cy="396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82000" y="1447800"/>
            <a:ext cx="457200" cy="457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96300" y="1524000"/>
            <a:ext cx="22860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82000" y="4686300"/>
            <a:ext cx="1048048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06248" y="4686300"/>
            <a:ext cx="1272332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854779" y="4686300"/>
            <a:ext cx="606028" cy="266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1000" y="5486400"/>
            <a:ext cx="11430000" cy="647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3400" y="5638800"/>
            <a:ext cx="361950" cy="3429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48289" y="5734050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97776" y="573405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094863" y="5734050"/>
            <a:ext cx="171450" cy="1524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381000" y="381000"/>
            <a:ext cx="410301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kern="0" spc="54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프론트엔드 구현 전략</a:t>
            </a:r>
            <a:endParaRPr lang="en-US" sz="2700" dirty="0"/>
          </a:p>
        </p:txBody>
      </p:sp>
      <p:sp>
        <p:nvSpPr>
          <p:cNvPr id="27" name="Text 1"/>
          <p:cNvSpPr/>
          <p:nvPr/>
        </p:nvSpPr>
        <p:spPr>
          <a:xfrm>
            <a:off x="11504414" y="438150"/>
            <a:ext cx="36790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6/8</a:t>
            </a:r>
            <a:endParaRPr lang="en-US" sz="1500" dirty="0"/>
          </a:p>
        </p:txBody>
      </p:sp>
      <p:sp>
        <p:nvSpPr>
          <p:cNvPr id="28" name="Text 2"/>
          <p:cNvSpPr/>
          <p:nvPr/>
        </p:nvSpPr>
        <p:spPr>
          <a:xfrm>
            <a:off x="1219200" y="1524000"/>
            <a:ext cx="1503402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UI/UX 모방</a:t>
            </a:r>
            <a:endParaRPr lang="en-US" sz="1800" dirty="0"/>
          </a:p>
        </p:txBody>
      </p:sp>
      <p:sp>
        <p:nvSpPr>
          <p:cNvPr id="29" name="Text 3"/>
          <p:cNvSpPr/>
          <p:nvPr/>
        </p:nvSpPr>
        <p:spPr>
          <a:xfrm>
            <a:off x="647700" y="2057400"/>
            <a:ext cx="31623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모바일/채팅 UI 중심의 친숙한 배경 사용</a:t>
            </a:r>
            <a:endParaRPr lang="en-US" sz="1350" dirty="0"/>
          </a:p>
        </p:txBody>
      </p:sp>
      <p:sp>
        <p:nvSpPr>
          <p:cNvPr id="30" name="Text 4"/>
          <p:cNvSpPr/>
          <p:nvPr/>
        </p:nvSpPr>
        <p:spPr>
          <a:xfrm>
            <a:off x="647700" y="2705100"/>
            <a:ext cx="31623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CSS 애니메이션으로 긴박한 타이머 구현</a:t>
            </a:r>
            <a:endParaRPr lang="en-US" sz="1350" dirty="0"/>
          </a:p>
        </p:txBody>
      </p:sp>
      <p:sp>
        <p:nvSpPr>
          <p:cNvPr id="31" name="Text 5"/>
          <p:cNvSpPr/>
          <p:nvPr/>
        </p:nvSpPr>
        <p:spPr>
          <a:xfrm>
            <a:off x="647700" y="3352800"/>
            <a:ext cx="31623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효과음(Audio API)을 통한 상황에 맞춘 사운드 효과</a:t>
            </a:r>
            <a:endParaRPr lang="en-US" sz="1350" dirty="0"/>
          </a:p>
        </p:txBody>
      </p:sp>
      <p:sp>
        <p:nvSpPr>
          <p:cNvPr id="32" name="Text 6"/>
          <p:cNvSpPr/>
          <p:nvPr/>
        </p:nvSpPr>
        <p:spPr>
          <a:xfrm>
            <a:off x="647700" y="4000500"/>
            <a:ext cx="31623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실제 애플리케이션과 유사한 사용자 인터페이스 설계</a:t>
            </a:r>
            <a:endParaRPr lang="en-US" sz="1350" dirty="0"/>
          </a:p>
        </p:txBody>
      </p:sp>
      <p:sp>
        <p:nvSpPr>
          <p:cNvPr id="33" name="Text 7"/>
          <p:cNvSpPr/>
          <p:nvPr/>
        </p:nvSpPr>
        <p:spPr>
          <a:xfrm>
            <a:off x="750527" y="4724400"/>
            <a:ext cx="34080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React</a:t>
            </a:r>
            <a:endParaRPr lang="en-US" sz="1050" dirty="0"/>
          </a:p>
        </p:txBody>
      </p:sp>
      <p:sp>
        <p:nvSpPr>
          <p:cNvPr id="34" name="Text 8"/>
          <p:cNvSpPr/>
          <p:nvPr/>
        </p:nvSpPr>
        <p:spPr>
          <a:xfrm>
            <a:off x="1442888" y="4724400"/>
            <a:ext cx="29372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CSS</a:t>
            </a:r>
            <a:endParaRPr lang="en-US" sz="1050" dirty="0"/>
          </a:p>
        </p:txBody>
      </p:sp>
      <p:sp>
        <p:nvSpPr>
          <p:cNvPr id="35" name="Text 9"/>
          <p:cNvSpPr/>
          <p:nvPr/>
        </p:nvSpPr>
        <p:spPr>
          <a:xfrm>
            <a:off x="2004059" y="4724400"/>
            <a:ext cx="67746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animations</a:t>
            </a:r>
            <a:endParaRPr lang="en-US" sz="1050" dirty="0"/>
          </a:p>
        </p:txBody>
      </p:sp>
      <p:sp>
        <p:nvSpPr>
          <p:cNvPr id="36" name="Text 10"/>
          <p:cNvSpPr/>
          <p:nvPr/>
        </p:nvSpPr>
        <p:spPr>
          <a:xfrm>
            <a:off x="5105400" y="1524000"/>
            <a:ext cx="201578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인터랙션 시스템</a:t>
            </a:r>
            <a:endParaRPr lang="en-US" sz="1800" dirty="0"/>
          </a:p>
        </p:txBody>
      </p:sp>
      <p:sp>
        <p:nvSpPr>
          <p:cNvPr id="37" name="Text 11"/>
          <p:cNvSpPr/>
          <p:nvPr/>
        </p:nvSpPr>
        <p:spPr>
          <a:xfrm>
            <a:off x="4533900" y="2057400"/>
            <a:ext cx="31623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Drag &amp; Drop 퍼즐 (react-dnd)을 통한 미션 2 구현</a:t>
            </a:r>
            <a:endParaRPr lang="en-US" sz="1350" dirty="0"/>
          </a:p>
        </p:txBody>
      </p:sp>
      <p:sp>
        <p:nvSpPr>
          <p:cNvPr id="38" name="Text 12"/>
          <p:cNvSpPr/>
          <p:nvPr/>
        </p:nvSpPr>
        <p:spPr>
          <a:xfrm>
            <a:off x="4533900" y="2705100"/>
            <a:ext cx="37947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사기 단서 클릭 시 수집 메커니즘</a:t>
            </a:r>
            <a:endParaRPr lang="en-US" sz="1350" dirty="0"/>
          </a:p>
        </p:txBody>
      </p:sp>
      <p:sp>
        <p:nvSpPr>
          <p:cNvPr id="39" name="Text 13"/>
          <p:cNvSpPr/>
          <p:nvPr/>
        </p:nvSpPr>
        <p:spPr>
          <a:xfrm>
            <a:off x="4533900" y="3086100"/>
            <a:ext cx="37947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대화창에서의 상호작용 요소 구현</a:t>
            </a:r>
            <a:endParaRPr lang="en-US" sz="1350" dirty="0"/>
          </a:p>
        </p:txBody>
      </p:sp>
      <p:sp>
        <p:nvSpPr>
          <p:cNvPr id="40" name="Text 14"/>
          <p:cNvSpPr/>
          <p:nvPr/>
        </p:nvSpPr>
        <p:spPr>
          <a:xfrm>
            <a:off x="4533900" y="3467100"/>
            <a:ext cx="31623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사용자 행동에 따른 실시간 반응 시스템</a:t>
            </a:r>
            <a:endParaRPr lang="en-US" sz="1350" dirty="0"/>
          </a:p>
        </p:txBody>
      </p:sp>
      <p:sp>
        <p:nvSpPr>
          <p:cNvPr id="41" name="Text 15"/>
          <p:cNvSpPr/>
          <p:nvPr/>
        </p:nvSpPr>
        <p:spPr>
          <a:xfrm>
            <a:off x="4666833" y="4371561"/>
            <a:ext cx="54840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react-dnd</a:t>
            </a:r>
            <a:endParaRPr lang="en-US" sz="1050" dirty="0"/>
          </a:p>
        </p:txBody>
      </p:sp>
      <p:sp>
        <p:nvSpPr>
          <p:cNvPr id="42" name="Text 16"/>
          <p:cNvSpPr/>
          <p:nvPr/>
        </p:nvSpPr>
        <p:spPr>
          <a:xfrm>
            <a:off x="5660082" y="4371561"/>
            <a:ext cx="87183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event handling</a:t>
            </a:r>
            <a:endParaRPr lang="en-US" sz="1050" dirty="0"/>
          </a:p>
        </p:txBody>
      </p:sp>
      <p:sp>
        <p:nvSpPr>
          <p:cNvPr id="43" name="Text 17"/>
          <p:cNvSpPr/>
          <p:nvPr/>
        </p:nvSpPr>
        <p:spPr>
          <a:xfrm>
            <a:off x="4724400" y="4714461"/>
            <a:ext cx="108999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state management</a:t>
            </a:r>
            <a:endParaRPr lang="en-US" sz="1050" dirty="0"/>
          </a:p>
        </p:txBody>
      </p:sp>
      <p:sp>
        <p:nvSpPr>
          <p:cNvPr id="44" name="Text 18"/>
          <p:cNvSpPr/>
          <p:nvPr/>
        </p:nvSpPr>
        <p:spPr>
          <a:xfrm>
            <a:off x="8991600" y="1524000"/>
            <a:ext cx="174146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피드백 시스템</a:t>
            </a:r>
            <a:endParaRPr lang="en-US" sz="1800" dirty="0"/>
          </a:p>
        </p:txBody>
      </p:sp>
      <p:sp>
        <p:nvSpPr>
          <p:cNvPr id="45" name="Text 19"/>
          <p:cNvSpPr/>
          <p:nvPr/>
        </p:nvSpPr>
        <p:spPr>
          <a:xfrm>
            <a:off x="8420100" y="2057400"/>
            <a:ext cx="31623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오답 시 </a:t>
            </a:r>
            <a:r>
              <a:rPr lang="en-US" sz="1350" dirty="0">
                <a:solidFill>
                  <a:srgbClr val="FCA5A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'개인 정보가 유출될 뻔했습니다!'</a:t>
            </a: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경고 메시지</a:t>
            </a:r>
            <a:endParaRPr lang="en-US" sz="1350" dirty="0"/>
          </a:p>
        </p:txBody>
      </p:sp>
      <p:sp>
        <p:nvSpPr>
          <p:cNvPr id="46" name="Text 20"/>
          <p:cNvSpPr/>
          <p:nvPr/>
        </p:nvSpPr>
        <p:spPr>
          <a:xfrm>
            <a:off x="8420100" y="2705100"/>
            <a:ext cx="37947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정답 시 시각적, 체크 메커니즘 제공</a:t>
            </a:r>
            <a:endParaRPr lang="en-US" sz="1350" dirty="0"/>
          </a:p>
        </p:txBody>
      </p:sp>
      <p:sp>
        <p:nvSpPr>
          <p:cNvPr id="47" name="Text 21"/>
          <p:cNvSpPr/>
          <p:nvPr/>
        </p:nvSpPr>
        <p:spPr>
          <a:xfrm>
            <a:off x="8420100" y="3086100"/>
            <a:ext cx="37947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미션 클리어 시 보상 메커니즘</a:t>
            </a:r>
            <a:endParaRPr lang="en-US" sz="1350" dirty="0"/>
          </a:p>
        </p:txBody>
      </p:sp>
      <p:sp>
        <p:nvSpPr>
          <p:cNvPr id="48" name="Text 22"/>
          <p:cNvSpPr/>
          <p:nvPr/>
        </p:nvSpPr>
        <p:spPr>
          <a:xfrm>
            <a:off x="8420100" y="3467100"/>
            <a:ext cx="31623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사용자 행동 분석을 위한 간단한 로깅 시스템</a:t>
            </a:r>
            <a:endParaRPr lang="en-US" sz="1350" dirty="0"/>
          </a:p>
        </p:txBody>
      </p:sp>
      <p:sp>
        <p:nvSpPr>
          <p:cNvPr id="49" name="Text 23"/>
          <p:cNvSpPr/>
          <p:nvPr/>
        </p:nvSpPr>
        <p:spPr>
          <a:xfrm>
            <a:off x="8563959" y="4724400"/>
            <a:ext cx="72723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notifications</a:t>
            </a:r>
            <a:endParaRPr lang="en-US" sz="1050" dirty="0"/>
          </a:p>
        </p:txBody>
      </p:sp>
      <p:sp>
        <p:nvSpPr>
          <p:cNvPr id="50" name="Text 24"/>
          <p:cNvSpPr/>
          <p:nvPr/>
        </p:nvSpPr>
        <p:spPr>
          <a:xfrm>
            <a:off x="9714930" y="4724400"/>
            <a:ext cx="85323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visual feedback</a:t>
            </a:r>
            <a:endParaRPr lang="en-US" sz="1050" dirty="0"/>
          </a:p>
        </p:txBody>
      </p:sp>
      <p:sp>
        <p:nvSpPr>
          <p:cNvPr id="51" name="Text 25"/>
          <p:cNvSpPr/>
          <p:nvPr/>
        </p:nvSpPr>
        <p:spPr>
          <a:xfrm>
            <a:off x="10987262" y="4714461"/>
            <a:ext cx="373164" cy="23853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alerts</a:t>
            </a:r>
            <a:endParaRPr lang="en-US" sz="1050" dirty="0"/>
          </a:p>
        </p:txBody>
      </p:sp>
      <p:sp>
        <p:nvSpPr>
          <p:cNvPr id="52" name="Text 26"/>
          <p:cNvSpPr/>
          <p:nvPr/>
        </p:nvSpPr>
        <p:spPr>
          <a:xfrm>
            <a:off x="1047750" y="5676900"/>
            <a:ext cx="198810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몰입감 극대화 전략</a:t>
            </a:r>
            <a:endParaRPr lang="en-US" sz="1500" dirty="0"/>
          </a:p>
        </p:txBody>
      </p:sp>
      <p:sp>
        <p:nvSpPr>
          <p:cNvPr id="53" name="Text 27"/>
          <p:cNvSpPr/>
          <p:nvPr/>
        </p:nvSpPr>
        <p:spPr>
          <a:xfrm>
            <a:off x="6776889" y="5695950"/>
            <a:ext cx="157930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타이머 기반 긴박감</a:t>
            </a:r>
            <a:endParaRPr lang="en-US" sz="1200" dirty="0"/>
          </a:p>
        </p:txBody>
      </p:sp>
      <p:sp>
        <p:nvSpPr>
          <p:cNvPr id="54" name="Text 28"/>
          <p:cNvSpPr/>
          <p:nvPr/>
        </p:nvSpPr>
        <p:spPr>
          <a:xfrm>
            <a:off x="8626376" y="5695950"/>
            <a:ext cx="13964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실시간 위험 알림</a:t>
            </a:r>
            <a:endParaRPr lang="en-US" sz="1200" dirty="0"/>
          </a:p>
        </p:txBody>
      </p:sp>
      <p:sp>
        <p:nvSpPr>
          <p:cNvPr id="55" name="Text 29"/>
          <p:cNvSpPr/>
          <p:nvPr/>
        </p:nvSpPr>
        <p:spPr>
          <a:xfrm>
            <a:off x="10342513" y="5695950"/>
            <a:ext cx="157930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게임화된 학습 경험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 0" descr="preencoded.png">
            <a:extLst>
              <a:ext uri="{FF2B5EF4-FFF2-40B4-BE49-F238E27FC236}">
                <a16:creationId xmlns:a16="http://schemas.microsoft.com/office/drawing/2014/main" id="{07412E9D-0483-7466-AB77-54A07DFBD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3028950"/>
            <a:ext cx="914400" cy="9144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4550" y="3295650"/>
            <a:ext cx="342900" cy="381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2190750"/>
            <a:ext cx="19050" cy="952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1000" y="3143250"/>
            <a:ext cx="1905000" cy="190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3143250"/>
            <a:ext cx="1905000" cy="190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3143250"/>
            <a:ext cx="1905000" cy="190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3143250"/>
            <a:ext cx="1905000" cy="190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1143000"/>
            <a:ext cx="5600700" cy="2286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1333500"/>
            <a:ext cx="45720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140970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3076575"/>
            <a:ext cx="171450" cy="1333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300" y="1143000"/>
            <a:ext cx="5600700" cy="2286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1333500"/>
            <a:ext cx="457200" cy="457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15100" y="1409700"/>
            <a:ext cx="2286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3076575"/>
            <a:ext cx="171450" cy="1333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1000" y="3657600"/>
            <a:ext cx="5600700" cy="2286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3848100"/>
            <a:ext cx="457200" cy="457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0088" y="3924300"/>
            <a:ext cx="200025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500" y="5591175"/>
            <a:ext cx="133350" cy="1333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10300" y="3657600"/>
            <a:ext cx="5600700" cy="22860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00800" y="3848100"/>
            <a:ext cx="457200" cy="4572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15100" y="3924300"/>
            <a:ext cx="228600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00800" y="5591175"/>
            <a:ext cx="171450" cy="1333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576959" y="6172200"/>
            <a:ext cx="7038082" cy="4191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805559" y="6276975"/>
            <a:ext cx="152400" cy="17145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224516" y="6276975"/>
            <a:ext cx="161925" cy="171450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381000" y="381000"/>
            <a:ext cx="325951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kern="0" spc="54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백엔드 핵심 로직</a:t>
            </a:r>
            <a:endParaRPr lang="en-US" sz="2700" dirty="0"/>
          </a:p>
        </p:txBody>
      </p:sp>
      <p:sp>
        <p:nvSpPr>
          <p:cNvPr id="30" name="Text 1"/>
          <p:cNvSpPr/>
          <p:nvPr/>
        </p:nvSpPr>
        <p:spPr>
          <a:xfrm>
            <a:off x="11504414" y="438150"/>
            <a:ext cx="36790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7/8</a:t>
            </a:r>
            <a:endParaRPr lang="en-US" sz="1500" dirty="0"/>
          </a:p>
        </p:txBody>
      </p:sp>
      <p:sp>
        <p:nvSpPr>
          <p:cNvPr id="31" name="Text 2"/>
          <p:cNvSpPr/>
          <p:nvPr/>
        </p:nvSpPr>
        <p:spPr>
          <a:xfrm>
            <a:off x="1181100" y="1409700"/>
            <a:ext cx="180290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RESTful API</a:t>
            </a:r>
            <a:endParaRPr lang="en-US" sz="1800" dirty="0"/>
          </a:p>
        </p:txBody>
      </p:sp>
      <p:sp>
        <p:nvSpPr>
          <p:cNvPr id="32" name="Text 3"/>
          <p:cNvSpPr/>
          <p:nvPr/>
        </p:nvSpPr>
        <p:spPr>
          <a:xfrm>
            <a:off x="609600" y="1905000"/>
            <a:ext cx="5181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React 클라이언트의 모든 미션 체크 요청을 처리하는 API 엔드포인트 설계</a:t>
            </a:r>
            <a:endParaRPr lang="en-US" sz="1200" dirty="0"/>
          </a:p>
        </p:txBody>
      </p:sp>
      <p:sp>
        <p:nvSpPr>
          <p:cNvPr id="33" name="Text 4"/>
          <p:cNvSpPr/>
          <p:nvPr/>
        </p:nvSpPr>
        <p:spPr>
          <a:xfrm>
            <a:off x="609600" y="2438400"/>
            <a:ext cx="6217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클라이언트와의 안정적인 통신을 위한 HTTP 메서드 구현</a:t>
            </a:r>
            <a:endParaRPr lang="en-US" sz="1200" dirty="0"/>
          </a:p>
        </p:txBody>
      </p:sp>
      <p:sp>
        <p:nvSpPr>
          <p:cNvPr id="34" name="Text 5"/>
          <p:cNvSpPr/>
          <p:nvPr/>
        </p:nvSpPr>
        <p:spPr>
          <a:xfrm>
            <a:off x="609600" y="2743200"/>
            <a:ext cx="5181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API 버전 관리를 통해 지속적인 업데이트 지원</a:t>
            </a:r>
            <a:endParaRPr lang="en-US" sz="1200" dirty="0"/>
          </a:p>
        </p:txBody>
      </p:sp>
      <p:sp>
        <p:nvSpPr>
          <p:cNvPr id="35" name="Text 6"/>
          <p:cNvSpPr/>
          <p:nvPr/>
        </p:nvSpPr>
        <p:spPr>
          <a:xfrm>
            <a:off x="819150" y="3048000"/>
            <a:ext cx="310074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Spring Boot의 WebFlux 기반 비동기 처리</a:t>
            </a:r>
            <a:endParaRPr lang="en-US" sz="1050" dirty="0"/>
          </a:p>
        </p:txBody>
      </p:sp>
      <p:sp>
        <p:nvSpPr>
          <p:cNvPr id="36" name="Text 7"/>
          <p:cNvSpPr/>
          <p:nvPr/>
        </p:nvSpPr>
        <p:spPr>
          <a:xfrm>
            <a:off x="7010400" y="1409700"/>
            <a:ext cx="183701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사기 분석 로직</a:t>
            </a:r>
            <a:endParaRPr lang="en-US" sz="1800" dirty="0"/>
          </a:p>
        </p:txBody>
      </p:sp>
      <p:sp>
        <p:nvSpPr>
          <p:cNvPr id="37" name="Text 8"/>
          <p:cNvSpPr/>
          <p:nvPr/>
        </p:nvSpPr>
        <p:spPr>
          <a:xfrm>
            <a:off x="6438900" y="1905000"/>
            <a:ext cx="5181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DB에 저장된 '사기 키워드 패턴' (당일 지급, 통장, 신분증) 기반 위험도 판단</a:t>
            </a:r>
            <a:endParaRPr lang="en-US" sz="1200" dirty="0"/>
          </a:p>
        </p:txBody>
      </p:sp>
      <p:sp>
        <p:nvSpPr>
          <p:cNvPr id="38" name="Text 9"/>
          <p:cNvSpPr/>
          <p:nvPr/>
        </p:nvSpPr>
        <p:spPr>
          <a:xfrm>
            <a:off x="6438900" y="2438400"/>
            <a:ext cx="6217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플레이어가 제출한 단서/문구의 사기 유형과 위험도 자동 분석</a:t>
            </a:r>
            <a:endParaRPr lang="en-US" sz="1200" dirty="0"/>
          </a:p>
        </p:txBody>
      </p:sp>
      <p:sp>
        <p:nvSpPr>
          <p:cNvPr id="39" name="Text 10"/>
          <p:cNvSpPr/>
          <p:nvPr/>
        </p:nvSpPr>
        <p:spPr>
          <a:xfrm>
            <a:off x="6438900" y="2743200"/>
            <a:ext cx="5181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분석 결과에 따른 미션 성공/실패 여부 결정 로직</a:t>
            </a:r>
            <a:endParaRPr lang="en-US" sz="1200" dirty="0"/>
          </a:p>
        </p:txBody>
      </p:sp>
      <p:sp>
        <p:nvSpPr>
          <p:cNvPr id="40" name="Text 11"/>
          <p:cNvSpPr/>
          <p:nvPr/>
        </p:nvSpPr>
        <p:spPr>
          <a:xfrm>
            <a:off x="6648450" y="3048000"/>
            <a:ext cx="180379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8B4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규칙 기반 추론 엔진 구현</a:t>
            </a:r>
            <a:endParaRPr lang="en-US" sz="1050" dirty="0"/>
          </a:p>
        </p:txBody>
      </p:sp>
      <p:sp>
        <p:nvSpPr>
          <p:cNvPr id="41" name="Text 12"/>
          <p:cNvSpPr/>
          <p:nvPr/>
        </p:nvSpPr>
        <p:spPr>
          <a:xfrm>
            <a:off x="1181100" y="3924300"/>
            <a:ext cx="238565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데이터 관리 시스템</a:t>
            </a:r>
            <a:endParaRPr lang="en-US" sz="1800" dirty="0"/>
          </a:p>
        </p:txBody>
      </p:sp>
      <p:sp>
        <p:nvSpPr>
          <p:cNvPr id="42" name="Text 13"/>
          <p:cNvSpPr/>
          <p:nvPr/>
        </p:nvSpPr>
        <p:spPr>
          <a:xfrm>
            <a:off x="609600" y="4419600"/>
            <a:ext cx="5181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MySQL에 미션별 정답 텍스트 저장 및 관리</a:t>
            </a:r>
            <a:endParaRPr lang="en-US" sz="1200" dirty="0"/>
          </a:p>
        </p:txBody>
      </p:sp>
      <p:sp>
        <p:nvSpPr>
          <p:cNvPr id="43" name="Text 14"/>
          <p:cNvSpPr/>
          <p:nvPr/>
        </p:nvSpPr>
        <p:spPr>
          <a:xfrm>
            <a:off x="609600" y="4724400"/>
            <a:ext cx="5181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사용자 최종 점수/클리어 시간 데이터베이스 저장</a:t>
            </a:r>
            <a:endParaRPr lang="en-US" sz="1200" dirty="0"/>
          </a:p>
        </p:txBody>
      </p:sp>
      <p:sp>
        <p:nvSpPr>
          <p:cNvPr id="44" name="Text 15"/>
          <p:cNvSpPr/>
          <p:nvPr/>
        </p:nvSpPr>
        <p:spPr>
          <a:xfrm>
            <a:off x="609600" y="5029200"/>
            <a:ext cx="5181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데이터 무결성 보장을 위한 트랜잭션 처리</a:t>
            </a:r>
            <a:endParaRPr lang="en-US" sz="1200" dirty="0"/>
          </a:p>
        </p:txBody>
      </p:sp>
      <p:sp>
        <p:nvSpPr>
          <p:cNvPr id="45" name="Text 16"/>
          <p:cNvSpPr/>
          <p:nvPr/>
        </p:nvSpPr>
        <p:spPr>
          <a:xfrm>
            <a:off x="781050" y="5562600"/>
            <a:ext cx="228760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86EFA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MySQL 8.0 기반 데이터 저장소</a:t>
            </a:r>
            <a:endParaRPr lang="en-US" sz="1050" dirty="0"/>
          </a:p>
        </p:txBody>
      </p:sp>
      <p:sp>
        <p:nvSpPr>
          <p:cNvPr id="46" name="Text 17"/>
          <p:cNvSpPr/>
          <p:nvPr/>
        </p:nvSpPr>
        <p:spPr>
          <a:xfrm>
            <a:off x="7010400" y="3924300"/>
            <a:ext cx="238565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교육적 정확성 검증</a:t>
            </a:r>
            <a:endParaRPr lang="en-US" sz="1800" dirty="0"/>
          </a:p>
        </p:txBody>
      </p:sp>
      <p:sp>
        <p:nvSpPr>
          <p:cNvPr id="47" name="Text 18"/>
          <p:cNvSpPr/>
          <p:nvPr/>
        </p:nvSpPr>
        <p:spPr>
          <a:xfrm>
            <a:off x="6438900" y="4419600"/>
            <a:ext cx="5181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Spring Boot는 단순한 데이터 저장소를 넘어, 교육적 정확성을 검증하는 핵심 두뇌</a:t>
            </a:r>
            <a:endParaRPr lang="en-US" sz="1200" dirty="0"/>
          </a:p>
        </p:txBody>
      </p:sp>
      <p:sp>
        <p:nvSpPr>
          <p:cNvPr id="48" name="Text 19"/>
          <p:cNvSpPr/>
          <p:nvPr/>
        </p:nvSpPr>
        <p:spPr>
          <a:xfrm>
            <a:off x="6438900" y="4953000"/>
            <a:ext cx="6217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사기 패턴 인식 능력 평가를 위한 메시지 분석 알고리즘</a:t>
            </a:r>
            <a:endParaRPr lang="en-US" sz="1200" dirty="0"/>
          </a:p>
        </p:txBody>
      </p:sp>
      <p:sp>
        <p:nvSpPr>
          <p:cNvPr id="49" name="Text 20"/>
          <p:cNvSpPr/>
          <p:nvPr/>
        </p:nvSpPr>
        <p:spPr>
          <a:xfrm>
            <a:off x="6438900" y="5257800"/>
            <a:ext cx="5181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사용자 행동과 선택에 따른 교육적 피드백 시스템</a:t>
            </a:r>
            <a:endParaRPr lang="en-US" sz="1200" dirty="0"/>
          </a:p>
        </p:txBody>
      </p:sp>
      <p:sp>
        <p:nvSpPr>
          <p:cNvPr id="50" name="Text 21"/>
          <p:cNvSpPr/>
          <p:nvPr/>
        </p:nvSpPr>
        <p:spPr>
          <a:xfrm>
            <a:off x="6648450" y="5562600"/>
            <a:ext cx="265479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DE04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학습 효과 극대화를 위한 피드백 루프</a:t>
            </a:r>
            <a:endParaRPr lang="en-US" sz="1050" dirty="0"/>
          </a:p>
        </p:txBody>
      </p:sp>
      <p:sp>
        <p:nvSpPr>
          <p:cNvPr id="51" name="Text 22"/>
          <p:cNvSpPr/>
          <p:nvPr/>
        </p:nvSpPr>
        <p:spPr>
          <a:xfrm>
            <a:off x="3174802" y="6238875"/>
            <a:ext cx="8445698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Spring Boot는 단순한 로직을 넘어, 게임의 교육적 가치를 결정짓는 핵심 엔진 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 0" descr="preencoded.png">
            <a:extLst>
              <a:ext uri="{FF2B5EF4-FFF2-40B4-BE49-F238E27FC236}">
                <a16:creationId xmlns:a16="http://schemas.microsoft.com/office/drawing/2014/main" id="{483F3519-460C-C957-EECD-CC4270E28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066800"/>
            <a:ext cx="5600700" cy="48387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295400"/>
            <a:ext cx="285750" cy="342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828800"/>
            <a:ext cx="5143500" cy="1028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2019300"/>
            <a:ext cx="190500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3009900"/>
            <a:ext cx="5143500" cy="1028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3200400"/>
            <a:ext cx="19050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191000"/>
            <a:ext cx="5143500" cy="1028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4381500"/>
            <a:ext cx="238125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1066800"/>
            <a:ext cx="5600700" cy="4838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8900" y="1295400"/>
            <a:ext cx="28575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53200" y="2076450"/>
            <a:ext cx="342900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29400" y="2181225"/>
            <a:ext cx="1905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53200" y="3067050"/>
            <a:ext cx="3429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29400" y="3171825"/>
            <a:ext cx="1905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53200" y="4057650"/>
            <a:ext cx="266700" cy="381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29400" y="4162425"/>
            <a:ext cx="1143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53200" y="5048250"/>
            <a:ext cx="304800" cy="381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29400" y="5153025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550445" y="6150814"/>
            <a:ext cx="152400" cy="1714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15473" y="6143625"/>
            <a:ext cx="161925" cy="17145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381000" y="381000"/>
            <a:ext cx="4678442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kern="0" spc="54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기대효과 및 확장 가능성</a:t>
            </a:r>
            <a:endParaRPr lang="en-US" sz="2700" dirty="0"/>
          </a:p>
        </p:txBody>
      </p:sp>
      <p:sp>
        <p:nvSpPr>
          <p:cNvPr id="24" name="Text 1"/>
          <p:cNvSpPr/>
          <p:nvPr/>
        </p:nvSpPr>
        <p:spPr>
          <a:xfrm>
            <a:off x="11504414" y="438150"/>
            <a:ext cx="36790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8/8</a:t>
            </a:r>
            <a:endParaRPr lang="en-US" sz="1500" dirty="0"/>
          </a:p>
        </p:txBody>
      </p:sp>
      <p:sp>
        <p:nvSpPr>
          <p:cNvPr id="25" name="Text 2"/>
          <p:cNvSpPr/>
          <p:nvPr/>
        </p:nvSpPr>
        <p:spPr>
          <a:xfrm>
            <a:off x="1009650" y="1314450"/>
            <a:ext cx="10972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기대효과</a:t>
            </a:r>
            <a:endParaRPr lang="en-US" sz="1800" dirty="0"/>
          </a:p>
        </p:txBody>
      </p:sp>
      <p:sp>
        <p:nvSpPr>
          <p:cNvPr id="26" name="Text 3"/>
          <p:cNvSpPr/>
          <p:nvPr/>
        </p:nvSpPr>
        <p:spPr>
          <a:xfrm>
            <a:off x="1066800" y="1981200"/>
            <a:ext cx="4533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86EFA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사이버 보안 경각심 향상</a:t>
            </a:r>
            <a:endParaRPr lang="en-US" sz="1350" dirty="0"/>
          </a:p>
        </p:txBody>
      </p:sp>
      <p:sp>
        <p:nvSpPr>
          <p:cNvPr id="27" name="Text 4"/>
          <p:cNvSpPr/>
          <p:nvPr/>
        </p:nvSpPr>
        <p:spPr>
          <a:xfrm>
            <a:off x="1066800" y="2247900"/>
            <a:ext cx="4533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플레이어는 사기 유도 메시지에 대한 의심하는 습관을 형성하여, 실제 사기 상황에서도 적절히 대처할 수 있습니다.</a:t>
            </a:r>
            <a:endParaRPr lang="en-US" sz="1200" dirty="0"/>
          </a:p>
        </p:txBody>
      </p:sp>
      <p:sp>
        <p:nvSpPr>
          <p:cNvPr id="28" name="Text 5"/>
          <p:cNvSpPr/>
          <p:nvPr/>
        </p:nvSpPr>
        <p:spPr>
          <a:xfrm>
            <a:off x="1066800" y="3162300"/>
            <a:ext cx="4533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DE04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정보 식별 능력 향상</a:t>
            </a:r>
            <a:endParaRPr lang="en-US" sz="1350" dirty="0"/>
          </a:p>
        </p:txBody>
      </p:sp>
      <p:sp>
        <p:nvSpPr>
          <p:cNvPr id="29" name="Text 6"/>
          <p:cNvSpPr/>
          <p:nvPr/>
        </p:nvSpPr>
        <p:spPr>
          <a:xfrm>
            <a:off x="1066800" y="3429000"/>
            <a:ext cx="4533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스미싱 및 허위 광고의 기술적/언어적 패턴을 학습하여, 사기의 징후를 보다 쉽게 인식할 수 있습니다.</a:t>
            </a:r>
            <a:endParaRPr lang="en-US" sz="1200" dirty="0"/>
          </a:p>
        </p:txBody>
      </p:sp>
      <p:sp>
        <p:nvSpPr>
          <p:cNvPr id="30" name="Text 7"/>
          <p:cNvSpPr/>
          <p:nvPr/>
        </p:nvSpPr>
        <p:spPr>
          <a:xfrm>
            <a:off x="1114425" y="4343400"/>
            <a:ext cx="44862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CA5A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민감 정보 보호 행동 강화</a:t>
            </a:r>
            <a:endParaRPr lang="en-US" sz="1350" dirty="0"/>
          </a:p>
        </p:txBody>
      </p:sp>
      <p:sp>
        <p:nvSpPr>
          <p:cNvPr id="31" name="Text 8"/>
          <p:cNvSpPr/>
          <p:nvPr/>
        </p:nvSpPr>
        <p:spPr>
          <a:xfrm>
            <a:off x="1114425" y="4610100"/>
            <a:ext cx="44862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사기범의 정보 요구에 대해 경계를 유지하고, 절대 제공해서는 안 되는 민감 정보를 보호하는 행동을 습관화합니다.</a:t>
            </a:r>
            <a:endParaRPr lang="en-US" sz="1200" dirty="0"/>
          </a:p>
        </p:txBody>
      </p:sp>
      <p:sp>
        <p:nvSpPr>
          <p:cNvPr id="32" name="Text 9"/>
          <p:cNvSpPr/>
          <p:nvPr/>
        </p:nvSpPr>
        <p:spPr>
          <a:xfrm>
            <a:off x="6838950" y="1314450"/>
            <a:ext cx="146714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확장 가능성</a:t>
            </a:r>
            <a:endParaRPr lang="en-US" sz="1800" dirty="0"/>
          </a:p>
        </p:txBody>
      </p:sp>
      <p:sp>
        <p:nvSpPr>
          <p:cNvPr id="33" name="Text 10"/>
          <p:cNvSpPr/>
          <p:nvPr/>
        </p:nvSpPr>
        <p:spPr>
          <a:xfrm>
            <a:off x="7048500" y="1943100"/>
            <a:ext cx="4419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다양한 사기 유형 추가</a:t>
            </a:r>
            <a:endParaRPr lang="en-US" sz="1350" dirty="0"/>
          </a:p>
        </p:txBody>
      </p:sp>
      <p:sp>
        <p:nvSpPr>
          <p:cNvPr id="34" name="Text 11"/>
          <p:cNvSpPr/>
          <p:nvPr/>
        </p:nvSpPr>
        <p:spPr>
          <a:xfrm>
            <a:off x="7048500" y="2209800"/>
            <a:ext cx="4419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실시간으로 새로운 사기 패턴을 반영하여 미션을 업데이트하고 확장할 수 있습니다.</a:t>
            </a:r>
            <a:endParaRPr lang="en-US" sz="1050" dirty="0"/>
          </a:p>
        </p:txBody>
      </p:sp>
      <p:sp>
        <p:nvSpPr>
          <p:cNvPr id="35" name="Text 12"/>
          <p:cNvSpPr/>
          <p:nvPr/>
        </p:nvSpPr>
        <p:spPr>
          <a:xfrm>
            <a:off x="7048500" y="2933700"/>
            <a:ext cx="4419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타겟층 확대</a:t>
            </a:r>
            <a:endParaRPr lang="en-US" sz="1350" dirty="0"/>
          </a:p>
        </p:txBody>
      </p:sp>
      <p:sp>
        <p:nvSpPr>
          <p:cNvPr id="36" name="Text 13"/>
          <p:cNvSpPr/>
          <p:nvPr/>
        </p:nvSpPr>
        <p:spPr>
          <a:xfrm>
            <a:off x="7048500" y="3200400"/>
            <a:ext cx="4419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어린이, 중장년층 등 다른 민감한 연령대에도 적응형 콘텐츠로 확장 가능합니다.</a:t>
            </a:r>
            <a:endParaRPr lang="en-US" sz="1050" dirty="0"/>
          </a:p>
        </p:txBody>
      </p:sp>
      <p:sp>
        <p:nvSpPr>
          <p:cNvPr id="37" name="Text 14"/>
          <p:cNvSpPr/>
          <p:nvPr/>
        </p:nvSpPr>
        <p:spPr>
          <a:xfrm>
            <a:off x="6972300" y="3924300"/>
            <a:ext cx="4495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기관 연계 교육 프로그램</a:t>
            </a:r>
            <a:endParaRPr lang="en-US" sz="1350" dirty="0"/>
          </a:p>
        </p:txBody>
      </p:sp>
      <p:sp>
        <p:nvSpPr>
          <p:cNvPr id="38" name="Text 15"/>
          <p:cNvSpPr/>
          <p:nvPr/>
        </p:nvSpPr>
        <p:spPr>
          <a:xfrm>
            <a:off x="6972300" y="4191000"/>
            <a:ext cx="4495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학교, 회사, 지역사회 기관과의 협력을 통해 체계적인 디지털 안전 교육 프레임워크로 발전.</a:t>
            </a:r>
            <a:endParaRPr lang="en-US" sz="1050" dirty="0"/>
          </a:p>
        </p:txBody>
      </p:sp>
      <p:sp>
        <p:nvSpPr>
          <p:cNvPr id="39" name="Text 16"/>
          <p:cNvSpPr/>
          <p:nvPr/>
        </p:nvSpPr>
        <p:spPr>
          <a:xfrm>
            <a:off x="7010400" y="4914900"/>
            <a:ext cx="4457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다국어 및 지역화 지원</a:t>
            </a:r>
            <a:endParaRPr lang="en-US" sz="1350" dirty="0"/>
          </a:p>
        </p:txBody>
      </p:sp>
      <p:sp>
        <p:nvSpPr>
          <p:cNvPr id="40" name="Text 17"/>
          <p:cNvSpPr/>
          <p:nvPr/>
        </p:nvSpPr>
        <p:spPr>
          <a:xfrm>
            <a:off x="7010400" y="5181600"/>
            <a:ext cx="44577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다양한 언어와 문화에适应하도록 지역화하여 전 세계적인 적용 가능하도록 개발.</a:t>
            </a:r>
            <a:endParaRPr lang="en-US" sz="1050" dirty="0"/>
          </a:p>
        </p:txBody>
      </p:sp>
      <p:pic>
        <p:nvPicPr>
          <p:cNvPr id="43" name="Image 18" descr="preencoded.png">
            <a:extLst>
              <a:ext uri="{FF2B5EF4-FFF2-40B4-BE49-F238E27FC236}">
                <a16:creationId xmlns:a16="http://schemas.microsoft.com/office/drawing/2014/main" id="{1B4A2A79-ABD3-5644-7FDB-9BC736C0EAC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243532" y="6057900"/>
            <a:ext cx="5503653" cy="495300"/>
          </a:xfrm>
          <a:prstGeom prst="rect">
            <a:avLst/>
          </a:prstGeom>
        </p:spPr>
      </p:pic>
      <p:sp>
        <p:nvSpPr>
          <p:cNvPr id="41" name="Text 18"/>
          <p:cNvSpPr/>
          <p:nvPr/>
        </p:nvSpPr>
        <p:spPr>
          <a:xfrm>
            <a:off x="3702845" y="6210300"/>
            <a:ext cx="460325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디지털 안전불감증에서 탈출하기 위한 첫걸음, 지금 시작해요 </a:t>
            </a:r>
            <a:endParaRPr lang="en-US" sz="13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1183</Words>
  <Application>Microsoft Macintosh PowerPoint</Application>
  <PresentationFormat>와이드스크린</PresentationFormat>
  <Paragraphs>197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ui-sans-serif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하태영</cp:lastModifiedBy>
  <cp:revision>5</cp:revision>
  <dcterms:created xsi:type="dcterms:W3CDTF">2025-10-30T12:10:02Z</dcterms:created>
  <dcterms:modified xsi:type="dcterms:W3CDTF">2025-10-30T14:04:33Z</dcterms:modified>
</cp:coreProperties>
</file>