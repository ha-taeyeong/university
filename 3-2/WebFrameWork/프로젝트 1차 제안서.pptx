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27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2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4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1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01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33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7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7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732EB-43CF-418E-A241-7BC2F0502008}" type="datetimeFigureOut">
              <a:rPr lang="ko-KR" altLang="en-US" smtClean="0"/>
              <a:t>2025. 10. 10.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FC725-75C7-4407-AE33-943CD7F7A2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16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ko-KR" altLang="ko-KR" dirty="0"/>
              <a:t>안전 탈출</a:t>
            </a:r>
            <a:r>
              <a:rPr lang="en-US" altLang="ko-KR" dirty="0"/>
              <a:t>: </a:t>
            </a:r>
            <a:r>
              <a:rPr lang="ko-KR" altLang="ko-KR" dirty="0"/>
              <a:t>위험을 해결하라</a:t>
            </a:r>
            <a:endParaRPr lang="ko-KR" altLang="en-US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B9048B2C-78D2-B89A-562D-3E813C196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650" y="2174875"/>
            <a:ext cx="3951288" cy="3951288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E0921DE-341B-91EA-F0EA-BE279B3FE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07768"/>
              </p:ext>
            </p:extLst>
          </p:nvPr>
        </p:nvGraphicFramePr>
        <p:xfrm>
          <a:off x="4645025" y="2680207"/>
          <a:ext cx="4041776" cy="2940626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432212">
                  <a:extLst>
                    <a:ext uri="{9D8B030D-6E8A-4147-A177-3AD203B41FA5}">
                      <a16:colId xmlns:a16="http://schemas.microsoft.com/office/drawing/2014/main" val="1121166745"/>
                    </a:ext>
                  </a:extLst>
                </a:gridCol>
                <a:gridCol w="2609564">
                  <a:extLst>
                    <a:ext uri="{9D8B030D-6E8A-4147-A177-3AD203B41FA5}">
                      <a16:colId xmlns:a16="http://schemas.microsoft.com/office/drawing/2014/main" val="50866516"/>
                    </a:ext>
                  </a:extLst>
                </a:gridCol>
              </a:tblGrid>
              <a:tr h="6161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800" b="0" kern="100" cap="none" spc="60">
                          <a:solidFill>
                            <a:schemeClr val="bg1"/>
                          </a:solidFill>
                          <a:effectLst/>
                        </a:rPr>
                        <a:t>과 목 명 </a:t>
                      </a:r>
                      <a:endParaRPr lang="ko-KR" sz="1800" b="0" kern="100" cap="none" spc="60">
                        <a:solidFill>
                          <a:schemeClr val="bg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800" b="0" kern="100" cap="none" spc="60">
                          <a:solidFill>
                            <a:schemeClr val="bg1"/>
                          </a:solidFill>
                          <a:effectLst/>
                        </a:rPr>
                        <a:t>웹프레임워크활용</a:t>
                      </a:r>
                      <a:endParaRPr lang="ko-KR" sz="1800" b="0" kern="100" cap="none" spc="60">
                        <a:solidFill>
                          <a:schemeClr val="bg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162231"/>
                  </a:ext>
                </a:extLst>
              </a:tr>
              <a:tr h="581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kern="100" cap="none" spc="0">
                          <a:solidFill>
                            <a:schemeClr val="tx1"/>
                          </a:solidFill>
                          <a:effectLst/>
                        </a:rPr>
                        <a:t>교 수 명 </a:t>
                      </a:r>
                      <a:endParaRPr lang="ko-KR" sz="1600" b="1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kern="100" cap="none" spc="0">
                          <a:solidFill>
                            <a:schemeClr val="tx1"/>
                          </a:solidFill>
                          <a:effectLst/>
                        </a:rPr>
                        <a:t>김 은 주</a:t>
                      </a:r>
                      <a:endParaRPr lang="ko-KR" sz="1600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904264"/>
                  </a:ext>
                </a:extLst>
              </a:tr>
              <a:tr h="581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학</a:t>
                      </a:r>
                      <a:r>
                        <a:rPr lang="en-US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lang="ko-KR" altLang="en-US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lang="ko-KR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번 </a:t>
                      </a:r>
                      <a:endParaRPr lang="ko-KR" sz="1600" b="1" kern="100" cap="none" spc="0" dirty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cap="none" spc="0">
                          <a:solidFill>
                            <a:schemeClr val="tx1"/>
                          </a:solidFill>
                          <a:effectLst/>
                        </a:rPr>
                        <a:t>20237107</a:t>
                      </a:r>
                      <a:endParaRPr lang="ko-KR" sz="1600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551572"/>
                  </a:ext>
                </a:extLst>
              </a:tr>
              <a:tr h="581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kern="100" cap="none" spc="0">
                          <a:solidFill>
                            <a:schemeClr val="tx1"/>
                          </a:solidFill>
                          <a:effectLst/>
                        </a:rPr>
                        <a:t>작 성 자</a:t>
                      </a:r>
                      <a:endParaRPr lang="ko-KR" sz="1600" b="1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kern="100" cap="none" spc="0">
                          <a:solidFill>
                            <a:schemeClr val="tx1"/>
                          </a:solidFill>
                          <a:effectLst/>
                        </a:rPr>
                        <a:t>하 태 영</a:t>
                      </a:r>
                      <a:endParaRPr lang="ko-KR" sz="1600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979593"/>
                  </a:ext>
                </a:extLst>
              </a:tr>
              <a:tr h="581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kern="100" cap="none" spc="0">
                          <a:solidFill>
                            <a:schemeClr val="tx1"/>
                          </a:solidFill>
                          <a:effectLst/>
                        </a:rPr>
                        <a:t>제 출 일</a:t>
                      </a:r>
                      <a:endParaRPr lang="ko-KR" sz="1600" b="1" kern="100" cap="none" spc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2025.10.10</a:t>
                      </a:r>
                      <a:endParaRPr lang="ko-KR" sz="1600" kern="100" cap="none" spc="0" dirty="0">
                        <a:solidFill>
                          <a:schemeClr val="tx1"/>
                        </a:solidFill>
                        <a:effectLst/>
                        <a:latin typeface="굴림" panose="020B0600000101010101" pitchFamily="34" charset="-127"/>
                        <a:ea typeface="굴림" panose="020B0600000101010101" pitchFamily="34" charset="-127"/>
                        <a:cs typeface="굴림" panose="020B0600000101010101" pitchFamily="34" charset="-127"/>
                      </a:endParaRPr>
                    </a:p>
                  </a:txBody>
                  <a:tcPr marL="313493" marR="188096" marT="105271" marB="188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83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67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5903" y="1700808"/>
            <a:ext cx="8229600" cy="4525963"/>
          </a:xfrm>
        </p:spPr>
        <p:txBody>
          <a:bodyPr>
            <a:noAutofit/>
          </a:bodyPr>
          <a:lstStyle/>
          <a:p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안전 교육을 확인해보면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주로 일방적인 정보 전달을 하는 방식입니다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indent="0">
              <a:buNone/>
            </a:pP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이러한 학습 방법은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나만 아니면 돼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’, ‘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나랑은 상관없는 일이야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라는 반응을 초래하게 됩니다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이를 해결하기 위해 학습자가 직접 위험 상황에 참여하여 안전 지식을 자발적으로 습득하고 실제 적용 능력을 기를 수 있는 몰입형 교육 환경을 제공해야 합니다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 latinLnBrk="0"/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78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Autofit/>
          </a:bodyPr>
          <a:lstStyle/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 형식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기반 </a:t>
            </a:r>
            <a:r>
              <a:rPr lang="ko-KR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방탈출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게임</a:t>
            </a:r>
          </a:p>
          <a:p>
            <a:pPr marL="0" indent="0">
              <a:buNone/>
            </a:pP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주제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일상에서 발생할 수 있는 주요 안전사고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 화재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비상 상황 시 탈출 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 진행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상황 인지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학습자는 갑작스러운 비상 상황에 놓임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집안에서 화재 경보가 울리고 출구가 잠김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수행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제한된 시간 내에 방 안의 단서들을 조합하고 안전 수칙을 적용하여 퍼즐을 해결해야 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내용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단서와 퍼즐은 정확한 안전 수칙과 대처법에 기반하여 구성됨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소화기 사용법 순서 맞추기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비상구 방향 찾기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119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 시 필요한 정보 파악하기 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안전하게 탈출에 성공하면 미션 성공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초과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반복 시 게임 실패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재도전 유도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13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500" dirty="0"/>
          </a:p>
          <a:p>
            <a:pPr marL="514350" indent="-514350">
              <a:buFont typeface="+mj-lt"/>
              <a:buAutoNum type="arabicPeriod"/>
            </a:pPr>
            <a:endParaRPr lang="en-US" altLang="ko-KR" sz="25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1409314-836A-DE20-B37E-C25B703C5F22}"/>
              </a:ext>
            </a:extLst>
          </p:cNvPr>
          <p:cNvSpPr txBox="1">
            <a:spLocks/>
          </p:cNvSpPr>
          <p:nvPr/>
        </p:nvSpPr>
        <p:spPr>
          <a:xfrm>
            <a:off x="457200" y="1417638"/>
            <a:ext cx="8229600" cy="5323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교육적 효과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안전불감증 해소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수동적 지식이 아닌 체험 기반의 지식 습득으로 안전의 중요성 내재화</a:t>
            </a: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대처 능력 향상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가상 시뮬레이션을 통해 사고 발생 시의 행동 단계를 체계적으로 습득하여 실제 상황에서의 신속한 판단 및 대응 능력 강화</a:t>
            </a:r>
          </a:p>
          <a:p>
            <a:pPr marL="0" indent="0">
              <a:buNone/>
            </a:pP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몰입도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흥미 유발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방탈출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게임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이라는 몰입형 콘텐츠 요소 도입으로 학습 참여도의 집중력 극대화</a:t>
            </a: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자발적 학습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재미를 통한 자발적인 반복 학습 유도로 교육 효과 지속성 향상</a:t>
            </a:r>
          </a:p>
          <a:p>
            <a:pPr marL="0" indent="0">
              <a:buNone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활용성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접근성 용이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기반으로 시간과 공간 제약 없이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모바일에서 교육 가능</a:t>
            </a:r>
          </a:p>
          <a:p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 효율성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고비용의 오프라인 체험 교육 대신 저비용으로 </a:t>
            </a:r>
            <a:r>
              <a:rPr lang="ko-KR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다수에게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표준화된 교육 제공 가능</a:t>
            </a:r>
          </a:p>
        </p:txBody>
      </p:sp>
    </p:spTree>
    <p:extLst>
      <p:ext uri="{BB962C8B-B14F-4D97-AF65-F5344CB8AC3E}">
        <p14:creationId xmlns:p14="http://schemas.microsoft.com/office/powerpoint/2010/main" val="336858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참고자료 및 웹 사이트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 수칙 자료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국민재난안전포털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소방청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등 공신력 있는 공공기간 웹사이트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 내용의 정확성 확보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학술 자료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 기반 학습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(GBL)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몰입형 교육의 효과에 관한 연구 논문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타당성 확보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).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벤치마킹</a:t>
            </a:r>
            <a:endParaRPr lang="ko-KR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Spring Framework </a:t>
            </a:r>
            <a:r>
              <a:rPr lang="ko-K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 웹 서비스 개발 사례 및 온라인 인터랙티브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6501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372</Words>
  <Application>Microsoft Macintosh PowerPoint</Application>
  <PresentationFormat>화면 슬라이드 쇼(4:3)</PresentationFormat>
  <Paragraphs>56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굴림</vt:lpstr>
      <vt:lpstr>맑은 고딕</vt:lpstr>
      <vt:lpstr>Pretendard</vt:lpstr>
      <vt:lpstr>Arial</vt:lpstr>
      <vt:lpstr>Office 테마</vt:lpstr>
      <vt:lpstr>안전 탈출: 위험을 해결하라</vt:lpstr>
      <vt:lpstr>개발배경</vt:lpstr>
      <vt:lpstr>시나리오</vt:lpstr>
      <vt:lpstr>기대효과</vt:lpstr>
      <vt:lpstr>참고자료 및 웹 사이트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세부제목</dc:title>
  <dc:creator>1226_11</dc:creator>
  <cp:lastModifiedBy>하태영</cp:lastModifiedBy>
  <cp:revision>139</cp:revision>
  <cp:lastPrinted>2025-10-10T06:05:26Z</cp:lastPrinted>
  <dcterms:created xsi:type="dcterms:W3CDTF">2016-11-25T01:19:09Z</dcterms:created>
  <dcterms:modified xsi:type="dcterms:W3CDTF">2025-10-10T06:29:56Z</dcterms:modified>
</cp:coreProperties>
</file>