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4151"/>
    <a:srgbClr val="23F9E8"/>
    <a:srgbClr val="081641"/>
    <a:srgbClr val="F6A8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6"/>
    <p:restoredTop sz="94626"/>
  </p:normalViewPr>
  <p:slideViewPr>
    <p:cSldViewPr snapToGrid="0">
      <p:cViewPr varScale="1">
        <p:scale>
          <a:sx n="121" d="100"/>
          <a:sy n="121" d="100"/>
        </p:scale>
        <p:origin x="8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3366A-0BB5-474A-A86F-1AC72C21C95A}" type="datetimeFigureOut">
              <a:rPr kumimoji="1" lang="ko-KR" altLang="en-US" smtClean="0"/>
              <a:t>2025. 11. 13.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A87C9-EFF0-EC47-9581-96AE5B58DDF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75859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A87C9-EFF0-EC47-9581-96AE5B58DDF9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15952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86E6E-7584-2EFC-046B-BC2333257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0CFCCD-80C8-AD55-BA73-B58FEAADF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DC9ECB-62BE-8586-8039-4CF771E33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D28B85-A843-4A35-4669-01179A11AC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A87C9-EFF0-EC47-9581-96AE5B58DDF9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29901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3E880-66BF-0939-8B5D-A5A175098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A45D11-4879-75E2-D1B7-DDC6B392A6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21BCE6-A1B2-F756-0EAF-5E972C61A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A06F77-82EF-234B-B0D6-0DB28F595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A87C9-EFF0-EC47-9581-96AE5B58DDF9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279325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B8140-86A9-5EC9-526A-3CEAA88FA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7DC056-CCFA-3E04-6963-9DBDA478F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332364-740E-8EAD-8E39-5F011C86A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2F47E5-05AD-4D8F-088F-CDA4B5C4B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A87C9-EFF0-EC47-9581-96AE5B58DDF9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80747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DEAB6-397F-E33B-6282-6F527278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74FB81-8377-0962-0C2F-4A76FD58FE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84FE50-3ECA-099D-4765-4BBC70A331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F128D2-8AB0-AB19-B418-21414EC409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A87C9-EFF0-EC47-9581-96AE5B58DDF9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86047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C2212-B408-1DCC-FDDA-2A8F8EABC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33F3A1-5A0F-DEA2-AB76-616ACFE22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F52841-5767-5205-1B1A-866CC60BC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DA5D25-7FD1-0D16-BA46-1B4198C9ED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A87C9-EFF0-EC47-9581-96AE5B58DDF9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91609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A87C9-EFF0-EC47-9581-96AE5B58DDF9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474819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511F0-B764-4A9F-6EFB-BDEBE5134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0D9A9D-EA34-A06D-8BF6-3A1210A6F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2EF3BF-3F7D-9418-6313-A55F923FC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183FA6-421C-05A1-BEC0-40177FE4B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A87C9-EFF0-EC47-9581-96AE5B58DDF9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10451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F957D-42D6-72A2-3043-6FD0BA850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9CEEF1E-1D9D-6376-AC26-1D360C7CB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A4C8E8-B127-6FA4-007A-4BB439DCA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CF3D44-8AA5-458A-236E-F23567E2B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9AE341-DA7C-81FE-A1B9-7DD428783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137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2748F5-62A9-D8E1-1534-AF42287F3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58C12D-D058-7216-A7DD-545211C89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C2A359-3C9D-5592-0ECE-907F7799C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AE7392-04B1-1E5E-825F-219A73D92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F45FEC-A076-5937-F12E-3DD9F811E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9768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AFC63E-1B14-589E-DF3D-6E0C493DC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AE7903-D432-A607-8C4C-B022207F9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872F0E-6C96-6D13-F46B-5641EA04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2B2634-8A92-C587-B810-FA58CCE62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778DDE-CAFC-A3E6-33D9-9743E029E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1577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ABE2C9-45CB-BA9E-28D0-4FE80B166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B4D094-A39B-3059-DFE3-27FDAF1ED4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D173C2-24C6-8DF0-A4F2-8B7BB7F415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402DC8-2EF7-488E-C451-5FB4FD532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9B199C-0CF1-2A39-C644-FF209F833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2149A9-9FE1-3E74-4BD0-49CCFDE5E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7338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624BFD-C2E4-AD13-EBDA-CABBAAE26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D97461-8D3C-0378-B0FA-C2C5D1B08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0E7A1B-B5F7-AD95-1FA3-02A179F09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9DB7F4-E4BD-A73D-8278-0ABD7EE9C6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39EBDCD-8BE4-62A9-4DDC-395F7F2D47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9D95657-127E-49D0-B8FA-67CF26190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2025. 11. 13.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D0DB1BF-883C-5EA8-5CA3-23A262581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09C02D5-8415-3592-33DB-235B2ABE5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63850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9C1A08-C322-5E4D-CDC1-7EEDDB46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A7623D5-F737-EE1F-98C3-B8779FA18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2025. 11. 13.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F3DDDAD-FDA9-15D1-CB33-A62E44D25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568776-16B0-F669-376A-4A7EB6375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39941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9629D88-F5F1-266E-793E-B77E0457A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2025. 11. 13.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0171B9F-7A0E-E5AD-E6BB-B9682BF2C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204B0B-26C8-9080-0DE2-5F5B79283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977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68E9FC-EF8E-2DE3-BD77-88785039E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BF8AEC-EFB2-F095-9E38-429427444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F41222-AF4C-7BCC-1EE2-B5D503C401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3F4298-5D7A-EEFC-B025-9584B74C4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418C74-F2E1-B22E-3786-0D275FE62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5FA561-E2CF-D073-1AB0-211FCA641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82765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95BB9D-A372-D267-B56A-F810F088D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2B823CE-61BB-210F-CF7B-01FC887FC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883BC2-D042-221C-78F5-E5195FD9FE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0FCB39-CF2D-5019-6130-CA86061C9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35F340-7B0E-2773-37C5-7A618755D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2C8946-F380-5F2C-BF4E-62EF3A68E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05576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746107-473F-A93D-EDE7-C63B3BA86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20B898-E9AF-EEEC-81F1-A371D4DD5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7C19C1-3211-1330-BA34-A0BFF0DB9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DAD236-AF3A-8E7B-82CA-5F37E25A2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3436D1-FCC9-4E8C-04A8-031EB2DFF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62860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F442995-02A4-96F8-DF25-3314F8328B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6B2226-F0F1-B1C7-F5D5-DB3FBC70A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490A2A-5283-F678-E548-0972D91C3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09EE94-719E-F1ED-E375-6188C3E7B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B5E1CB-80A6-A3CF-8252-CD639B343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04025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D268282-EBCA-B717-AC0B-F36AE03D6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D6ABCA-A85E-3AAF-4C7D-D5581BB7E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E1EEF8-329C-CA3B-8EAD-CA06CEFCED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70679B-31F3-9B41-9DBC-70F5F013671C}" type="datetimeFigureOut">
              <a:rPr kumimoji="1" lang="ko-KR" altLang="en-US" smtClean="0"/>
              <a:t>2025. 11. 13.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49D980-4598-CFEA-8C80-77A028AB89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6D8568-7C89-F737-E6CE-2B67CA5756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62489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9.svg"/><Relationship Id="rId4" Type="http://schemas.openxmlformats.org/officeDocument/2006/relationships/image" Target="../media/image15.sv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2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Relationship Id="rId14" Type="http://schemas.openxmlformats.org/officeDocument/2006/relationships/image" Target="../media/image3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18.png"/><Relationship Id="rId18" Type="http://schemas.openxmlformats.org/officeDocument/2006/relationships/image" Target="../media/image36.svg"/><Relationship Id="rId3" Type="http://schemas.openxmlformats.org/officeDocument/2006/relationships/image" Target="../media/image22.png"/><Relationship Id="rId7" Type="http://schemas.openxmlformats.org/officeDocument/2006/relationships/image" Target="../media/image2.png"/><Relationship Id="rId12" Type="http://schemas.openxmlformats.org/officeDocument/2006/relationships/image" Target="../media/image34.sv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11" Type="http://schemas.openxmlformats.org/officeDocument/2006/relationships/image" Target="../media/image33.png"/><Relationship Id="rId5" Type="http://schemas.openxmlformats.org/officeDocument/2006/relationships/image" Target="../media/image26.png"/><Relationship Id="rId15" Type="http://schemas.openxmlformats.org/officeDocument/2006/relationships/image" Target="../media/image16.png"/><Relationship Id="rId10" Type="http://schemas.openxmlformats.org/officeDocument/2006/relationships/image" Target="../media/image32.svg"/><Relationship Id="rId4" Type="http://schemas.openxmlformats.org/officeDocument/2006/relationships/image" Target="../media/image23.svg"/><Relationship Id="rId9" Type="http://schemas.openxmlformats.org/officeDocument/2006/relationships/image" Target="../media/image31.png"/><Relationship Id="rId14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18.png"/><Relationship Id="rId3" Type="http://schemas.openxmlformats.org/officeDocument/2006/relationships/image" Target="../media/image22.png"/><Relationship Id="rId7" Type="http://schemas.openxmlformats.org/officeDocument/2006/relationships/image" Target="../media/image28.png"/><Relationship Id="rId12" Type="http://schemas.openxmlformats.org/officeDocument/2006/relationships/image" Target="../media/image4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11" Type="http://schemas.openxmlformats.org/officeDocument/2006/relationships/image" Target="../media/image39.png"/><Relationship Id="rId5" Type="http://schemas.openxmlformats.org/officeDocument/2006/relationships/image" Target="../media/image26.png"/><Relationship Id="rId10" Type="http://schemas.openxmlformats.org/officeDocument/2006/relationships/image" Target="../media/image38.svg"/><Relationship Id="rId4" Type="http://schemas.openxmlformats.org/officeDocument/2006/relationships/image" Target="../media/image23.svg"/><Relationship Id="rId9" Type="http://schemas.openxmlformats.org/officeDocument/2006/relationships/image" Target="../media/image37.png"/><Relationship Id="rId1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13" Type="http://schemas.openxmlformats.org/officeDocument/2006/relationships/image" Target="../media/image51.svg"/><Relationship Id="rId18" Type="http://schemas.openxmlformats.org/officeDocument/2006/relationships/image" Target="../media/image18.png"/><Relationship Id="rId26" Type="http://schemas.openxmlformats.org/officeDocument/2006/relationships/image" Target="../media/image60.png"/><Relationship Id="rId3" Type="http://schemas.openxmlformats.org/officeDocument/2006/relationships/image" Target="../media/image41.png"/><Relationship Id="rId21" Type="http://schemas.openxmlformats.org/officeDocument/2006/relationships/image" Target="../media/image57.sv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svg"/><Relationship Id="rId25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4.png"/><Relationship Id="rId20" Type="http://schemas.openxmlformats.org/officeDocument/2006/relationships/image" Target="../media/image56.png"/><Relationship Id="rId29" Type="http://schemas.openxmlformats.org/officeDocument/2006/relationships/image" Target="../media/image6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svg"/><Relationship Id="rId11" Type="http://schemas.openxmlformats.org/officeDocument/2006/relationships/image" Target="../media/image49.svg"/><Relationship Id="rId24" Type="http://schemas.openxmlformats.org/officeDocument/2006/relationships/image" Target="../media/image10.png"/><Relationship Id="rId5" Type="http://schemas.openxmlformats.org/officeDocument/2006/relationships/image" Target="../media/image43.png"/><Relationship Id="rId15" Type="http://schemas.openxmlformats.org/officeDocument/2006/relationships/image" Target="../media/image53.svg"/><Relationship Id="rId23" Type="http://schemas.openxmlformats.org/officeDocument/2006/relationships/image" Target="../media/image59.svg"/><Relationship Id="rId28" Type="http://schemas.openxmlformats.org/officeDocument/2006/relationships/image" Target="../media/image62.png"/><Relationship Id="rId10" Type="http://schemas.openxmlformats.org/officeDocument/2006/relationships/image" Target="../media/image48.png"/><Relationship Id="rId19" Type="http://schemas.openxmlformats.org/officeDocument/2006/relationships/image" Target="../media/image19.svg"/><Relationship Id="rId4" Type="http://schemas.openxmlformats.org/officeDocument/2006/relationships/image" Target="../media/image42.svg"/><Relationship Id="rId9" Type="http://schemas.openxmlformats.org/officeDocument/2006/relationships/image" Target="../media/image47.png"/><Relationship Id="rId14" Type="http://schemas.openxmlformats.org/officeDocument/2006/relationships/image" Target="../media/image52.png"/><Relationship Id="rId22" Type="http://schemas.openxmlformats.org/officeDocument/2006/relationships/image" Target="../media/image58.png"/><Relationship Id="rId27" Type="http://schemas.openxmlformats.org/officeDocument/2006/relationships/image" Target="../media/image6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13" Type="http://schemas.openxmlformats.org/officeDocument/2006/relationships/image" Target="../media/image16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sv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svg"/><Relationship Id="rId4" Type="http://schemas.openxmlformats.org/officeDocument/2006/relationships/image" Target="../media/image65.svg"/><Relationship Id="rId9" Type="http://schemas.openxmlformats.org/officeDocument/2006/relationships/image" Target="../media/image70.png"/><Relationship Id="rId1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0BAF2BE6-2C7B-F0AF-593D-8F158638A413}"/>
              </a:ext>
            </a:extLst>
          </p:cNvPr>
          <p:cNvSpPr/>
          <p:nvPr/>
        </p:nvSpPr>
        <p:spPr>
          <a:xfrm>
            <a:off x="0" y="0"/>
            <a:ext cx="12243918" cy="6858000"/>
          </a:xfrm>
          <a:prstGeom prst="rect">
            <a:avLst/>
          </a:prstGeom>
          <a:solidFill>
            <a:srgbClr val="0816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0F01458-FABB-4476-1D9C-D53EB80A7A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ko-KR" altLang="en-US" sz="3000" b="1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디지털 안전불감증 탈출</a:t>
            </a:r>
            <a:r>
              <a:rPr kumimoji="1" lang="ko-KR" altLang="en-US" sz="3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30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프로젝트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69B5DAD-C572-9E31-F89B-AE05A25FB4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25432"/>
          </a:xfrm>
        </p:spPr>
        <p:txBody>
          <a:bodyPr>
            <a:normAutofit/>
          </a:bodyPr>
          <a:lstStyle/>
          <a:p>
            <a:r>
              <a:rPr kumimoji="1" lang="en-US" altLang="ko-KR" sz="18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kumimoji="1" lang="ko-KR" altLang="en-US" sz="18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고액 알바의 유혹</a:t>
            </a:r>
            <a:r>
              <a:rPr kumimoji="1" lang="en-US" altLang="ko-KR" sz="18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kumimoji="1" lang="ko-KR" altLang="en-US" sz="18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골든 타임 챌린지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0A7657CA-20CB-A52D-3BDC-82F01E9B3DD5}"/>
              </a:ext>
            </a:extLst>
          </p:cNvPr>
          <p:cNvSpPr/>
          <p:nvPr/>
        </p:nvSpPr>
        <p:spPr>
          <a:xfrm>
            <a:off x="4920995" y="4212404"/>
            <a:ext cx="2350009" cy="554805"/>
          </a:xfrm>
          <a:prstGeom prst="roundRect">
            <a:avLst/>
          </a:prstGeom>
          <a:solidFill>
            <a:srgbClr val="FE41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의심은 습관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대응은 즉시</a:t>
            </a:r>
          </a:p>
        </p:txBody>
      </p:sp>
      <p:pic>
        <p:nvPicPr>
          <p:cNvPr id="6" name="그림 5" descr="로고, 상징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845401-58A6-1214-51E7-B571956C7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567" y="1910334"/>
            <a:ext cx="832866" cy="8328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4119FE-9B51-260E-0C56-C156DEAD589B}"/>
              </a:ext>
            </a:extLst>
          </p:cNvPr>
          <p:cNvSpPr txBox="1"/>
          <p:nvPr/>
        </p:nvSpPr>
        <p:spPr>
          <a:xfrm>
            <a:off x="401737" y="6144768"/>
            <a:ext cx="224452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발표자 </a:t>
            </a:r>
            <a:r>
              <a:rPr kumimoji="1" lang="en-US" altLang="ko-KR" sz="15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kumimoji="1" lang="ko-KR" altLang="en-US" sz="15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5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20237107</a:t>
            </a:r>
            <a:r>
              <a:rPr kumimoji="1" lang="ko-KR" altLang="en-US" sz="15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하태영</a:t>
            </a:r>
          </a:p>
        </p:txBody>
      </p:sp>
    </p:spTree>
    <p:extLst>
      <p:ext uri="{BB962C8B-B14F-4D97-AF65-F5344CB8AC3E}">
        <p14:creationId xmlns:p14="http://schemas.microsoft.com/office/powerpoint/2010/main" val="3383461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1AE853E8-6740-E32C-D199-4576A99AE5AA}"/>
              </a:ext>
            </a:extLst>
          </p:cNvPr>
          <p:cNvSpPr/>
          <p:nvPr/>
        </p:nvSpPr>
        <p:spPr>
          <a:xfrm>
            <a:off x="0" y="0"/>
            <a:ext cx="3374136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FAEB680-6ACF-0F56-6FDD-64EE563434A6}"/>
              </a:ext>
            </a:extLst>
          </p:cNvPr>
          <p:cNvSpPr/>
          <p:nvPr/>
        </p:nvSpPr>
        <p:spPr>
          <a:xfrm>
            <a:off x="3374136" y="0"/>
            <a:ext cx="8817864" cy="6858000"/>
          </a:xfrm>
          <a:prstGeom prst="rect">
            <a:avLst/>
          </a:prstGeom>
          <a:solidFill>
            <a:srgbClr val="0816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21E218-CC08-AC74-4A7B-2A4FE9264366}"/>
              </a:ext>
            </a:extLst>
          </p:cNvPr>
          <p:cNvSpPr txBox="1"/>
          <p:nvPr/>
        </p:nvSpPr>
        <p:spPr>
          <a:xfrm>
            <a:off x="237744" y="2435699"/>
            <a:ext cx="1851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프로젝트</a:t>
            </a:r>
            <a:r>
              <a:rPr kumimoji="1" lang="ko-KR" altLang="en-US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2400" b="1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개요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8BA5878-B212-EBEB-02E2-2D2C8E24A64E}"/>
              </a:ext>
            </a:extLst>
          </p:cNvPr>
          <p:cNvSpPr/>
          <p:nvPr/>
        </p:nvSpPr>
        <p:spPr>
          <a:xfrm>
            <a:off x="3593334" y="1797099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8" name="그래픽 17" descr="경고 단색으로 채워진">
            <a:extLst>
              <a:ext uri="{FF2B5EF4-FFF2-40B4-BE49-F238E27FC236}">
                <a16:creationId xmlns:a16="http://schemas.microsoft.com/office/drawing/2014/main" id="{40094930-3F1C-0182-2CF9-A0E07C9B8B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06226" y="1877107"/>
            <a:ext cx="236746" cy="236746"/>
          </a:xfrm>
          <a:prstGeom prst="rect">
            <a:avLst/>
          </a:prstGeom>
        </p:spPr>
      </p:pic>
      <p:sp>
        <p:nvSpPr>
          <p:cNvPr id="21" name="타원 20">
            <a:extLst>
              <a:ext uri="{FF2B5EF4-FFF2-40B4-BE49-F238E27FC236}">
                <a16:creationId xmlns:a16="http://schemas.microsoft.com/office/drawing/2014/main" id="{AB053CB0-BFB8-4AD8-072F-ECFF6CF77696}"/>
              </a:ext>
            </a:extLst>
          </p:cNvPr>
          <p:cNvSpPr/>
          <p:nvPr/>
        </p:nvSpPr>
        <p:spPr>
          <a:xfrm>
            <a:off x="3589150" y="2590553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23" name="그래픽 22" descr="사용자 단색으로 채워진">
            <a:extLst>
              <a:ext uri="{FF2B5EF4-FFF2-40B4-BE49-F238E27FC236}">
                <a16:creationId xmlns:a16="http://schemas.microsoft.com/office/drawing/2014/main" id="{728D46DB-482B-84BD-2ABE-9732B49A4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58603" y="2635538"/>
            <a:ext cx="343368" cy="3433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B57323-D046-7610-6BC9-8736DE89504D}"/>
              </a:ext>
            </a:extLst>
          </p:cNvPr>
          <p:cNvSpPr txBox="1"/>
          <p:nvPr/>
        </p:nvSpPr>
        <p:spPr>
          <a:xfrm>
            <a:off x="4053669" y="1766015"/>
            <a:ext cx="393889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청년층 대상 디지털 사기의 고도화로 인한 안전불감증 확산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16369E-A28A-5BA6-E81C-D2E831BD2626}"/>
              </a:ext>
            </a:extLst>
          </p:cNvPr>
          <p:cNvSpPr txBox="1"/>
          <p:nvPr/>
        </p:nvSpPr>
        <p:spPr>
          <a:xfrm>
            <a:off x="4075608" y="2556613"/>
            <a:ext cx="289213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타깃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후반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~30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초반 모바일 우선 사용자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FAAB7B-3A3A-A625-35CC-9C1CBC9D1A7D}"/>
              </a:ext>
            </a:extLst>
          </p:cNvPr>
          <p:cNvSpPr txBox="1"/>
          <p:nvPr/>
        </p:nvSpPr>
        <p:spPr>
          <a:xfrm>
            <a:off x="4075608" y="3319865"/>
            <a:ext cx="416652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목표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단계 미션형 학습으로 예방 습관 형성 및 실전 대처 역량 강화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C45496-EB75-670E-BFF9-D693706F5D3E}"/>
              </a:ext>
            </a:extLst>
          </p:cNvPr>
          <p:cNvSpPr txBox="1"/>
          <p:nvPr/>
        </p:nvSpPr>
        <p:spPr>
          <a:xfrm>
            <a:off x="4075608" y="4083117"/>
            <a:ext cx="268535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 메시지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링크 전 의심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민감정보 차단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즉시 신고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8CAECD-4829-D7EA-D61A-E23524A962FA}"/>
              </a:ext>
            </a:extLst>
          </p:cNvPr>
          <p:cNvSpPr txBox="1"/>
          <p:nvPr/>
        </p:nvSpPr>
        <p:spPr>
          <a:xfrm>
            <a:off x="4075608" y="4871702"/>
            <a:ext cx="4823756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 가능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타이머 기반 골든 타임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Drag &amp; Drop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검증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위험 분석 시스템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점수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랭킹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53BEF27-FF60-C811-5437-83F9255D3D35}"/>
              </a:ext>
            </a:extLst>
          </p:cNvPr>
          <p:cNvSpPr/>
          <p:nvPr/>
        </p:nvSpPr>
        <p:spPr>
          <a:xfrm>
            <a:off x="3600119" y="3345198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3DFD8658-9215-9740-E667-7663EDDEB2D2}"/>
              </a:ext>
            </a:extLst>
          </p:cNvPr>
          <p:cNvSpPr/>
          <p:nvPr/>
        </p:nvSpPr>
        <p:spPr>
          <a:xfrm>
            <a:off x="3602027" y="4104050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4C0DFAB1-E1FF-A249-16AF-A749C9A899B2}"/>
              </a:ext>
            </a:extLst>
          </p:cNvPr>
          <p:cNvSpPr/>
          <p:nvPr/>
        </p:nvSpPr>
        <p:spPr>
          <a:xfrm>
            <a:off x="3589150" y="4893297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5" name="그래픽 66" descr="방패 단색으로 채워진">
            <a:extLst>
              <a:ext uri="{FF2B5EF4-FFF2-40B4-BE49-F238E27FC236}">
                <a16:creationId xmlns:a16="http://schemas.microsoft.com/office/drawing/2014/main" id="{AE3AEC7E-BA62-CF75-DB59-E8D2330FE490}"/>
              </a:ext>
            </a:extLst>
          </p:cNvPr>
          <p:cNvSpPr/>
          <p:nvPr/>
        </p:nvSpPr>
        <p:spPr>
          <a:xfrm>
            <a:off x="342246" y="2971737"/>
            <a:ext cx="1029353" cy="1132313"/>
          </a:xfrm>
          <a:custGeom>
            <a:avLst/>
            <a:gdLst>
              <a:gd name="connsiteX0" fmla="*/ 90422 w 166898"/>
              <a:gd name="connsiteY0" fmla="*/ 3194 h 198988"/>
              <a:gd name="connsiteX1" fmla="*/ 158403 w 166898"/>
              <a:gd name="connsiteY1" fmla="*/ 36472 h 198988"/>
              <a:gd name="connsiteX2" fmla="*/ 166898 w 166898"/>
              <a:gd name="connsiteY2" fmla="*/ 45868 h 198988"/>
              <a:gd name="connsiteX3" fmla="*/ 166898 w 166898"/>
              <a:gd name="connsiteY3" fmla="*/ 69585 h 198988"/>
              <a:gd name="connsiteX4" fmla="*/ 88582 w 166898"/>
              <a:gd name="connsiteY4" fmla="*/ 197483 h 198988"/>
              <a:gd name="connsiteX5" fmla="*/ 78316 w 166898"/>
              <a:gd name="connsiteY5" fmla="*/ 197483 h 198988"/>
              <a:gd name="connsiteX6" fmla="*/ 0 w 166898"/>
              <a:gd name="connsiteY6" fmla="*/ 69585 h 198988"/>
              <a:gd name="connsiteX7" fmla="*/ 0 w 166898"/>
              <a:gd name="connsiteY7" fmla="*/ 45868 h 198988"/>
              <a:gd name="connsiteX8" fmla="*/ 8495 w 166898"/>
              <a:gd name="connsiteY8" fmla="*/ 36472 h 198988"/>
              <a:gd name="connsiteX9" fmla="*/ 76476 w 166898"/>
              <a:gd name="connsiteY9" fmla="*/ 3194 h 198988"/>
              <a:gd name="connsiteX10" fmla="*/ 89466 w 166898"/>
              <a:gd name="connsiteY10" fmla="*/ 2237 h 198988"/>
              <a:gd name="connsiteX11" fmla="*/ 90422 w 166898"/>
              <a:gd name="connsiteY11" fmla="*/ 3194 h 198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6898" h="198988">
                <a:moveTo>
                  <a:pt x="90422" y="3194"/>
                </a:moveTo>
                <a:cubicBezTo>
                  <a:pt x="108049" y="22497"/>
                  <a:pt x="132345" y="34391"/>
                  <a:pt x="158403" y="36472"/>
                </a:cubicBezTo>
                <a:cubicBezTo>
                  <a:pt x="163244" y="36925"/>
                  <a:pt x="166933" y="41006"/>
                  <a:pt x="166898" y="45868"/>
                </a:cubicBezTo>
                <a:lnTo>
                  <a:pt x="166898" y="69585"/>
                </a:lnTo>
                <a:cubicBezTo>
                  <a:pt x="166898" y="121138"/>
                  <a:pt x="134109" y="168301"/>
                  <a:pt x="88582" y="197483"/>
                </a:cubicBezTo>
                <a:cubicBezTo>
                  <a:pt x="85455" y="199490"/>
                  <a:pt x="81444" y="199490"/>
                  <a:pt x="78316" y="197483"/>
                </a:cubicBezTo>
                <a:cubicBezTo>
                  <a:pt x="32789" y="168301"/>
                  <a:pt x="0" y="121138"/>
                  <a:pt x="0" y="69585"/>
                </a:cubicBezTo>
                <a:lnTo>
                  <a:pt x="0" y="45868"/>
                </a:lnTo>
                <a:cubicBezTo>
                  <a:pt x="-35" y="41006"/>
                  <a:pt x="3655" y="36925"/>
                  <a:pt x="8495" y="36472"/>
                </a:cubicBezTo>
                <a:cubicBezTo>
                  <a:pt x="34553" y="34391"/>
                  <a:pt x="58849" y="22497"/>
                  <a:pt x="76476" y="3194"/>
                </a:cubicBezTo>
                <a:cubicBezTo>
                  <a:pt x="79799" y="-658"/>
                  <a:pt x="85614" y="-1086"/>
                  <a:pt x="89466" y="2237"/>
                </a:cubicBezTo>
                <a:cubicBezTo>
                  <a:pt x="89808" y="2532"/>
                  <a:pt x="90127" y="2852"/>
                  <a:pt x="90422" y="3194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27" name="그래픽 26" descr="대상 단색으로 채워진">
            <a:extLst>
              <a:ext uri="{FF2B5EF4-FFF2-40B4-BE49-F238E27FC236}">
                <a16:creationId xmlns:a16="http://schemas.microsoft.com/office/drawing/2014/main" id="{C7BB1A4D-D017-8CCF-4F5C-5D4D3841C9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6621" y="3400306"/>
            <a:ext cx="327329" cy="327329"/>
          </a:xfrm>
          <a:prstGeom prst="rect">
            <a:avLst/>
          </a:prstGeom>
        </p:spPr>
      </p:pic>
      <p:pic>
        <p:nvPicPr>
          <p:cNvPr id="29" name="그래픽 28" descr="말풍선 단색으로 채워진">
            <a:extLst>
              <a:ext uri="{FF2B5EF4-FFF2-40B4-BE49-F238E27FC236}">
                <a16:creationId xmlns:a16="http://schemas.microsoft.com/office/drawing/2014/main" id="{0B541A6A-B74F-8B57-A85A-F0F2D8C2E78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68277" y="4173909"/>
            <a:ext cx="324015" cy="324015"/>
          </a:xfrm>
          <a:prstGeom prst="rect">
            <a:avLst/>
          </a:prstGeom>
        </p:spPr>
      </p:pic>
      <p:pic>
        <p:nvPicPr>
          <p:cNvPr id="31" name="그래픽 30" descr="톱니바퀴 단색으로 채워진">
            <a:extLst>
              <a:ext uri="{FF2B5EF4-FFF2-40B4-BE49-F238E27FC236}">
                <a16:creationId xmlns:a16="http://schemas.microsoft.com/office/drawing/2014/main" id="{E84A4F58-729C-D003-1A90-001252BBDDA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flipH="1">
            <a:off x="3666621" y="4951846"/>
            <a:ext cx="304950" cy="3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13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E7E8A-9E39-A3CA-CE3F-F434AFBB9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직사각형 83">
            <a:extLst>
              <a:ext uri="{FF2B5EF4-FFF2-40B4-BE49-F238E27FC236}">
                <a16:creationId xmlns:a16="http://schemas.microsoft.com/office/drawing/2014/main" id="{F0F0CD7A-A2B6-DE1C-5D54-03DC3CFA0E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6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8814FC-9948-F457-F379-26A1E3367B06}"/>
              </a:ext>
            </a:extLst>
          </p:cNvPr>
          <p:cNvSpPr txBox="1"/>
          <p:nvPr/>
        </p:nvSpPr>
        <p:spPr>
          <a:xfrm>
            <a:off x="336879" y="314926"/>
            <a:ext cx="3345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시나리오</a:t>
            </a:r>
            <a:r>
              <a:rPr kumimoji="1" lang="en-US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kumimoji="1"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2400" b="1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kumimoji="1" lang="ko-KR" altLang="en-US" sz="2400" b="1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단계 미션</a:t>
            </a:r>
            <a:r>
              <a:rPr kumimoji="1" lang="ko-KR" altLang="en-US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개요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ADFDBE92-C5DE-6FCF-6863-D350B1D6B7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94140"/>
              </p:ext>
            </p:extLst>
          </p:nvPr>
        </p:nvGraphicFramePr>
        <p:xfrm>
          <a:off x="438589" y="1500546"/>
          <a:ext cx="11267540" cy="3888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799">
                  <a:extLst>
                    <a:ext uri="{9D8B030D-6E8A-4147-A177-3AD203B41FA5}">
                      <a16:colId xmlns:a16="http://schemas.microsoft.com/office/drawing/2014/main" val="2475806987"/>
                    </a:ext>
                  </a:extLst>
                </a:gridCol>
                <a:gridCol w="2353901">
                  <a:extLst>
                    <a:ext uri="{9D8B030D-6E8A-4147-A177-3AD203B41FA5}">
                      <a16:colId xmlns:a16="http://schemas.microsoft.com/office/drawing/2014/main" val="1001426672"/>
                    </a:ext>
                  </a:extLst>
                </a:gridCol>
                <a:gridCol w="3929204">
                  <a:extLst>
                    <a:ext uri="{9D8B030D-6E8A-4147-A177-3AD203B41FA5}">
                      <a16:colId xmlns:a16="http://schemas.microsoft.com/office/drawing/2014/main" val="1447065464"/>
                    </a:ext>
                  </a:extLst>
                </a:gridCol>
                <a:gridCol w="3494636">
                  <a:extLst>
                    <a:ext uri="{9D8B030D-6E8A-4147-A177-3AD203B41FA5}">
                      <a16:colId xmlns:a16="http://schemas.microsoft.com/office/drawing/2014/main" val="1310013889"/>
                    </a:ext>
                  </a:extLst>
                </a:gridCol>
              </a:tblGrid>
              <a:tr h="628224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1300" dirty="0">
                          <a:ln>
                            <a:noFill/>
                          </a:ln>
                          <a:solidFill>
                            <a:srgbClr val="23F9E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200000"/>
                        </a:lnSpc>
                      </a:pPr>
                      <a:r>
                        <a:rPr lang="ko-KR" altLang="en-US" sz="1300" dirty="0">
                          <a:ln>
                            <a:noFill/>
                          </a:ln>
                          <a:solidFill>
                            <a:srgbClr val="23F9E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제목</a:t>
                      </a: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200000"/>
                        </a:lnSpc>
                      </a:pPr>
                      <a:r>
                        <a:rPr lang="ko-KR" altLang="en-US" sz="1300" dirty="0">
                          <a:ln>
                            <a:noFill/>
                          </a:ln>
                          <a:solidFill>
                            <a:srgbClr val="23F9E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상황 </a:t>
                      </a:r>
                      <a:r>
                        <a:rPr lang="en-US" altLang="ko-KR" sz="1300" dirty="0">
                          <a:ln>
                            <a:noFill/>
                          </a:ln>
                          <a:solidFill>
                            <a:srgbClr val="23F9E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300" dirty="0">
                          <a:ln>
                            <a:noFill/>
                          </a:ln>
                          <a:solidFill>
                            <a:srgbClr val="23F9E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안전불감증 유도</a:t>
                      </a:r>
                      <a:r>
                        <a:rPr lang="en-US" altLang="ko-KR" sz="1300" dirty="0">
                          <a:ln>
                            <a:noFill/>
                          </a:ln>
                          <a:solidFill>
                            <a:srgbClr val="23F9E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300" dirty="0">
                        <a:ln>
                          <a:noFill/>
                        </a:ln>
                        <a:solidFill>
                          <a:srgbClr val="23F9E8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200000"/>
                        </a:lnSpc>
                      </a:pPr>
                      <a:r>
                        <a:rPr lang="ko-KR" altLang="en-US" sz="1300" dirty="0">
                          <a:ln>
                            <a:noFill/>
                          </a:ln>
                          <a:solidFill>
                            <a:srgbClr val="23F9E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핵심 목표</a:t>
                      </a: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4545833"/>
                  </a:ext>
                </a:extLst>
              </a:tr>
              <a:tr h="815081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250000"/>
                        </a:lnSpc>
                      </a:pPr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434846"/>
                  </a:ext>
                </a:extLst>
              </a:tr>
              <a:tr h="815081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250000"/>
                        </a:lnSpc>
                      </a:pPr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892226"/>
                  </a:ext>
                </a:extLst>
              </a:tr>
              <a:tr h="815081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250000"/>
                        </a:lnSpc>
                      </a:pPr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773599"/>
                  </a:ext>
                </a:extLst>
              </a:tr>
              <a:tr h="815081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250000"/>
                        </a:lnSpc>
                      </a:pPr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532842"/>
                  </a:ext>
                </a:extLst>
              </a:tr>
            </a:tbl>
          </a:graphicData>
        </a:graphic>
      </p:graphicFrame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5A5D0C20-27D1-3B97-8D46-7C4991041C1A}"/>
              </a:ext>
            </a:extLst>
          </p:cNvPr>
          <p:cNvSpPr/>
          <p:nvPr/>
        </p:nvSpPr>
        <p:spPr>
          <a:xfrm>
            <a:off x="869133" y="2348963"/>
            <a:ext cx="606582" cy="314265"/>
          </a:xfrm>
          <a:prstGeom prst="roundRect">
            <a:avLst>
              <a:gd name="adj" fmla="val 50000"/>
            </a:avLst>
          </a:prstGeom>
          <a:solidFill>
            <a:srgbClr val="FE41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도입부</a:t>
            </a: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21554EFD-7A48-1670-CEBA-BB4214E391E0}"/>
              </a:ext>
            </a:extLst>
          </p:cNvPr>
          <p:cNvSpPr/>
          <p:nvPr/>
        </p:nvSpPr>
        <p:spPr>
          <a:xfrm>
            <a:off x="869133" y="3155341"/>
            <a:ext cx="606582" cy="314265"/>
          </a:xfrm>
          <a:prstGeom prst="roundRect">
            <a:avLst>
              <a:gd name="adj" fmla="val 50000"/>
            </a:avLst>
          </a:prstGeom>
          <a:solidFill>
            <a:srgbClr val="FE41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미션 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kumimoji="1" lang="ko-KR" altLang="en-US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B94E74F4-0462-4DC7-8A67-E377E1DEAC2B}"/>
              </a:ext>
            </a:extLst>
          </p:cNvPr>
          <p:cNvSpPr/>
          <p:nvPr/>
        </p:nvSpPr>
        <p:spPr>
          <a:xfrm>
            <a:off x="878187" y="3961719"/>
            <a:ext cx="606582" cy="314265"/>
          </a:xfrm>
          <a:prstGeom prst="roundRect">
            <a:avLst>
              <a:gd name="adj" fmla="val 50000"/>
            </a:avLst>
          </a:prstGeom>
          <a:solidFill>
            <a:srgbClr val="FE41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미션 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kumimoji="1" lang="ko-KR" altLang="en-US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63CB0763-2D9A-9881-67BB-7DF90450B7D4}"/>
              </a:ext>
            </a:extLst>
          </p:cNvPr>
          <p:cNvSpPr/>
          <p:nvPr/>
        </p:nvSpPr>
        <p:spPr>
          <a:xfrm>
            <a:off x="869133" y="4810136"/>
            <a:ext cx="606582" cy="314265"/>
          </a:xfrm>
          <a:prstGeom prst="roundRect">
            <a:avLst>
              <a:gd name="adj" fmla="val 50000"/>
            </a:avLst>
          </a:prstGeom>
          <a:solidFill>
            <a:srgbClr val="FE41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미션 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kumimoji="1" lang="ko-KR" altLang="en-US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49415FD-8DDF-8924-9FE6-DB2601D94B06}"/>
              </a:ext>
            </a:extLst>
          </p:cNvPr>
          <p:cNvSpPr txBox="1"/>
          <p:nvPr/>
        </p:nvSpPr>
        <p:spPr>
          <a:xfrm>
            <a:off x="2341861" y="2370840"/>
            <a:ext cx="8034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미끼 투척</a:t>
            </a:r>
          </a:p>
        </p:txBody>
      </p:sp>
      <p:sp>
        <p:nvSpPr>
          <p:cNvPr id="91" name="그래픽 49" descr="돋보기 단색으로 채워진">
            <a:extLst>
              <a:ext uri="{FF2B5EF4-FFF2-40B4-BE49-F238E27FC236}">
                <a16:creationId xmlns:a16="http://schemas.microsoft.com/office/drawing/2014/main" id="{4A443B36-7688-EA85-2E6A-E42E821BDFD1}"/>
              </a:ext>
            </a:extLst>
          </p:cNvPr>
          <p:cNvSpPr/>
          <p:nvPr/>
        </p:nvSpPr>
        <p:spPr>
          <a:xfrm>
            <a:off x="2086689" y="3174260"/>
            <a:ext cx="261793" cy="262000"/>
          </a:xfrm>
          <a:custGeom>
            <a:avLst/>
            <a:gdLst>
              <a:gd name="connsiteX0" fmla="*/ 255036 w 261793"/>
              <a:gd name="connsiteY0" fmla="*/ 222203 h 262000"/>
              <a:gd name="connsiteX1" fmla="*/ 213580 w 261793"/>
              <a:gd name="connsiteY1" fmla="*/ 180747 h 262000"/>
              <a:gd name="connsiteX2" fmla="*/ 193018 w 261793"/>
              <a:gd name="connsiteY2" fmla="*/ 174446 h 262000"/>
              <a:gd name="connsiteX3" fmla="*/ 178425 w 261793"/>
              <a:gd name="connsiteY3" fmla="*/ 159853 h 262000"/>
              <a:gd name="connsiteX4" fmla="*/ 198988 w 261793"/>
              <a:gd name="connsiteY4" fmla="*/ 99494 h 262000"/>
              <a:gd name="connsiteX5" fmla="*/ 99494 w 261793"/>
              <a:gd name="connsiteY5" fmla="*/ 0 h 262000"/>
              <a:gd name="connsiteX6" fmla="*/ 0 w 261793"/>
              <a:gd name="connsiteY6" fmla="*/ 99494 h 262000"/>
              <a:gd name="connsiteX7" fmla="*/ 99494 w 261793"/>
              <a:gd name="connsiteY7" fmla="*/ 198988 h 262000"/>
              <a:gd name="connsiteX8" fmla="*/ 159853 w 261793"/>
              <a:gd name="connsiteY8" fmla="*/ 178425 h 262000"/>
              <a:gd name="connsiteX9" fmla="*/ 174446 w 261793"/>
              <a:gd name="connsiteY9" fmla="*/ 193018 h 262000"/>
              <a:gd name="connsiteX10" fmla="*/ 180747 w 261793"/>
              <a:gd name="connsiteY10" fmla="*/ 213580 h 262000"/>
              <a:gd name="connsiteX11" fmla="*/ 222203 w 261793"/>
              <a:gd name="connsiteY11" fmla="*/ 255036 h 262000"/>
              <a:gd name="connsiteX12" fmla="*/ 238785 w 261793"/>
              <a:gd name="connsiteY12" fmla="*/ 262000 h 262000"/>
              <a:gd name="connsiteX13" fmla="*/ 255367 w 261793"/>
              <a:gd name="connsiteY13" fmla="*/ 255036 h 262000"/>
              <a:gd name="connsiteX14" fmla="*/ 255036 w 261793"/>
              <a:gd name="connsiteY14" fmla="*/ 222203 h 262000"/>
              <a:gd name="connsiteX15" fmla="*/ 99162 w 261793"/>
              <a:gd name="connsiteY15" fmla="*/ 178757 h 262000"/>
              <a:gd name="connsiteX16" fmla="*/ 19567 w 261793"/>
              <a:gd name="connsiteY16" fmla="*/ 99162 h 262000"/>
              <a:gd name="connsiteX17" fmla="*/ 99162 w 261793"/>
              <a:gd name="connsiteY17" fmla="*/ 19567 h 262000"/>
              <a:gd name="connsiteX18" fmla="*/ 178757 w 261793"/>
              <a:gd name="connsiteY18" fmla="*/ 99162 h 262000"/>
              <a:gd name="connsiteX19" fmla="*/ 99162 w 261793"/>
              <a:gd name="connsiteY19" fmla="*/ 178757 h 2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61793" h="262000">
                <a:moveTo>
                  <a:pt x="255036" y="222203"/>
                </a:moveTo>
                <a:lnTo>
                  <a:pt x="213580" y="180747"/>
                </a:lnTo>
                <a:cubicBezTo>
                  <a:pt x="207942" y="175109"/>
                  <a:pt x="200314" y="173119"/>
                  <a:pt x="193018" y="174446"/>
                </a:cubicBezTo>
                <a:lnTo>
                  <a:pt x="178425" y="159853"/>
                </a:lnTo>
                <a:cubicBezTo>
                  <a:pt x="191360" y="143271"/>
                  <a:pt x="198988" y="122046"/>
                  <a:pt x="198988" y="99494"/>
                </a:cubicBezTo>
                <a:cubicBezTo>
                  <a:pt x="198988" y="44772"/>
                  <a:pt x="154215" y="0"/>
                  <a:pt x="99494" y="0"/>
                </a:cubicBezTo>
                <a:cubicBezTo>
                  <a:pt x="44772" y="0"/>
                  <a:pt x="0" y="44772"/>
                  <a:pt x="0" y="99494"/>
                </a:cubicBezTo>
                <a:cubicBezTo>
                  <a:pt x="0" y="154215"/>
                  <a:pt x="44772" y="198988"/>
                  <a:pt x="99494" y="198988"/>
                </a:cubicBezTo>
                <a:cubicBezTo>
                  <a:pt x="122046" y="198988"/>
                  <a:pt x="142939" y="191360"/>
                  <a:pt x="159853" y="178425"/>
                </a:cubicBezTo>
                <a:lnTo>
                  <a:pt x="174446" y="193018"/>
                </a:lnTo>
                <a:cubicBezTo>
                  <a:pt x="173119" y="200314"/>
                  <a:pt x="175109" y="207942"/>
                  <a:pt x="180747" y="213580"/>
                </a:cubicBezTo>
                <a:lnTo>
                  <a:pt x="222203" y="255036"/>
                </a:lnTo>
                <a:cubicBezTo>
                  <a:pt x="226846" y="259679"/>
                  <a:pt x="232815" y="262000"/>
                  <a:pt x="238785" y="262000"/>
                </a:cubicBezTo>
                <a:cubicBezTo>
                  <a:pt x="244755" y="262000"/>
                  <a:pt x="250724" y="259679"/>
                  <a:pt x="255367" y="255036"/>
                </a:cubicBezTo>
                <a:cubicBezTo>
                  <a:pt x="263990" y="245750"/>
                  <a:pt x="263990" y="231157"/>
                  <a:pt x="255036" y="222203"/>
                </a:cubicBezTo>
                <a:close/>
                <a:moveTo>
                  <a:pt x="99162" y="178757"/>
                </a:moveTo>
                <a:cubicBezTo>
                  <a:pt x="55385" y="178757"/>
                  <a:pt x="19567" y="142939"/>
                  <a:pt x="19567" y="99162"/>
                </a:cubicBezTo>
                <a:cubicBezTo>
                  <a:pt x="19567" y="55385"/>
                  <a:pt x="55385" y="19567"/>
                  <a:pt x="99162" y="19567"/>
                </a:cubicBezTo>
                <a:cubicBezTo>
                  <a:pt x="142939" y="19567"/>
                  <a:pt x="178757" y="55385"/>
                  <a:pt x="178757" y="99162"/>
                </a:cubicBezTo>
                <a:cubicBezTo>
                  <a:pt x="178757" y="142939"/>
                  <a:pt x="142939" y="178757"/>
                  <a:pt x="99162" y="178757"/>
                </a:cubicBezTo>
                <a:close/>
              </a:path>
            </a:pathLst>
          </a:custGeom>
          <a:solidFill>
            <a:srgbClr val="23F9E8"/>
          </a:solidFill>
          <a:ln w="327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330724-37C4-8FD4-7272-F39C5FA59527}"/>
              </a:ext>
            </a:extLst>
          </p:cNvPr>
          <p:cNvSpPr txBox="1"/>
          <p:nvPr/>
        </p:nvSpPr>
        <p:spPr>
          <a:xfrm>
            <a:off x="2320044" y="3171731"/>
            <a:ext cx="12779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수상한 문자 분석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9B7299D-40F3-ADCA-31E7-D79170BD2A40}"/>
              </a:ext>
            </a:extLst>
          </p:cNvPr>
          <p:cNvSpPr txBox="1"/>
          <p:nvPr/>
        </p:nvSpPr>
        <p:spPr>
          <a:xfrm>
            <a:off x="2404753" y="3983596"/>
            <a:ext cx="123623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사기범과의 대화</a:t>
            </a:r>
          </a:p>
        </p:txBody>
      </p:sp>
      <p:sp>
        <p:nvSpPr>
          <p:cNvPr id="93" name="자유형 92">
            <a:extLst>
              <a:ext uri="{FF2B5EF4-FFF2-40B4-BE49-F238E27FC236}">
                <a16:creationId xmlns:a16="http://schemas.microsoft.com/office/drawing/2014/main" id="{2F26661F-F1C6-C174-563E-C5E834F5CB38}"/>
              </a:ext>
            </a:extLst>
          </p:cNvPr>
          <p:cNvSpPr/>
          <p:nvPr/>
        </p:nvSpPr>
        <p:spPr>
          <a:xfrm>
            <a:off x="2091681" y="4005121"/>
            <a:ext cx="209457" cy="188511"/>
          </a:xfrm>
          <a:custGeom>
            <a:avLst/>
            <a:gdLst>
              <a:gd name="connsiteX0" fmla="*/ 142431 w 209457"/>
              <a:gd name="connsiteY0" fmla="*/ 29324 h 188511"/>
              <a:gd name="connsiteX1" fmla="*/ 209457 w 209457"/>
              <a:gd name="connsiteY1" fmla="*/ 29324 h 188511"/>
              <a:gd name="connsiteX2" fmla="*/ 209457 w 209457"/>
              <a:gd name="connsiteY2" fmla="*/ 16757 h 188511"/>
              <a:gd name="connsiteX3" fmla="*/ 192701 w 209457"/>
              <a:gd name="connsiteY3" fmla="*/ 0 h 188511"/>
              <a:gd name="connsiteX4" fmla="*/ 16757 w 209457"/>
              <a:gd name="connsiteY4" fmla="*/ 0 h 188511"/>
              <a:gd name="connsiteX5" fmla="*/ 0 w 209457"/>
              <a:gd name="connsiteY5" fmla="*/ 16757 h 188511"/>
              <a:gd name="connsiteX6" fmla="*/ 0 w 209457"/>
              <a:gd name="connsiteY6" fmla="*/ 129864 h 188511"/>
              <a:gd name="connsiteX7" fmla="*/ 16757 w 209457"/>
              <a:gd name="connsiteY7" fmla="*/ 146620 h 188511"/>
              <a:gd name="connsiteX8" fmla="*/ 41891 w 209457"/>
              <a:gd name="connsiteY8" fmla="*/ 146620 h 188511"/>
              <a:gd name="connsiteX9" fmla="*/ 41891 w 209457"/>
              <a:gd name="connsiteY9" fmla="*/ 188512 h 188511"/>
              <a:gd name="connsiteX10" fmla="*/ 83783 w 209457"/>
              <a:gd name="connsiteY10" fmla="*/ 146620 h 188511"/>
              <a:gd name="connsiteX11" fmla="*/ 108918 w 209457"/>
              <a:gd name="connsiteY11" fmla="*/ 146620 h 188511"/>
              <a:gd name="connsiteX12" fmla="*/ 108918 w 209457"/>
              <a:gd name="connsiteY12" fmla="*/ 62837 h 188511"/>
              <a:gd name="connsiteX13" fmla="*/ 142431 w 209457"/>
              <a:gd name="connsiteY13" fmla="*/ 29324 h 188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9457" h="188511">
                <a:moveTo>
                  <a:pt x="142431" y="29324"/>
                </a:moveTo>
                <a:lnTo>
                  <a:pt x="209457" y="29324"/>
                </a:lnTo>
                <a:lnTo>
                  <a:pt x="209457" y="16757"/>
                </a:lnTo>
                <a:cubicBezTo>
                  <a:pt x="209457" y="7540"/>
                  <a:pt x="201917" y="0"/>
                  <a:pt x="192701" y="0"/>
                </a:cubicBezTo>
                <a:lnTo>
                  <a:pt x="16757" y="0"/>
                </a:lnTo>
                <a:cubicBezTo>
                  <a:pt x="7540" y="0"/>
                  <a:pt x="0" y="7540"/>
                  <a:pt x="0" y="16757"/>
                </a:cubicBezTo>
                <a:lnTo>
                  <a:pt x="0" y="129864"/>
                </a:lnTo>
                <a:cubicBezTo>
                  <a:pt x="0" y="139080"/>
                  <a:pt x="7540" y="146620"/>
                  <a:pt x="16757" y="146620"/>
                </a:cubicBezTo>
                <a:lnTo>
                  <a:pt x="41891" y="146620"/>
                </a:lnTo>
                <a:lnTo>
                  <a:pt x="41891" y="188512"/>
                </a:lnTo>
                <a:lnTo>
                  <a:pt x="83783" y="146620"/>
                </a:lnTo>
                <a:lnTo>
                  <a:pt x="108918" y="146620"/>
                </a:lnTo>
                <a:lnTo>
                  <a:pt x="108918" y="62837"/>
                </a:lnTo>
                <a:cubicBezTo>
                  <a:pt x="108918" y="44405"/>
                  <a:pt x="123999" y="29324"/>
                  <a:pt x="142431" y="29324"/>
                </a:cubicBezTo>
                <a:close/>
              </a:path>
            </a:pathLst>
          </a:custGeom>
          <a:solidFill>
            <a:srgbClr val="23F9E8"/>
          </a:solidFill>
          <a:ln w="4167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94" name="자유형 93">
            <a:extLst>
              <a:ext uri="{FF2B5EF4-FFF2-40B4-BE49-F238E27FC236}">
                <a16:creationId xmlns:a16="http://schemas.microsoft.com/office/drawing/2014/main" id="{E1D3AEBB-5725-C618-BE0C-D4ACA911F240}"/>
              </a:ext>
            </a:extLst>
          </p:cNvPr>
          <p:cNvSpPr/>
          <p:nvPr/>
        </p:nvSpPr>
        <p:spPr>
          <a:xfrm>
            <a:off x="2217355" y="4051202"/>
            <a:ext cx="209457" cy="188511"/>
          </a:xfrm>
          <a:custGeom>
            <a:avLst/>
            <a:gdLst>
              <a:gd name="connsiteX0" fmla="*/ 192701 w 209457"/>
              <a:gd name="connsiteY0" fmla="*/ 0 h 188511"/>
              <a:gd name="connsiteX1" fmla="*/ 16757 w 209457"/>
              <a:gd name="connsiteY1" fmla="*/ 0 h 188511"/>
              <a:gd name="connsiteX2" fmla="*/ 0 w 209457"/>
              <a:gd name="connsiteY2" fmla="*/ 16757 h 188511"/>
              <a:gd name="connsiteX3" fmla="*/ 0 w 209457"/>
              <a:gd name="connsiteY3" fmla="*/ 129864 h 188511"/>
              <a:gd name="connsiteX4" fmla="*/ 16757 w 209457"/>
              <a:gd name="connsiteY4" fmla="*/ 146620 h 188511"/>
              <a:gd name="connsiteX5" fmla="*/ 125674 w 209457"/>
              <a:gd name="connsiteY5" fmla="*/ 146620 h 188511"/>
              <a:gd name="connsiteX6" fmla="*/ 167566 w 209457"/>
              <a:gd name="connsiteY6" fmla="*/ 188512 h 188511"/>
              <a:gd name="connsiteX7" fmla="*/ 167566 w 209457"/>
              <a:gd name="connsiteY7" fmla="*/ 146620 h 188511"/>
              <a:gd name="connsiteX8" fmla="*/ 192701 w 209457"/>
              <a:gd name="connsiteY8" fmla="*/ 146620 h 188511"/>
              <a:gd name="connsiteX9" fmla="*/ 209457 w 209457"/>
              <a:gd name="connsiteY9" fmla="*/ 129864 h 188511"/>
              <a:gd name="connsiteX10" fmla="*/ 209457 w 209457"/>
              <a:gd name="connsiteY10" fmla="*/ 16757 h 188511"/>
              <a:gd name="connsiteX11" fmla="*/ 192701 w 209457"/>
              <a:gd name="connsiteY11" fmla="*/ 0 h 188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9457" h="188511">
                <a:moveTo>
                  <a:pt x="192701" y="0"/>
                </a:moveTo>
                <a:lnTo>
                  <a:pt x="16757" y="0"/>
                </a:lnTo>
                <a:cubicBezTo>
                  <a:pt x="7540" y="0"/>
                  <a:pt x="0" y="7540"/>
                  <a:pt x="0" y="16757"/>
                </a:cubicBezTo>
                <a:lnTo>
                  <a:pt x="0" y="129864"/>
                </a:lnTo>
                <a:cubicBezTo>
                  <a:pt x="0" y="139080"/>
                  <a:pt x="7540" y="146620"/>
                  <a:pt x="16757" y="146620"/>
                </a:cubicBezTo>
                <a:lnTo>
                  <a:pt x="125674" y="146620"/>
                </a:lnTo>
                <a:lnTo>
                  <a:pt x="167566" y="188512"/>
                </a:lnTo>
                <a:lnTo>
                  <a:pt x="167566" y="146620"/>
                </a:lnTo>
                <a:lnTo>
                  <a:pt x="192701" y="146620"/>
                </a:lnTo>
                <a:cubicBezTo>
                  <a:pt x="201917" y="146620"/>
                  <a:pt x="209457" y="139080"/>
                  <a:pt x="209457" y="129864"/>
                </a:cubicBezTo>
                <a:lnTo>
                  <a:pt x="209457" y="16757"/>
                </a:lnTo>
                <a:cubicBezTo>
                  <a:pt x="209457" y="7540"/>
                  <a:pt x="201917" y="0"/>
                  <a:pt x="192701" y="0"/>
                </a:cubicBezTo>
                <a:close/>
              </a:path>
            </a:pathLst>
          </a:custGeom>
          <a:solidFill>
            <a:srgbClr val="23F9E8"/>
          </a:solidFill>
          <a:ln w="4167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8DE12E80-DF9B-87CB-CFA4-690B4EEBD0AE}"/>
              </a:ext>
            </a:extLst>
          </p:cNvPr>
          <p:cNvGrpSpPr/>
          <p:nvPr/>
        </p:nvGrpSpPr>
        <p:grpSpPr>
          <a:xfrm>
            <a:off x="2127448" y="4814224"/>
            <a:ext cx="244077" cy="277951"/>
            <a:chOff x="2127448" y="4814224"/>
            <a:chExt cx="244077" cy="277951"/>
          </a:xfrm>
        </p:grpSpPr>
        <p:sp>
          <p:nvSpPr>
            <p:cNvPr id="96" name="자유형 95">
              <a:extLst>
                <a:ext uri="{FF2B5EF4-FFF2-40B4-BE49-F238E27FC236}">
                  <a16:creationId xmlns:a16="http://schemas.microsoft.com/office/drawing/2014/main" id="{D2998ECC-A765-B469-8644-CD134B8765D5}"/>
                </a:ext>
              </a:extLst>
            </p:cNvPr>
            <p:cNvSpPr/>
            <p:nvPr/>
          </p:nvSpPr>
          <p:spPr>
            <a:xfrm>
              <a:off x="2276119" y="4814224"/>
              <a:ext cx="51711" cy="51711"/>
            </a:xfrm>
            <a:custGeom>
              <a:avLst/>
              <a:gdLst>
                <a:gd name="connsiteX0" fmla="*/ 51712 w 51711"/>
                <a:gd name="connsiteY0" fmla="*/ 25856 h 51711"/>
                <a:gd name="connsiteX1" fmla="*/ 25856 w 51711"/>
                <a:gd name="connsiteY1" fmla="*/ 51712 h 51711"/>
                <a:gd name="connsiteX2" fmla="*/ 0 w 51711"/>
                <a:gd name="connsiteY2" fmla="*/ 25856 h 51711"/>
                <a:gd name="connsiteX3" fmla="*/ 25856 w 51711"/>
                <a:gd name="connsiteY3" fmla="*/ 0 h 51711"/>
                <a:gd name="connsiteX4" fmla="*/ 51712 w 51711"/>
                <a:gd name="connsiteY4" fmla="*/ 25856 h 51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11" h="51711">
                  <a:moveTo>
                    <a:pt x="51712" y="25856"/>
                  </a:moveTo>
                  <a:cubicBezTo>
                    <a:pt x="51712" y="40136"/>
                    <a:pt x="40136" y="51712"/>
                    <a:pt x="25856" y="51712"/>
                  </a:cubicBezTo>
                  <a:cubicBezTo>
                    <a:pt x="11576" y="51712"/>
                    <a:pt x="0" y="40136"/>
                    <a:pt x="0" y="25856"/>
                  </a:cubicBezTo>
                  <a:cubicBezTo>
                    <a:pt x="0" y="11576"/>
                    <a:pt x="11576" y="0"/>
                    <a:pt x="25856" y="0"/>
                  </a:cubicBezTo>
                  <a:cubicBezTo>
                    <a:pt x="40136" y="0"/>
                    <a:pt x="51712" y="11576"/>
                    <a:pt x="51712" y="25856"/>
                  </a:cubicBezTo>
                  <a:close/>
                </a:path>
              </a:pathLst>
            </a:custGeom>
            <a:solidFill>
              <a:srgbClr val="23F9E8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7" name="자유형 96">
              <a:extLst>
                <a:ext uri="{FF2B5EF4-FFF2-40B4-BE49-F238E27FC236}">
                  <a16:creationId xmlns:a16="http://schemas.microsoft.com/office/drawing/2014/main" id="{FEF181BB-5E7E-94EE-A6FA-DEF392ED501D}"/>
                </a:ext>
              </a:extLst>
            </p:cNvPr>
            <p:cNvSpPr/>
            <p:nvPr/>
          </p:nvSpPr>
          <p:spPr>
            <a:xfrm>
              <a:off x="2127448" y="4869168"/>
              <a:ext cx="244077" cy="223007"/>
            </a:xfrm>
            <a:custGeom>
              <a:avLst/>
              <a:gdLst>
                <a:gd name="connsiteX0" fmla="*/ 237228 w 244077"/>
                <a:gd name="connsiteY0" fmla="*/ 6464 h 223007"/>
                <a:gd name="connsiteX1" fmla="*/ 219775 w 244077"/>
                <a:gd name="connsiteY1" fmla="*/ 11958 h 223007"/>
                <a:gd name="connsiteX2" fmla="*/ 208463 w 244077"/>
                <a:gd name="connsiteY2" fmla="*/ 33289 h 223007"/>
                <a:gd name="connsiteX3" fmla="*/ 158691 w 244077"/>
                <a:gd name="connsiteY3" fmla="*/ 1939 h 223007"/>
                <a:gd name="connsiteX4" fmla="*/ 151904 w 244077"/>
                <a:gd name="connsiteY4" fmla="*/ 0 h 223007"/>
                <a:gd name="connsiteX5" fmla="*/ 96960 w 244077"/>
                <a:gd name="connsiteY5" fmla="*/ 0 h 223007"/>
                <a:gd name="connsiteX6" fmla="*/ 85648 w 244077"/>
                <a:gd name="connsiteY6" fmla="*/ 6787 h 223007"/>
                <a:gd name="connsiteX7" fmla="*/ 64640 w 244077"/>
                <a:gd name="connsiteY7" fmla="*/ 45571 h 223007"/>
                <a:gd name="connsiteX8" fmla="*/ 69811 w 244077"/>
                <a:gd name="connsiteY8" fmla="*/ 63024 h 223007"/>
                <a:gd name="connsiteX9" fmla="*/ 75952 w 244077"/>
                <a:gd name="connsiteY9" fmla="*/ 64640 h 223007"/>
                <a:gd name="connsiteX10" fmla="*/ 87264 w 244077"/>
                <a:gd name="connsiteY10" fmla="*/ 57853 h 223007"/>
                <a:gd name="connsiteX11" fmla="*/ 104716 w 244077"/>
                <a:gd name="connsiteY11" fmla="*/ 25856 h 223007"/>
                <a:gd name="connsiteX12" fmla="*/ 123785 w 244077"/>
                <a:gd name="connsiteY12" fmla="*/ 25856 h 223007"/>
                <a:gd name="connsiteX13" fmla="*/ 66579 w 244077"/>
                <a:gd name="connsiteY13" fmla="*/ 132512 h 223007"/>
                <a:gd name="connsiteX14" fmla="*/ 12928 w 244077"/>
                <a:gd name="connsiteY14" fmla="*/ 132512 h 223007"/>
                <a:gd name="connsiteX15" fmla="*/ 0 w 244077"/>
                <a:gd name="connsiteY15" fmla="*/ 145440 h 223007"/>
                <a:gd name="connsiteX16" fmla="*/ 12928 w 244077"/>
                <a:gd name="connsiteY16" fmla="*/ 158367 h 223007"/>
                <a:gd name="connsiteX17" fmla="*/ 74336 w 244077"/>
                <a:gd name="connsiteY17" fmla="*/ 158367 h 223007"/>
                <a:gd name="connsiteX18" fmla="*/ 85648 w 244077"/>
                <a:gd name="connsiteY18" fmla="*/ 151580 h 223007"/>
                <a:gd name="connsiteX19" fmla="*/ 108272 w 244077"/>
                <a:gd name="connsiteY19" fmla="*/ 109888 h 223007"/>
                <a:gd name="connsiteX20" fmla="*/ 145440 w 244077"/>
                <a:gd name="connsiteY20" fmla="*/ 144470 h 223007"/>
                <a:gd name="connsiteX21" fmla="*/ 142531 w 244077"/>
                <a:gd name="connsiteY21" fmla="*/ 209433 h 223007"/>
                <a:gd name="connsiteX22" fmla="*/ 154489 w 244077"/>
                <a:gd name="connsiteY22" fmla="*/ 223007 h 223007"/>
                <a:gd name="connsiteX23" fmla="*/ 155136 w 244077"/>
                <a:gd name="connsiteY23" fmla="*/ 223007 h 223007"/>
                <a:gd name="connsiteX24" fmla="*/ 168063 w 244077"/>
                <a:gd name="connsiteY24" fmla="*/ 210726 h 223007"/>
                <a:gd name="connsiteX25" fmla="*/ 171295 w 244077"/>
                <a:gd name="connsiteY25" fmla="*/ 139622 h 223007"/>
                <a:gd name="connsiteX26" fmla="*/ 167094 w 244077"/>
                <a:gd name="connsiteY26" fmla="*/ 129603 h 223007"/>
                <a:gd name="connsiteX27" fmla="*/ 135744 w 244077"/>
                <a:gd name="connsiteY27" fmla="*/ 100515 h 223007"/>
                <a:gd name="connsiteX28" fmla="*/ 168710 w 244077"/>
                <a:gd name="connsiteY28" fmla="*/ 39107 h 223007"/>
                <a:gd name="connsiteX29" fmla="*/ 206201 w 244077"/>
                <a:gd name="connsiteY29" fmla="*/ 62701 h 223007"/>
                <a:gd name="connsiteX30" fmla="*/ 216543 w 244077"/>
                <a:gd name="connsiteY30" fmla="*/ 64317 h 223007"/>
                <a:gd name="connsiteX31" fmla="*/ 224623 w 244077"/>
                <a:gd name="connsiteY31" fmla="*/ 57853 h 223007"/>
                <a:gd name="connsiteX32" fmla="*/ 242399 w 244077"/>
                <a:gd name="connsiteY32" fmla="*/ 23917 h 223007"/>
                <a:gd name="connsiteX33" fmla="*/ 237228 w 244077"/>
                <a:gd name="connsiteY33" fmla="*/ 6464 h 223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44077" h="223007">
                  <a:moveTo>
                    <a:pt x="237228" y="6464"/>
                  </a:moveTo>
                  <a:cubicBezTo>
                    <a:pt x="230764" y="3232"/>
                    <a:pt x="223007" y="5494"/>
                    <a:pt x="219775" y="11958"/>
                  </a:cubicBezTo>
                  <a:lnTo>
                    <a:pt x="208463" y="33289"/>
                  </a:lnTo>
                  <a:lnTo>
                    <a:pt x="158691" y="1939"/>
                  </a:lnTo>
                  <a:cubicBezTo>
                    <a:pt x="156752" y="646"/>
                    <a:pt x="154489" y="0"/>
                    <a:pt x="151904" y="0"/>
                  </a:cubicBezTo>
                  <a:lnTo>
                    <a:pt x="96960" y="0"/>
                  </a:lnTo>
                  <a:cubicBezTo>
                    <a:pt x="92112" y="0"/>
                    <a:pt x="87910" y="2586"/>
                    <a:pt x="85648" y="6787"/>
                  </a:cubicBezTo>
                  <a:lnTo>
                    <a:pt x="64640" y="45571"/>
                  </a:lnTo>
                  <a:cubicBezTo>
                    <a:pt x="61085" y="51712"/>
                    <a:pt x="63670" y="59792"/>
                    <a:pt x="69811" y="63024"/>
                  </a:cubicBezTo>
                  <a:cubicBezTo>
                    <a:pt x="71750" y="63993"/>
                    <a:pt x="74013" y="64640"/>
                    <a:pt x="75952" y="64640"/>
                  </a:cubicBezTo>
                  <a:cubicBezTo>
                    <a:pt x="80477" y="64640"/>
                    <a:pt x="85001" y="62054"/>
                    <a:pt x="87264" y="57853"/>
                  </a:cubicBezTo>
                  <a:lnTo>
                    <a:pt x="104716" y="25856"/>
                  </a:lnTo>
                  <a:lnTo>
                    <a:pt x="123785" y="25856"/>
                  </a:lnTo>
                  <a:lnTo>
                    <a:pt x="66579" y="132512"/>
                  </a:lnTo>
                  <a:lnTo>
                    <a:pt x="12928" y="132512"/>
                  </a:lnTo>
                  <a:cubicBezTo>
                    <a:pt x="5818" y="132512"/>
                    <a:pt x="0" y="138329"/>
                    <a:pt x="0" y="145440"/>
                  </a:cubicBezTo>
                  <a:cubicBezTo>
                    <a:pt x="0" y="152550"/>
                    <a:pt x="5818" y="158367"/>
                    <a:pt x="12928" y="158367"/>
                  </a:cubicBezTo>
                  <a:lnTo>
                    <a:pt x="74336" y="158367"/>
                  </a:lnTo>
                  <a:cubicBezTo>
                    <a:pt x="79184" y="158367"/>
                    <a:pt x="83385" y="155782"/>
                    <a:pt x="85648" y="151580"/>
                  </a:cubicBezTo>
                  <a:lnTo>
                    <a:pt x="108272" y="109888"/>
                  </a:lnTo>
                  <a:lnTo>
                    <a:pt x="145440" y="144470"/>
                  </a:lnTo>
                  <a:lnTo>
                    <a:pt x="142531" y="209433"/>
                  </a:lnTo>
                  <a:cubicBezTo>
                    <a:pt x="141884" y="216543"/>
                    <a:pt x="147379" y="222684"/>
                    <a:pt x="154489" y="223007"/>
                  </a:cubicBezTo>
                  <a:cubicBezTo>
                    <a:pt x="154812" y="223007"/>
                    <a:pt x="154812" y="223007"/>
                    <a:pt x="155136" y="223007"/>
                  </a:cubicBezTo>
                  <a:cubicBezTo>
                    <a:pt x="161923" y="223007"/>
                    <a:pt x="167740" y="217513"/>
                    <a:pt x="168063" y="210726"/>
                  </a:cubicBezTo>
                  <a:lnTo>
                    <a:pt x="171295" y="139622"/>
                  </a:lnTo>
                  <a:cubicBezTo>
                    <a:pt x="171619" y="135744"/>
                    <a:pt x="170003" y="132188"/>
                    <a:pt x="167094" y="129603"/>
                  </a:cubicBezTo>
                  <a:lnTo>
                    <a:pt x="135744" y="100515"/>
                  </a:lnTo>
                  <a:lnTo>
                    <a:pt x="168710" y="39107"/>
                  </a:lnTo>
                  <a:lnTo>
                    <a:pt x="206201" y="62701"/>
                  </a:lnTo>
                  <a:cubicBezTo>
                    <a:pt x="209110" y="64640"/>
                    <a:pt x="212988" y="65286"/>
                    <a:pt x="216543" y="64317"/>
                  </a:cubicBezTo>
                  <a:cubicBezTo>
                    <a:pt x="220099" y="63347"/>
                    <a:pt x="223007" y="61085"/>
                    <a:pt x="224623" y="57853"/>
                  </a:cubicBezTo>
                  <a:lnTo>
                    <a:pt x="242399" y="23917"/>
                  </a:lnTo>
                  <a:cubicBezTo>
                    <a:pt x="245954" y="17776"/>
                    <a:pt x="243692" y="10019"/>
                    <a:pt x="237228" y="6464"/>
                  </a:cubicBezTo>
                  <a:close/>
                </a:path>
              </a:pathLst>
            </a:custGeom>
            <a:solidFill>
              <a:srgbClr val="23F9E8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88D093EA-392E-9497-794D-31C0B637B58C}"/>
              </a:ext>
            </a:extLst>
          </p:cNvPr>
          <p:cNvSpPr txBox="1"/>
          <p:nvPr/>
        </p:nvSpPr>
        <p:spPr>
          <a:xfrm>
            <a:off x="2341861" y="4832013"/>
            <a:ext cx="13099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위험 감지 및 탈출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3F0950-DEE2-09AC-B699-04DB61C642EA}"/>
              </a:ext>
            </a:extLst>
          </p:cNvPr>
          <p:cNvSpPr txBox="1"/>
          <p:nvPr/>
        </p:nvSpPr>
        <p:spPr>
          <a:xfrm>
            <a:off x="4402547" y="2192240"/>
            <a:ext cx="3692036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단기간 고수익 알바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”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문자가 도착하고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플레이어는 </a:t>
            </a:r>
            <a:r>
              <a:rPr lang="en-US" altLang="ko-KR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</a:t>
            </a:r>
            <a:endParaRPr lang="en-US" altLang="ko-KR" sz="1300" dirty="0">
              <a:solidFill>
                <a:srgbClr val="FE415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 나에게는 아닐 거야</a:t>
            </a:r>
            <a:r>
              <a:rPr lang="en-US" altLang="ko-KR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라는 생각으로 링크를 클릭하려</a:t>
            </a:r>
            <a:endParaRPr lang="en-US" altLang="ko-KR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함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4E56B01-CCBC-C8FA-49F2-5E8DDAEDF3F7}"/>
              </a:ext>
            </a:extLst>
          </p:cNvPr>
          <p:cNvSpPr txBox="1"/>
          <p:nvPr/>
        </p:nvSpPr>
        <p:spPr>
          <a:xfrm>
            <a:off x="4377700" y="3111674"/>
            <a:ext cx="375455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문자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/SNS 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광고 팝업창에서 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가지 사기 단서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비현실</a:t>
            </a:r>
            <a:endParaRPr lang="en-US" altLang="ko-KR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적 수익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어색한 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URL)</a:t>
            </a:r>
            <a:r>
              <a:rPr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찾아 클릭하여 증거 수집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054DE75-5FE6-08F7-C669-13257A3B1A22}"/>
              </a:ext>
            </a:extLst>
          </p:cNvPr>
          <p:cNvSpPr txBox="1"/>
          <p:nvPr/>
        </p:nvSpPr>
        <p:spPr>
          <a:xfrm>
            <a:off x="4377700" y="3912578"/>
            <a:ext cx="375455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문자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/SNS 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광고 팝업창에서 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가지 사기 단서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비현실</a:t>
            </a:r>
            <a:endParaRPr lang="en-US" altLang="ko-KR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적 수익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어색한 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URL)</a:t>
            </a:r>
            <a:r>
              <a:rPr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찾아 클릭하여 증거 수집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480DA0E-C580-B369-25E7-F7AA7FDD5F57}"/>
              </a:ext>
            </a:extLst>
          </p:cNvPr>
          <p:cNvSpPr txBox="1"/>
          <p:nvPr/>
        </p:nvSpPr>
        <p:spPr>
          <a:xfrm>
            <a:off x="4377700" y="4631958"/>
            <a:ext cx="3741730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요구받은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민감 정보를 </a:t>
            </a:r>
            <a:r>
              <a:rPr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드래그하여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백엔드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위험 분석 시</a:t>
            </a:r>
            <a:endParaRPr lang="en-US" altLang="ko-KR" sz="1300" dirty="0">
              <a:solidFill>
                <a:srgbClr val="FE415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1300" dirty="0" err="1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스템</a:t>
            </a:r>
            <a:r>
              <a:rPr lang="en-US" altLang="ko-KR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넣고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사기 유형을 최종 판단 후 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‘112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신고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버튼 </a:t>
            </a:r>
            <a:endParaRPr lang="en-US" altLang="ko-KR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클릭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8DD2225-BD63-A05C-D055-95DDA3A1FA71}"/>
              </a:ext>
            </a:extLst>
          </p:cNvPr>
          <p:cNvSpPr txBox="1"/>
          <p:nvPr/>
        </p:nvSpPr>
        <p:spPr>
          <a:xfrm>
            <a:off x="8848800" y="2388052"/>
            <a:ext cx="231024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링크 클릭 전 의심하는 습관 형성</a:t>
            </a: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B2F45A7C-5591-0EB5-EF59-524A8C3032BD}"/>
              </a:ext>
            </a:extLst>
          </p:cNvPr>
          <p:cNvSpPr/>
          <p:nvPr/>
        </p:nvSpPr>
        <p:spPr>
          <a:xfrm>
            <a:off x="8434753" y="2339458"/>
            <a:ext cx="389299" cy="3676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8" name="그래픽 66" descr="방패 단색으로 채워진">
            <a:extLst>
              <a:ext uri="{FF2B5EF4-FFF2-40B4-BE49-F238E27FC236}">
                <a16:creationId xmlns:a16="http://schemas.microsoft.com/office/drawing/2014/main" id="{8AFECFB3-CBE7-5F11-7023-B6657847D816}"/>
              </a:ext>
            </a:extLst>
          </p:cNvPr>
          <p:cNvSpPr/>
          <p:nvPr/>
        </p:nvSpPr>
        <p:spPr>
          <a:xfrm>
            <a:off x="8546029" y="2425040"/>
            <a:ext cx="166898" cy="198988"/>
          </a:xfrm>
          <a:custGeom>
            <a:avLst/>
            <a:gdLst>
              <a:gd name="connsiteX0" fmla="*/ 90422 w 166898"/>
              <a:gd name="connsiteY0" fmla="*/ 3194 h 198988"/>
              <a:gd name="connsiteX1" fmla="*/ 158403 w 166898"/>
              <a:gd name="connsiteY1" fmla="*/ 36472 h 198988"/>
              <a:gd name="connsiteX2" fmla="*/ 166898 w 166898"/>
              <a:gd name="connsiteY2" fmla="*/ 45868 h 198988"/>
              <a:gd name="connsiteX3" fmla="*/ 166898 w 166898"/>
              <a:gd name="connsiteY3" fmla="*/ 69585 h 198988"/>
              <a:gd name="connsiteX4" fmla="*/ 88582 w 166898"/>
              <a:gd name="connsiteY4" fmla="*/ 197483 h 198988"/>
              <a:gd name="connsiteX5" fmla="*/ 78316 w 166898"/>
              <a:gd name="connsiteY5" fmla="*/ 197483 h 198988"/>
              <a:gd name="connsiteX6" fmla="*/ 0 w 166898"/>
              <a:gd name="connsiteY6" fmla="*/ 69585 h 198988"/>
              <a:gd name="connsiteX7" fmla="*/ 0 w 166898"/>
              <a:gd name="connsiteY7" fmla="*/ 45868 h 198988"/>
              <a:gd name="connsiteX8" fmla="*/ 8495 w 166898"/>
              <a:gd name="connsiteY8" fmla="*/ 36472 h 198988"/>
              <a:gd name="connsiteX9" fmla="*/ 76476 w 166898"/>
              <a:gd name="connsiteY9" fmla="*/ 3194 h 198988"/>
              <a:gd name="connsiteX10" fmla="*/ 89466 w 166898"/>
              <a:gd name="connsiteY10" fmla="*/ 2237 h 198988"/>
              <a:gd name="connsiteX11" fmla="*/ 90422 w 166898"/>
              <a:gd name="connsiteY11" fmla="*/ 3194 h 198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6898" h="198988">
                <a:moveTo>
                  <a:pt x="90422" y="3194"/>
                </a:moveTo>
                <a:cubicBezTo>
                  <a:pt x="108049" y="22497"/>
                  <a:pt x="132345" y="34391"/>
                  <a:pt x="158403" y="36472"/>
                </a:cubicBezTo>
                <a:cubicBezTo>
                  <a:pt x="163244" y="36925"/>
                  <a:pt x="166933" y="41006"/>
                  <a:pt x="166898" y="45868"/>
                </a:cubicBezTo>
                <a:lnTo>
                  <a:pt x="166898" y="69585"/>
                </a:lnTo>
                <a:cubicBezTo>
                  <a:pt x="166898" y="121138"/>
                  <a:pt x="134109" y="168301"/>
                  <a:pt x="88582" y="197483"/>
                </a:cubicBezTo>
                <a:cubicBezTo>
                  <a:pt x="85455" y="199490"/>
                  <a:pt x="81444" y="199490"/>
                  <a:pt x="78316" y="197483"/>
                </a:cubicBezTo>
                <a:cubicBezTo>
                  <a:pt x="32789" y="168301"/>
                  <a:pt x="0" y="121138"/>
                  <a:pt x="0" y="69585"/>
                </a:cubicBezTo>
                <a:lnTo>
                  <a:pt x="0" y="45868"/>
                </a:lnTo>
                <a:cubicBezTo>
                  <a:pt x="-35" y="41006"/>
                  <a:pt x="3655" y="36925"/>
                  <a:pt x="8495" y="36472"/>
                </a:cubicBezTo>
                <a:cubicBezTo>
                  <a:pt x="34553" y="34391"/>
                  <a:pt x="58849" y="22497"/>
                  <a:pt x="76476" y="3194"/>
                </a:cubicBezTo>
                <a:cubicBezTo>
                  <a:pt x="79799" y="-658"/>
                  <a:pt x="85614" y="-1086"/>
                  <a:pt x="89466" y="2237"/>
                </a:cubicBezTo>
                <a:cubicBezTo>
                  <a:pt x="89808" y="2532"/>
                  <a:pt x="90127" y="2852"/>
                  <a:pt x="90422" y="3194"/>
                </a:cubicBezTo>
                <a:close/>
              </a:path>
            </a:pathLst>
          </a:custGeom>
          <a:solidFill>
            <a:srgbClr val="23F9E8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80AFD376-B890-171B-A0E6-4A5A249D92DA}"/>
              </a:ext>
            </a:extLst>
          </p:cNvPr>
          <p:cNvSpPr/>
          <p:nvPr/>
        </p:nvSpPr>
        <p:spPr>
          <a:xfrm>
            <a:off x="8429501" y="3174045"/>
            <a:ext cx="389299" cy="3676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0" name="자유형 99">
            <a:extLst>
              <a:ext uri="{FF2B5EF4-FFF2-40B4-BE49-F238E27FC236}">
                <a16:creationId xmlns:a16="http://schemas.microsoft.com/office/drawing/2014/main" id="{20DCA97D-6CC7-FD7C-8443-10B3A0927369}"/>
              </a:ext>
            </a:extLst>
          </p:cNvPr>
          <p:cNvSpPr/>
          <p:nvPr/>
        </p:nvSpPr>
        <p:spPr>
          <a:xfrm>
            <a:off x="8621499" y="3256685"/>
            <a:ext cx="97058" cy="202492"/>
          </a:xfrm>
          <a:custGeom>
            <a:avLst/>
            <a:gdLst>
              <a:gd name="connsiteX0" fmla="*/ 97059 w 97058"/>
              <a:gd name="connsiteY0" fmla="*/ 127553 h 202492"/>
              <a:gd name="connsiteX1" fmla="*/ 86959 w 97058"/>
              <a:gd name="connsiteY1" fmla="*/ 103704 h 202492"/>
              <a:gd name="connsiteX2" fmla="*/ 76099 w 97058"/>
              <a:gd name="connsiteY2" fmla="*/ 60077 h 202492"/>
              <a:gd name="connsiteX3" fmla="*/ 73774 w 97058"/>
              <a:gd name="connsiteY3" fmla="*/ 58807 h 202492"/>
              <a:gd name="connsiteX4" fmla="*/ 56113 w 97058"/>
              <a:gd name="connsiteY4" fmla="*/ 26100 h 202492"/>
              <a:gd name="connsiteX5" fmla="*/ 55369 w 97058"/>
              <a:gd name="connsiteY5" fmla="*/ 25890 h 202492"/>
              <a:gd name="connsiteX6" fmla="*/ 25889 w 97058"/>
              <a:gd name="connsiteY6" fmla="*/ 61 h 202492"/>
              <a:gd name="connsiteX7" fmla="*/ 0 w 97058"/>
              <a:gd name="connsiteY7" fmla="*/ 27734 h 202492"/>
              <a:gd name="connsiteX8" fmla="*/ 0 w 97058"/>
              <a:gd name="connsiteY8" fmla="*/ 181635 h 202492"/>
              <a:gd name="connsiteX9" fmla="*/ 20724 w 97058"/>
              <a:gd name="connsiteY9" fmla="*/ 202492 h 202492"/>
              <a:gd name="connsiteX10" fmla="*/ 40648 w 97058"/>
              <a:gd name="connsiteY10" fmla="*/ 187859 h 202492"/>
              <a:gd name="connsiteX11" fmla="*/ 76936 w 97058"/>
              <a:gd name="connsiteY11" fmla="*/ 164658 h 202492"/>
              <a:gd name="connsiteX12" fmla="*/ 77647 w 97058"/>
              <a:gd name="connsiteY12" fmla="*/ 158057 h 202492"/>
              <a:gd name="connsiteX13" fmla="*/ 77647 w 97058"/>
              <a:gd name="connsiteY13" fmla="*/ 157784 h 202492"/>
              <a:gd name="connsiteX14" fmla="*/ 97059 w 97058"/>
              <a:gd name="connsiteY14" fmla="*/ 127553 h 202492"/>
              <a:gd name="connsiteX15" fmla="*/ 42539 w 97058"/>
              <a:gd name="connsiteY15" fmla="*/ 128565 h 202492"/>
              <a:gd name="connsiteX16" fmla="*/ 17998 w 97058"/>
              <a:gd name="connsiteY16" fmla="*/ 94644 h 202492"/>
              <a:gd name="connsiteX17" fmla="*/ 42539 w 97058"/>
              <a:gd name="connsiteY17" fmla="*/ 91755 h 202492"/>
              <a:gd name="connsiteX18" fmla="*/ 67080 w 97058"/>
              <a:gd name="connsiteY18" fmla="*/ 94644 h 202492"/>
              <a:gd name="connsiteX19" fmla="*/ 42539 w 97058"/>
              <a:gd name="connsiteY19" fmla="*/ 128565 h 202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7058" h="202492">
                <a:moveTo>
                  <a:pt x="97059" y="127553"/>
                </a:moveTo>
                <a:cubicBezTo>
                  <a:pt x="97065" y="118563"/>
                  <a:pt x="93420" y="109955"/>
                  <a:pt x="86959" y="103704"/>
                </a:cubicBezTo>
                <a:cubicBezTo>
                  <a:pt x="96007" y="88658"/>
                  <a:pt x="91145" y="69125"/>
                  <a:pt x="76099" y="60077"/>
                </a:cubicBezTo>
                <a:cubicBezTo>
                  <a:pt x="75342" y="59622"/>
                  <a:pt x="74566" y="59198"/>
                  <a:pt x="73774" y="58807"/>
                </a:cubicBezTo>
                <a:cubicBezTo>
                  <a:pt x="77928" y="44899"/>
                  <a:pt x="70021" y="30255"/>
                  <a:pt x="56113" y="26100"/>
                </a:cubicBezTo>
                <a:cubicBezTo>
                  <a:pt x="55866" y="26027"/>
                  <a:pt x="55617" y="25956"/>
                  <a:pt x="55369" y="25890"/>
                </a:cubicBezTo>
                <a:cubicBezTo>
                  <a:pt x="54360" y="10617"/>
                  <a:pt x="41162" y="-947"/>
                  <a:pt x="25889" y="61"/>
                </a:cubicBezTo>
                <a:cubicBezTo>
                  <a:pt x="11316" y="1023"/>
                  <a:pt x="-10" y="13129"/>
                  <a:pt x="0" y="27734"/>
                </a:cubicBezTo>
                <a:lnTo>
                  <a:pt x="0" y="181635"/>
                </a:lnTo>
                <a:cubicBezTo>
                  <a:pt x="-36" y="193118"/>
                  <a:pt x="9242" y="202456"/>
                  <a:pt x="20724" y="202492"/>
                </a:cubicBezTo>
                <a:cubicBezTo>
                  <a:pt x="29859" y="202521"/>
                  <a:pt x="37943" y="196584"/>
                  <a:pt x="40648" y="187859"/>
                </a:cubicBezTo>
                <a:cubicBezTo>
                  <a:pt x="57076" y="191473"/>
                  <a:pt x="73322" y="181086"/>
                  <a:pt x="76936" y="164658"/>
                </a:cubicBezTo>
                <a:cubicBezTo>
                  <a:pt x="77413" y="162491"/>
                  <a:pt x="77651" y="160277"/>
                  <a:pt x="77647" y="158057"/>
                </a:cubicBezTo>
                <a:cubicBezTo>
                  <a:pt x="77647" y="157964"/>
                  <a:pt x="77647" y="157874"/>
                  <a:pt x="77647" y="157784"/>
                </a:cubicBezTo>
                <a:cubicBezTo>
                  <a:pt x="89473" y="152370"/>
                  <a:pt x="97057" y="140559"/>
                  <a:pt x="97059" y="127553"/>
                </a:cubicBezTo>
                <a:close/>
                <a:moveTo>
                  <a:pt x="42539" y="128565"/>
                </a:moveTo>
                <a:cubicBezTo>
                  <a:pt x="42539" y="128565"/>
                  <a:pt x="17998" y="109799"/>
                  <a:pt x="17998" y="94644"/>
                </a:cubicBezTo>
                <a:cubicBezTo>
                  <a:pt x="17998" y="84538"/>
                  <a:pt x="33443" y="73711"/>
                  <a:pt x="42539" y="91755"/>
                </a:cubicBezTo>
                <a:cubicBezTo>
                  <a:pt x="51632" y="73700"/>
                  <a:pt x="67080" y="84538"/>
                  <a:pt x="67080" y="94644"/>
                </a:cubicBezTo>
                <a:cubicBezTo>
                  <a:pt x="67080" y="109799"/>
                  <a:pt x="42539" y="128565"/>
                  <a:pt x="42539" y="128565"/>
                </a:cubicBezTo>
                <a:close/>
              </a:path>
            </a:pathLst>
          </a:custGeom>
          <a:solidFill>
            <a:srgbClr val="23F9E8"/>
          </a:solidFill>
          <a:ln w="2679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01" name="자유형 100">
            <a:extLst>
              <a:ext uri="{FF2B5EF4-FFF2-40B4-BE49-F238E27FC236}">
                <a16:creationId xmlns:a16="http://schemas.microsoft.com/office/drawing/2014/main" id="{2E334255-88F5-880C-8C63-38DA63ED7D39}"/>
              </a:ext>
            </a:extLst>
          </p:cNvPr>
          <p:cNvSpPr/>
          <p:nvPr/>
        </p:nvSpPr>
        <p:spPr>
          <a:xfrm>
            <a:off x="8553325" y="3373273"/>
            <a:ext cx="14907" cy="14908"/>
          </a:xfrm>
          <a:custGeom>
            <a:avLst/>
            <a:gdLst>
              <a:gd name="connsiteX0" fmla="*/ 5311 w 14907"/>
              <a:gd name="connsiteY0" fmla="*/ 317 h 14908"/>
              <a:gd name="connsiteX1" fmla="*/ 317 w 14907"/>
              <a:gd name="connsiteY1" fmla="*/ 9597 h 14908"/>
              <a:gd name="connsiteX2" fmla="*/ 9596 w 14907"/>
              <a:gd name="connsiteY2" fmla="*/ 14591 h 14908"/>
              <a:gd name="connsiteX3" fmla="*/ 14591 w 14907"/>
              <a:gd name="connsiteY3" fmla="*/ 5312 h 14908"/>
              <a:gd name="connsiteX4" fmla="*/ 14590 w 14907"/>
              <a:gd name="connsiteY4" fmla="*/ 5310 h 14908"/>
              <a:gd name="connsiteX5" fmla="*/ 5314 w 14907"/>
              <a:gd name="connsiteY5" fmla="*/ 316 h 14908"/>
              <a:gd name="connsiteX6" fmla="*/ 5311 w 14907"/>
              <a:gd name="connsiteY6" fmla="*/ 317 h 14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07" h="14908">
                <a:moveTo>
                  <a:pt x="5311" y="317"/>
                </a:moveTo>
                <a:cubicBezTo>
                  <a:pt x="1369" y="1501"/>
                  <a:pt x="-867" y="5655"/>
                  <a:pt x="317" y="9597"/>
                </a:cubicBezTo>
                <a:cubicBezTo>
                  <a:pt x="1500" y="13539"/>
                  <a:pt x="5655" y="15775"/>
                  <a:pt x="9596" y="14591"/>
                </a:cubicBezTo>
                <a:cubicBezTo>
                  <a:pt x="13538" y="13408"/>
                  <a:pt x="15774" y="9253"/>
                  <a:pt x="14591" y="5312"/>
                </a:cubicBezTo>
                <a:cubicBezTo>
                  <a:pt x="14590" y="5311"/>
                  <a:pt x="14590" y="5310"/>
                  <a:pt x="14590" y="5310"/>
                </a:cubicBezTo>
                <a:cubicBezTo>
                  <a:pt x="13408" y="1369"/>
                  <a:pt x="9255" y="-866"/>
                  <a:pt x="5314" y="316"/>
                </a:cubicBezTo>
                <a:cubicBezTo>
                  <a:pt x="5313" y="317"/>
                  <a:pt x="5312" y="317"/>
                  <a:pt x="5311" y="317"/>
                </a:cubicBezTo>
                <a:close/>
              </a:path>
            </a:pathLst>
          </a:custGeom>
          <a:solidFill>
            <a:srgbClr val="23F9E8"/>
          </a:solidFill>
          <a:ln w="2679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02" name="자유형 101">
            <a:extLst>
              <a:ext uri="{FF2B5EF4-FFF2-40B4-BE49-F238E27FC236}">
                <a16:creationId xmlns:a16="http://schemas.microsoft.com/office/drawing/2014/main" id="{2C9BE39C-1C67-8F51-AA99-FA611F786698}"/>
              </a:ext>
            </a:extLst>
          </p:cNvPr>
          <p:cNvSpPr/>
          <p:nvPr/>
        </p:nvSpPr>
        <p:spPr>
          <a:xfrm>
            <a:off x="8564376" y="3330353"/>
            <a:ext cx="14907" cy="14907"/>
          </a:xfrm>
          <a:custGeom>
            <a:avLst/>
            <a:gdLst>
              <a:gd name="connsiteX0" fmla="*/ 5312 w 14907"/>
              <a:gd name="connsiteY0" fmla="*/ 316 h 14907"/>
              <a:gd name="connsiteX1" fmla="*/ 316 w 14907"/>
              <a:gd name="connsiteY1" fmla="*/ 9596 h 14907"/>
              <a:gd name="connsiteX2" fmla="*/ 9596 w 14907"/>
              <a:gd name="connsiteY2" fmla="*/ 14591 h 14907"/>
              <a:gd name="connsiteX3" fmla="*/ 14591 w 14907"/>
              <a:gd name="connsiteY3" fmla="*/ 5312 h 14907"/>
              <a:gd name="connsiteX4" fmla="*/ 14591 w 14907"/>
              <a:gd name="connsiteY4" fmla="*/ 5312 h 14907"/>
              <a:gd name="connsiteX5" fmla="*/ 5312 w 14907"/>
              <a:gd name="connsiteY5" fmla="*/ 316 h 1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907" h="14907">
                <a:moveTo>
                  <a:pt x="5312" y="316"/>
                </a:moveTo>
                <a:cubicBezTo>
                  <a:pt x="1370" y="1499"/>
                  <a:pt x="-866" y="5654"/>
                  <a:pt x="316" y="9596"/>
                </a:cubicBezTo>
                <a:cubicBezTo>
                  <a:pt x="1500" y="13538"/>
                  <a:pt x="5654" y="15774"/>
                  <a:pt x="9596" y="14591"/>
                </a:cubicBezTo>
                <a:cubicBezTo>
                  <a:pt x="13538" y="13408"/>
                  <a:pt x="15774" y="9254"/>
                  <a:pt x="14591" y="5312"/>
                </a:cubicBezTo>
                <a:cubicBezTo>
                  <a:pt x="14591" y="5312"/>
                  <a:pt x="14591" y="5312"/>
                  <a:pt x="14591" y="5312"/>
                </a:cubicBezTo>
                <a:cubicBezTo>
                  <a:pt x="13408" y="1370"/>
                  <a:pt x="9254" y="-866"/>
                  <a:pt x="5312" y="316"/>
                </a:cubicBezTo>
                <a:close/>
              </a:path>
            </a:pathLst>
          </a:custGeom>
          <a:solidFill>
            <a:srgbClr val="23F9E8"/>
          </a:solidFill>
          <a:ln w="2679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03" name="자유형 102">
            <a:extLst>
              <a:ext uri="{FF2B5EF4-FFF2-40B4-BE49-F238E27FC236}">
                <a16:creationId xmlns:a16="http://schemas.microsoft.com/office/drawing/2014/main" id="{2ECD07CC-10DA-0D47-B6A1-A4BAB99C64CB}"/>
              </a:ext>
            </a:extLst>
          </p:cNvPr>
          <p:cNvSpPr/>
          <p:nvPr/>
        </p:nvSpPr>
        <p:spPr>
          <a:xfrm>
            <a:off x="8513508" y="3256677"/>
            <a:ext cx="97049" cy="202488"/>
          </a:xfrm>
          <a:custGeom>
            <a:avLst/>
            <a:gdLst>
              <a:gd name="connsiteX0" fmla="*/ 69319 w 97049"/>
              <a:gd name="connsiteY0" fmla="*/ 0 h 202488"/>
              <a:gd name="connsiteX1" fmla="*/ 41689 w 97049"/>
              <a:gd name="connsiteY1" fmla="*/ 25887 h 202488"/>
              <a:gd name="connsiteX2" fmla="*/ 23060 w 97049"/>
              <a:gd name="connsiteY2" fmla="*/ 58052 h 202488"/>
              <a:gd name="connsiteX3" fmla="*/ 23276 w 97049"/>
              <a:gd name="connsiteY3" fmla="*/ 58815 h 202488"/>
              <a:gd name="connsiteX4" fmla="*/ 8811 w 97049"/>
              <a:gd name="connsiteY4" fmla="*/ 101375 h 202488"/>
              <a:gd name="connsiteX5" fmla="*/ 10093 w 97049"/>
              <a:gd name="connsiteY5" fmla="*/ 103723 h 202488"/>
              <a:gd name="connsiteX6" fmla="*/ 9373 w 97049"/>
              <a:gd name="connsiteY6" fmla="*/ 150699 h 202488"/>
              <a:gd name="connsiteX7" fmla="*/ 19419 w 97049"/>
              <a:gd name="connsiteY7" fmla="*/ 157789 h 202488"/>
              <a:gd name="connsiteX8" fmla="*/ 19419 w 97049"/>
              <a:gd name="connsiteY8" fmla="*/ 158063 h 202488"/>
              <a:gd name="connsiteX9" fmla="*/ 49825 w 97049"/>
              <a:gd name="connsiteY9" fmla="*/ 188567 h 202488"/>
              <a:gd name="connsiteX10" fmla="*/ 56404 w 97049"/>
              <a:gd name="connsiteY10" fmla="*/ 187859 h 202488"/>
              <a:gd name="connsiteX11" fmla="*/ 82425 w 97049"/>
              <a:gd name="connsiteY11" fmla="*/ 201547 h 202488"/>
              <a:gd name="connsiteX12" fmla="*/ 97049 w 97049"/>
              <a:gd name="connsiteY12" fmla="*/ 181643 h 202488"/>
              <a:gd name="connsiteX13" fmla="*/ 97049 w 97049"/>
              <a:gd name="connsiteY13" fmla="*/ 27731 h 202488"/>
              <a:gd name="connsiteX14" fmla="*/ 69324 w 97049"/>
              <a:gd name="connsiteY14" fmla="*/ 0 h 202488"/>
              <a:gd name="connsiteX15" fmla="*/ 69319 w 97049"/>
              <a:gd name="connsiteY15" fmla="*/ 0 h 202488"/>
              <a:gd name="connsiteX16" fmla="*/ 67045 w 97049"/>
              <a:gd name="connsiteY16" fmla="*/ 131880 h 202488"/>
              <a:gd name="connsiteX17" fmla="*/ 64690 w 97049"/>
              <a:gd name="connsiteY17" fmla="*/ 136257 h 202488"/>
              <a:gd name="connsiteX18" fmla="*/ 59804 w 97049"/>
              <a:gd name="connsiteY18" fmla="*/ 136112 h 202488"/>
              <a:gd name="connsiteX19" fmla="*/ 56522 w 97049"/>
              <a:gd name="connsiteY19" fmla="*/ 138733 h 202488"/>
              <a:gd name="connsiteX20" fmla="*/ 55701 w 97049"/>
              <a:gd name="connsiteY20" fmla="*/ 143550 h 202488"/>
              <a:gd name="connsiteX21" fmla="*/ 50963 w 97049"/>
              <a:gd name="connsiteY21" fmla="*/ 144986 h 202488"/>
              <a:gd name="connsiteX22" fmla="*/ 47615 w 97049"/>
              <a:gd name="connsiteY22" fmla="*/ 141449 h 202488"/>
              <a:gd name="connsiteX23" fmla="*/ 43454 w 97049"/>
              <a:gd name="connsiteY23" fmla="*/ 141034 h 202488"/>
              <a:gd name="connsiteX24" fmla="*/ 39430 w 97049"/>
              <a:gd name="connsiteY24" fmla="*/ 143827 h 202488"/>
              <a:gd name="connsiteX25" fmla="*/ 35075 w 97049"/>
              <a:gd name="connsiteY25" fmla="*/ 141482 h 202488"/>
              <a:gd name="connsiteX26" fmla="*/ 35187 w 97049"/>
              <a:gd name="connsiteY26" fmla="*/ 136585 h 202488"/>
              <a:gd name="connsiteX27" fmla="*/ 32571 w 97049"/>
              <a:gd name="connsiteY27" fmla="*/ 133303 h 202488"/>
              <a:gd name="connsiteX28" fmla="*/ 27746 w 97049"/>
              <a:gd name="connsiteY28" fmla="*/ 132466 h 202488"/>
              <a:gd name="connsiteX29" fmla="*/ 26321 w 97049"/>
              <a:gd name="connsiteY29" fmla="*/ 127719 h 202488"/>
              <a:gd name="connsiteX30" fmla="*/ 29896 w 97049"/>
              <a:gd name="connsiteY30" fmla="*/ 124401 h 202488"/>
              <a:gd name="connsiteX31" fmla="*/ 30276 w 97049"/>
              <a:gd name="connsiteY31" fmla="*/ 120221 h 202488"/>
              <a:gd name="connsiteX32" fmla="*/ 27472 w 97049"/>
              <a:gd name="connsiteY32" fmla="*/ 116235 h 202488"/>
              <a:gd name="connsiteX33" fmla="*/ 29828 w 97049"/>
              <a:gd name="connsiteY33" fmla="*/ 111858 h 202488"/>
              <a:gd name="connsiteX34" fmla="*/ 34733 w 97049"/>
              <a:gd name="connsiteY34" fmla="*/ 111998 h 202488"/>
              <a:gd name="connsiteX35" fmla="*/ 37974 w 97049"/>
              <a:gd name="connsiteY35" fmla="*/ 109361 h 202488"/>
              <a:gd name="connsiteX36" fmla="*/ 38795 w 97049"/>
              <a:gd name="connsiteY36" fmla="*/ 104541 h 202488"/>
              <a:gd name="connsiteX37" fmla="*/ 43541 w 97049"/>
              <a:gd name="connsiteY37" fmla="*/ 103115 h 202488"/>
              <a:gd name="connsiteX38" fmla="*/ 46895 w 97049"/>
              <a:gd name="connsiteY38" fmla="*/ 106688 h 202488"/>
              <a:gd name="connsiteX39" fmla="*/ 51083 w 97049"/>
              <a:gd name="connsiteY39" fmla="*/ 107096 h 202488"/>
              <a:gd name="connsiteX40" fmla="*/ 55080 w 97049"/>
              <a:gd name="connsiteY40" fmla="*/ 104281 h 202488"/>
              <a:gd name="connsiteX41" fmla="*/ 59457 w 97049"/>
              <a:gd name="connsiteY41" fmla="*/ 106639 h 202488"/>
              <a:gd name="connsiteX42" fmla="*/ 59312 w 97049"/>
              <a:gd name="connsiteY42" fmla="*/ 111525 h 202488"/>
              <a:gd name="connsiteX43" fmla="*/ 61960 w 97049"/>
              <a:gd name="connsiteY43" fmla="*/ 114807 h 202488"/>
              <a:gd name="connsiteX44" fmla="*/ 66777 w 97049"/>
              <a:gd name="connsiteY44" fmla="*/ 115628 h 202488"/>
              <a:gd name="connsiteX45" fmla="*/ 68203 w 97049"/>
              <a:gd name="connsiteY45" fmla="*/ 120372 h 202488"/>
              <a:gd name="connsiteX46" fmla="*/ 64646 w 97049"/>
              <a:gd name="connsiteY46" fmla="*/ 123728 h 202488"/>
              <a:gd name="connsiteX47" fmla="*/ 64231 w 97049"/>
              <a:gd name="connsiteY47" fmla="*/ 127889 h 202488"/>
              <a:gd name="connsiteX48" fmla="*/ 78045 w 97049"/>
              <a:gd name="connsiteY48" fmla="*/ 88964 h 202488"/>
              <a:gd name="connsiteX49" fmla="*/ 75690 w 97049"/>
              <a:gd name="connsiteY49" fmla="*/ 93341 h 202488"/>
              <a:gd name="connsiteX50" fmla="*/ 70804 w 97049"/>
              <a:gd name="connsiteY50" fmla="*/ 93193 h 202488"/>
              <a:gd name="connsiteX51" fmla="*/ 67562 w 97049"/>
              <a:gd name="connsiteY51" fmla="*/ 95833 h 202488"/>
              <a:gd name="connsiteX52" fmla="*/ 66723 w 97049"/>
              <a:gd name="connsiteY52" fmla="*/ 100670 h 202488"/>
              <a:gd name="connsiteX53" fmla="*/ 61979 w 97049"/>
              <a:gd name="connsiteY53" fmla="*/ 102095 h 202488"/>
              <a:gd name="connsiteX54" fmla="*/ 58623 w 97049"/>
              <a:gd name="connsiteY54" fmla="*/ 98539 h 202488"/>
              <a:gd name="connsiteX55" fmla="*/ 54462 w 97049"/>
              <a:gd name="connsiteY55" fmla="*/ 98123 h 202488"/>
              <a:gd name="connsiteX56" fmla="*/ 50465 w 97049"/>
              <a:gd name="connsiteY56" fmla="*/ 100938 h 202488"/>
              <a:gd name="connsiteX57" fmla="*/ 46088 w 97049"/>
              <a:gd name="connsiteY57" fmla="*/ 98583 h 202488"/>
              <a:gd name="connsiteX58" fmla="*/ 46271 w 97049"/>
              <a:gd name="connsiteY58" fmla="*/ 93642 h 202488"/>
              <a:gd name="connsiteX59" fmla="*/ 43631 w 97049"/>
              <a:gd name="connsiteY59" fmla="*/ 90400 h 202488"/>
              <a:gd name="connsiteX60" fmla="*/ 38811 w 97049"/>
              <a:gd name="connsiteY60" fmla="*/ 89580 h 202488"/>
              <a:gd name="connsiteX61" fmla="*/ 37389 w 97049"/>
              <a:gd name="connsiteY61" fmla="*/ 84836 h 202488"/>
              <a:gd name="connsiteX62" fmla="*/ 40945 w 97049"/>
              <a:gd name="connsiteY62" fmla="*/ 81480 h 202488"/>
              <a:gd name="connsiteX63" fmla="*/ 41350 w 97049"/>
              <a:gd name="connsiteY63" fmla="*/ 77322 h 202488"/>
              <a:gd name="connsiteX64" fmla="*/ 38491 w 97049"/>
              <a:gd name="connsiteY64" fmla="*/ 73314 h 202488"/>
              <a:gd name="connsiteX65" fmla="*/ 40885 w 97049"/>
              <a:gd name="connsiteY65" fmla="*/ 68912 h 202488"/>
              <a:gd name="connsiteX66" fmla="*/ 45771 w 97049"/>
              <a:gd name="connsiteY66" fmla="*/ 69060 h 202488"/>
              <a:gd name="connsiteX67" fmla="*/ 49040 w 97049"/>
              <a:gd name="connsiteY67" fmla="*/ 66442 h 202488"/>
              <a:gd name="connsiteX68" fmla="*/ 49877 w 97049"/>
              <a:gd name="connsiteY68" fmla="*/ 61619 h 202488"/>
              <a:gd name="connsiteX69" fmla="*/ 54631 w 97049"/>
              <a:gd name="connsiteY69" fmla="*/ 60183 h 202488"/>
              <a:gd name="connsiteX70" fmla="*/ 57980 w 97049"/>
              <a:gd name="connsiteY70" fmla="*/ 63717 h 202488"/>
              <a:gd name="connsiteX71" fmla="*/ 62138 w 97049"/>
              <a:gd name="connsiteY71" fmla="*/ 64136 h 202488"/>
              <a:gd name="connsiteX72" fmla="*/ 66137 w 97049"/>
              <a:gd name="connsiteY72" fmla="*/ 61329 h 202488"/>
              <a:gd name="connsiteX73" fmla="*/ 70514 w 97049"/>
              <a:gd name="connsiteY73" fmla="*/ 63687 h 202488"/>
              <a:gd name="connsiteX74" fmla="*/ 70364 w 97049"/>
              <a:gd name="connsiteY74" fmla="*/ 68595 h 202488"/>
              <a:gd name="connsiteX75" fmla="*/ 73004 w 97049"/>
              <a:gd name="connsiteY75" fmla="*/ 71837 h 202488"/>
              <a:gd name="connsiteX76" fmla="*/ 77824 w 97049"/>
              <a:gd name="connsiteY76" fmla="*/ 72657 h 202488"/>
              <a:gd name="connsiteX77" fmla="*/ 79249 w 97049"/>
              <a:gd name="connsiteY77" fmla="*/ 77401 h 202488"/>
              <a:gd name="connsiteX78" fmla="*/ 75693 w 97049"/>
              <a:gd name="connsiteY78" fmla="*/ 80760 h 202488"/>
              <a:gd name="connsiteX79" fmla="*/ 75239 w 97049"/>
              <a:gd name="connsiteY79" fmla="*/ 84973 h 202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97049" h="202488">
                <a:moveTo>
                  <a:pt x="69319" y="0"/>
                </a:moveTo>
                <a:cubicBezTo>
                  <a:pt x="54731" y="11"/>
                  <a:pt x="42650" y="11331"/>
                  <a:pt x="41689" y="25887"/>
                </a:cubicBezTo>
                <a:cubicBezTo>
                  <a:pt x="27663" y="29625"/>
                  <a:pt x="19322" y="44026"/>
                  <a:pt x="23060" y="58052"/>
                </a:cubicBezTo>
                <a:cubicBezTo>
                  <a:pt x="23128" y="58308"/>
                  <a:pt x="23200" y="58562"/>
                  <a:pt x="23276" y="58815"/>
                </a:cubicBezTo>
                <a:cubicBezTo>
                  <a:pt x="7529" y="66573"/>
                  <a:pt x="1053" y="85628"/>
                  <a:pt x="8811" y="101375"/>
                </a:cubicBezTo>
                <a:cubicBezTo>
                  <a:pt x="9205" y="102175"/>
                  <a:pt x="9633" y="102958"/>
                  <a:pt x="10093" y="103723"/>
                </a:cubicBezTo>
                <a:cubicBezTo>
                  <a:pt x="-3078" y="116496"/>
                  <a:pt x="-3400" y="137528"/>
                  <a:pt x="9373" y="150699"/>
                </a:cubicBezTo>
                <a:cubicBezTo>
                  <a:pt x="12251" y="153667"/>
                  <a:pt x="15658" y="156071"/>
                  <a:pt x="19419" y="157789"/>
                </a:cubicBezTo>
                <a:cubicBezTo>
                  <a:pt x="19419" y="157882"/>
                  <a:pt x="19419" y="157972"/>
                  <a:pt x="19419" y="158063"/>
                </a:cubicBezTo>
                <a:cubicBezTo>
                  <a:pt x="19392" y="174883"/>
                  <a:pt x="33005" y="188540"/>
                  <a:pt x="49825" y="188567"/>
                </a:cubicBezTo>
                <a:cubicBezTo>
                  <a:pt x="52037" y="188570"/>
                  <a:pt x="54243" y="188333"/>
                  <a:pt x="56404" y="187859"/>
                </a:cubicBezTo>
                <a:cubicBezTo>
                  <a:pt x="59810" y="198824"/>
                  <a:pt x="71460" y="204953"/>
                  <a:pt x="82425" y="201547"/>
                </a:cubicBezTo>
                <a:cubicBezTo>
                  <a:pt x="91140" y="198841"/>
                  <a:pt x="97071" y="190768"/>
                  <a:pt x="97049" y="181643"/>
                </a:cubicBezTo>
                <a:lnTo>
                  <a:pt x="97049" y="27731"/>
                </a:lnTo>
                <a:cubicBezTo>
                  <a:pt x="97051" y="12417"/>
                  <a:pt x="84638" y="2"/>
                  <a:pt x="69324" y="0"/>
                </a:cubicBezTo>
                <a:cubicBezTo>
                  <a:pt x="69322" y="0"/>
                  <a:pt x="69321" y="0"/>
                  <a:pt x="69319" y="0"/>
                </a:cubicBezTo>
                <a:close/>
                <a:moveTo>
                  <a:pt x="67045" y="131880"/>
                </a:moveTo>
                <a:lnTo>
                  <a:pt x="64690" y="136257"/>
                </a:lnTo>
                <a:lnTo>
                  <a:pt x="59804" y="136112"/>
                </a:lnTo>
                <a:cubicBezTo>
                  <a:pt x="58821" y="137116"/>
                  <a:pt x="57718" y="137996"/>
                  <a:pt x="56522" y="138733"/>
                </a:cubicBezTo>
                <a:lnTo>
                  <a:pt x="55701" y="143550"/>
                </a:lnTo>
                <a:lnTo>
                  <a:pt x="50963" y="144986"/>
                </a:lnTo>
                <a:lnTo>
                  <a:pt x="47615" y="141449"/>
                </a:lnTo>
                <a:cubicBezTo>
                  <a:pt x="46216" y="141481"/>
                  <a:pt x="44818" y="141341"/>
                  <a:pt x="43454" y="141034"/>
                </a:cubicBezTo>
                <a:lnTo>
                  <a:pt x="39430" y="143827"/>
                </a:lnTo>
                <a:lnTo>
                  <a:pt x="35075" y="141482"/>
                </a:lnTo>
                <a:lnTo>
                  <a:pt x="35187" y="136585"/>
                </a:lnTo>
                <a:cubicBezTo>
                  <a:pt x="34185" y="135601"/>
                  <a:pt x="33307" y="134499"/>
                  <a:pt x="32571" y="133303"/>
                </a:cubicBezTo>
                <a:lnTo>
                  <a:pt x="27746" y="132466"/>
                </a:lnTo>
                <a:lnTo>
                  <a:pt x="26321" y="127719"/>
                </a:lnTo>
                <a:lnTo>
                  <a:pt x="29896" y="124401"/>
                </a:lnTo>
                <a:cubicBezTo>
                  <a:pt x="29853" y="122997"/>
                  <a:pt x="29981" y="121594"/>
                  <a:pt x="30276" y="120221"/>
                </a:cubicBezTo>
                <a:lnTo>
                  <a:pt x="27472" y="116235"/>
                </a:lnTo>
                <a:lnTo>
                  <a:pt x="29828" y="111858"/>
                </a:lnTo>
                <a:lnTo>
                  <a:pt x="34733" y="111998"/>
                </a:lnTo>
                <a:cubicBezTo>
                  <a:pt x="35703" y="110992"/>
                  <a:pt x="36791" y="110106"/>
                  <a:pt x="37974" y="109361"/>
                </a:cubicBezTo>
                <a:lnTo>
                  <a:pt x="38795" y="104541"/>
                </a:lnTo>
                <a:lnTo>
                  <a:pt x="43541" y="103115"/>
                </a:lnTo>
                <a:lnTo>
                  <a:pt x="46895" y="106688"/>
                </a:lnTo>
                <a:cubicBezTo>
                  <a:pt x="48303" y="106652"/>
                  <a:pt x="49709" y="106789"/>
                  <a:pt x="51083" y="107096"/>
                </a:cubicBezTo>
                <a:lnTo>
                  <a:pt x="55080" y="104281"/>
                </a:lnTo>
                <a:lnTo>
                  <a:pt x="59457" y="106639"/>
                </a:lnTo>
                <a:lnTo>
                  <a:pt x="59312" y="111525"/>
                </a:lnTo>
                <a:cubicBezTo>
                  <a:pt x="60325" y="112507"/>
                  <a:pt x="61214" y="113609"/>
                  <a:pt x="61960" y="114807"/>
                </a:cubicBezTo>
                <a:lnTo>
                  <a:pt x="66777" y="115628"/>
                </a:lnTo>
                <a:lnTo>
                  <a:pt x="68203" y="120372"/>
                </a:lnTo>
                <a:lnTo>
                  <a:pt x="64646" y="123728"/>
                </a:lnTo>
                <a:cubicBezTo>
                  <a:pt x="64676" y="125127"/>
                  <a:pt x="64537" y="126524"/>
                  <a:pt x="64231" y="127889"/>
                </a:cubicBezTo>
                <a:close/>
                <a:moveTo>
                  <a:pt x="78045" y="88964"/>
                </a:moveTo>
                <a:lnTo>
                  <a:pt x="75690" y="93341"/>
                </a:lnTo>
                <a:lnTo>
                  <a:pt x="70804" y="93193"/>
                </a:lnTo>
                <a:cubicBezTo>
                  <a:pt x="69834" y="94201"/>
                  <a:pt x="68745" y="95087"/>
                  <a:pt x="67562" y="95833"/>
                </a:cubicBezTo>
                <a:lnTo>
                  <a:pt x="66723" y="100670"/>
                </a:lnTo>
                <a:lnTo>
                  <a:pt x="61979" y="102095"/>
                </a:lnTo>
                <a:lnTo>
                  <a:pt x="58623" y="98539"/>
                </a:lnTo>
                <a:cubicBezTo>
                  <a:pt x="57224" y="98570"/>
                  <a:pt x="55826" y="98431"/>
                  <a:pt x="54462" y="98123"/>
                </a:cubicBezTo>
                <a:lnTo>
                  <a:pt x="50465" y="100938"/>
                </a:lnTo>
                <a:lnTo>
                  <a:pt x="46088" y="98583"/>
                </a:lnTo>
                <a:lnTo>
                  <a:pt x="46271" y="93642"/>
                </a:lnTo>
                <a:cubicBezTo>
                  <a:pt x="45262" y="92674"/>
                  <a:pt x="44375" y="91585"/>
                  <a:pt x="43631" y="90400"/>
                </a:cubicBezTo>
                <a:lnTo>
                  <a:pt x="38811" y="89580"/>
                </a:lnTo>
                <a:lnTo>
                  <a:pt x="37389" y="84836"/>
                </a:lnTo>
                <a:lnTo>
                  <a:pt x="40945" y="81480"/>
                </a:lnTo>
                <a:cubicBezTo>
                  <a:pt x="40910" y="80082"/>
                  <a:pt x="41046" y="78686"/>
                  <a:pt x="41350" y="77322"/>
                </a:cubicBezTo>
                <a:lnTo>
                  <a:pt x="38491" y="73314"/>
                </a:lnTo>
                <a:lnTo>
                  <a:pt x="40885" y="68912"/>
                </a:lnTo>
                <a:lnTo>
                  <a:pt x="45771" y="69060"/>
                </a:lnTo>
                <a:cubicBezTo>
                  <a:pt x="46750" y="68058"/>
                  <a:pt x="47848" y="67179"/>
                  <a:pt x="49040" y="66442"/>
                </a:cubicBezTo>
                <a:lnTo>
                  <a:pt x="49877" y="61619"/>
                </a:lnTo>
                <a:lnTo>
                  <a:pt x="54631" y="60183"/>
                </a:lnTo>
                <a:lnTo>
                  <a:pt x="57980" y="63717"/>
                </a:lnTo>
                <a:cubicBezTo>
                  <a:pt x="59378" y="63688"/>
                  <a:pt x="60774" y="63829"/>
                  <a:pt x="62138" y="64136"/>
                </a:cubicBezTo>
                <a:lnTo>
                  <a:pt x="66137" y="61329"/>
                </a:lnTo>
                <a:lnTo>
                  <a:pt x="70514" y="63687"/>
                </a:lnTo>
                <a:lnTo>
                  <a:pt x="70364" y="68595"/>
                </a:lnTo>
                <a:cubicBezTo>
                  <a:pt x="71373" y="69563"/>
                  <a:pt x="72259" y="70652"/>
                  <a:pt x="73004" y="71837"/>
                </a:cubicBezTo>
                <a:lnTo>
                  <a:pt x="77824" y="72657"/>
                </a:lnTo>
                <a:lnTo>
                  <a:pt x="79249" y="77401"/>
                </a:lnTo>
                <a:lnTo>
                  <a:pt x="75693" y="80760"/>
                </a:lnTo>
                <a:cubicBezTo>
                  <a:pt x="75714" y="82178"/>
                  <a:pt x="75562" y="83593"/>
                  <a:pt x="75239" y="84973"/>
                </a:cubicBezTo>
                <a:close/>
              </a:path>
            </a:pathLst>
          </a:custGeom>
          <a:solidFill>
            <a:srgbClr val="23F9E8"/>
          </a:solidFill>
          <a:ln w="2679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A99F9B2-A754-1B30-C069-EF89348B0F25}"/>
              </a:ext>
            </a:extLst>
          </p:cNvPr>
          <p:cNvSpPr txBox="1"/>
          <p:nvPr/>
        </p:nvSpPr>
        <p:spPr>
          <a:xfrm>
            <a:off x="8848800" y="3111674"/>
            <a:ext cx="275748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스미싱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및 허위 광고의 기술적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언어적 패</a:t>
            </a:r>
            <a:endParaRPr kumimoji="1" lang="en-US" altLang="ko-KR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턴 학습</a:t>
            </a: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C568EF39-50D3-7F7B-9B28-2030B0206D72}"/>
              </a:ext>
            </a:extLst>
          </p:cNvPr>
          <p:cNvSpPr/>
          <p:nvPr/>
        </p:nvSpPr>
        <p:spPr>
          <a:xfrm>
            <a:off x="8429501" y="3992373"/>
            <a:ext cx="389299" cy="3676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A7300D1-54E5-1387-7350-5832CC05C9BE}"/>
              </a:ext>
            </a:extLst>
          </p:cNvPr>
          <p:cNvSpPr txBox="1"/>
          <p:nvPr/>
        </p:nvSpPr>
        <p:spPr>
          <a:xfrm>
            <a:off x="8818800" y="3931648"/>
            <a:ext cx="288732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절대 제공해서는 안 되는 민감 정보의 종류</a:t>
            </a:r>
            <a:endParaRPr kumimoji="1" lang="en-US" altLang="ko-KR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와 위험성 인지</a:t>
            </a: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3EF714F4-C453-A9FF-3C9C-798AB4296341}"/>
              </a:ext>
            </a:extLst>
          </p:cNvPr>
          <p:cNvSpPr/>
          <p:nvPr/>
        </p:nvSpPr>
        <p:spPr>
          <a:xfrm>
            <a:off x="8430226" y="4775446"/>
            <a:ext cx="389299" cy="3676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6" name="자유형 105">
            <a:extLst>
              <a:ext uri="{FF2B5EF4-FFF2-40B4-BE49-F238E27FC236}">
                <a16:creationId xmlns:a16="http://schemas.microsoft.com/office/drawing/2014/main" id="{29C11AF6-C430-5AE5-9540-668B74689C3B}"/>
              </a:ext>
            </a:extLst>
          </p:cNvPr>
          <p:cNvSpPr/>
          <p:nvPr/>
        </p:nvSpPr>
        <p:spPr>
          <a:xfrm flipH="1">
            <a:off x="8645005" y="4871067"/>
            <a:ext cx="54593" cy="54593"/>
          </a:xfrm>
          <a:custGeom>
            <a:avLst/>
            <a:gdLst>
              <a:gd name="connsiteX0" fmla="*/ 51467 w 54593"/>
              <a:gd name="connsiteY0" fmla="*/ 50986 h 54593"/>
              <a:gd name="connsiteX1" fmla="*/ 54594 w 54593"/>
              <a:gd name="connsiteY1" fmla="*/ 43531 h 54593"/>
              <a:gd name="connsiteX2" fmla="*/ 51467 w 54593"/>
              <a:gd name="connsiteY2" fmla="*/ 36075 h 54593"/>
              <a:gd name="connsiteX3" fmla="*/ 18278 w 54593"/>
              <a:gd name="connsiteY3" fmla="*/ 3127 h 54593"/>
              <a:gd name="connsiteX4" fmla="*/ 11063 w 54593"/>
              <a:gd name="connsiteY4" fmla="*/ 0 h 54593"/>
              <a:gd name="connsiteX5" fmla="*/ 3608 w 54593"/>
              <a:gd name="connsiteY5" fmla="*/ 3127 h 54593"/>
              <a:gd name="connsiteX6" fmla="*/ 0 w 54593"/>
              <a:gd name="connsiteY6" fmla="*/ 6734 h 54593"/>
              <a:gd name="connsiteX7" fmla="*/ 47860 w 54593"/>
              <a:gd name="connsiteY7" fmla="*/ 54594 h 54593"/>
              <a:gd name="connsiteX8" fmla="*/ 51467 w 54593"/>
              <a:gd name="connsiteY8" fmla="*/ 50986 h 54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593" h="54593">
                <a:moveTo>
                  <a:pt x="51467" y="50986"/>
                </a:moveTo>
                <a:cubicBezTo>
                  <a:pt x="53391" y="49062"/>
                  <a:pt x="54594" y="46417"/>
                  <a:pt x="54594" y="43531"/>
                </a:cubicBezTo>
                <a:cubicBezTo>
                  <a:pt x="54594" y="40645"/>
                  <a:pt x="53391" y="37999"/>
                  <a:pt x="51467" y="36075"/>
                </a:cubicBezTo>
                <a:lnTo>
                  <a:pt x="18278" y="3127"/>
                </a:lnTo>
                <a:cubicBezTo>
                  <a:pt x="16354" y="1203"/>
                  <a:pt x="13709" y="0"/>
                  <a:pt x="11063" y="0"/>
                </a:cubicBezTo>
                <a:cubicBezTo>
                  <a:pt x="8418" y="0"/>
                  <a:pt x="5532" y="1203"/>
                  <a:pt x="3608" y="3127"/>
                </a:cubicBezTo>
                <a:lnTo>
                  <a:pt x="0" y="6734"/>
                </a:lnTo>
                <a:lnTo>
                  <a:pt x="47860" y="54594"/>
                </a:lnTo>
                <a:lnTo>
                  <a:pt x="51467" y="50986"/>
                </a:lnTo>
                <a:close/>
              </a:path>
            </a:pathLst>
          </a:custGeom>
          <a:solidFill>
            <a:srgbClr val="23F9E8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07" name="자유형 106">
            <a:extLst>
              <a:ext uri="{FF2B5EF4-FFF2-40B4-BE49-F238E27FC236}">
                <a16:creationId xmlns:a16="http://schemas.microsoft.com/office/drawing/2014/main" id="{CFBAAE1C-558B-F3F3-079E-CF221B555723}"/>
              </a:ext>
            </a:extLst>
          </p:cNvPr>
          <p:cNvSpPr/>
          <p:nvPr/>
        </p:nvSpPr>
        <p:spPr>
          <a:xfrm flipH="1">
            <a:off x="8544957" y="4885256"/>
            <a:ext cx="178089" cy="178302"/>
          </a:xfrm>
          <a:custGeom>
            <a:avLst/>
            <a:gdLst>
              <a:gd name="connsiteX0" fmla="*/ 123256 w 178089"/>
              <a:gd name="connsiteY0" fmla="*/ 121694 h 178302"/>
              <a:gd name="connsiteX1" fmla="*/ 119648 w 178089"/>
              <a:gd name="connsiteY1" fmla="*/ 123137 h 178302"/>
              <a:gd name="connsiteX2" fmla="*/ 116041 w 178089"/>
              <a:gd name="connsiteY2" fmla="*/ 121694 h 178302"/>
              <a:gd name="connsiteX3" fmla="*/ 56396 w 178089"/>
              <a:gd name="connsiteY3" fmla="*/ 62290 h 178302"/>
              <a:gd name="connsiteX4" fmla="*/ 54953 w 178089"/>
              <a:gd name="connsiteY4" fmla="*/ 58682 h 178302"/>
              <a:gd name="connsiteX5" fmla="*/ 56396 w 178089"/>
              <a:gd name="connsiteY5" fmla="*/ 55075 h 178302"/>
              <a:gd name="connsiteX6" fmla="*/ 63852 w 178089"/>
              <a:gd name="connsiteY6" fmla="*/ 47860 h 178302"/>
              <a:gd name="connsiteX7" fmla="*/ 15992 w 178089"/>
              <a:gd name="connsiteY7" fmla="*/ 0 h 178302"/>
              <a:gd name="connsiteX8" fmla="*/ 8056 w 178089"/>
              <a:gd name="connsiteY8" fmla="*/ 7937 h 178302"/>
              <a:gd name="connsiteX9" fmla="*/ 119 w 178089"/>
              <a:gd name="connsiteY9" fmla="*/ 25012 h 178302"/>
              <a:gd name="connsiteX10" fmla="*/ 5651 w 178089"/>
              <a:gd name="connsiteY10" fmla="*/ 56277 h 178302"/>
              <a:gd name="connsiteX11" fmla="*/ 20081 w 178089"/>
              <a:gd name="connsiteY11" fmla="*/ 81530 h 178302"/>
              <a:gd name="connsiteX12" fmla="*/ 93434 w 178089"/>
              <a:gd name="connsiteY12" fmla="*/ 157288 h 178302"/>
              <a:gd name="connsiteX13" fmla="*/ 108585 w 178089"/>
              <a:gd name="connsiteY13" fmla="*/ 166908 h 178302"/>
              <a:gd name="connsiteX14" fmla="*/ 147065 w 178089"/>
              <a:gd name="connsiteY14" fmla="*/ 178211 h 178302"/>
              <a:gd name="connsiteX15" fmla="*/ 171596 w 178089"/>
              <a:gd name="connsiteY15" fmla="*/ 168591 h 178302"/>
              <a:gd name="connsiteX16" fmla="*/ 178090 w 178089"/>
              <a:gd name="connsiteY16" fmla="*/ 162098 h 178302"/>
              <a:gd name="connsiteX17" fmla="*/ 130471 w 178089"/>
              <a:gd name="connsiteY17" fmla="*/ 114238 h 178302"/>
              <a:gd name="connsiteX18" fmla="*/ 123256 w 178089"/>
              <a:gd name="connsiteY18" fmla="*/ 121694 h 178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78089" h="178302">
                <a:moveTo>
                  <a:pt x="123256" y="121694"/>
                </a:moveTo>
                <a:cubicBezTo>
                  <a:pt x="122294" y="122656"/>
                  <a:pt x="120851" y="123137"/>
                  <a:pt x="119648" y="123137"/>
                </a:cubicBezTo>
                <a:cubicBezTo>
                  <a:pt x="118446" y="123137"/>
                  <a:pt x="117003" y="122656"/>
                  <a:pt x="116041" y="121694"/>
                </a:cubicBezTo>
                <a:lnTo>
                  <a:pt x="56396" y="62290"/>
                </a:lnTo>
                <a:cubicBezTo>
                  <a:pt x="55434" y="61328"/>
                  <a:pt x="54953" y="59885"/>
                  <a:pt x="54953" y="58682"/>
                </a:cubicBezTo>
                <a:cubicBezTo>
                  <a:pt x="54953" y="57480"/>
                  <a:pt x="55434" y="56037"/>
                  <a:pt x="56396" y="55075"/>
                </a:cubicBezTo>
                <a:lnTo>
                  <a:pt x="63852" y="47860"/>
                </a:lnTo>
                <a:lnTo>
                  <a:pt x="15992" y="0"/>
                </a:lnTo>
                <a:cubicBezTo>
                  <a:pt x="12866" y="3127"/>
                  <a:pt x="9980" y="6013"/>
                  <a:pt x="8056" y="7937"/>
                </a:cubicBezTo>
                <a:cubicBezTo>
                  <a:pt x="3246" y="12506"/>
                  <a:pt x="360" y="18519"/>
                  <a:pt x="119" y="25012"/>
                </a:cubicBezTo>
                <a:cubicBezTo>
                  <a:pt x="-602" y="35835"/>
                  <a:pt x="2043" y="46176"/>
                  <a:pt x="5651" y="56277"/>
                </a:cubicBezTo>
                <a:cubicBezTo>
                  <a:pt x="9499" y="65176"/>
                  <a:pt x="14549" y="73593"/>
                  <a:pt x="20081" y="81530"/>
                </a:cubicBezTo>
                <a:cubicBezTo>
                  <a:pt x="39802" y="111111"/>
                  <a:pt x="64573" y="136845"/>
                  <a:pt x="93434" y="157288"/>
                </a:cubicBezTo>
                <a:cubicBezTo>
                  <a:pt x="98244" y="160895"/>
                  <a:pt x="103294" y="164022"/>
                  <a:pt x="108585" y="166908"/>
                </a:cubicBezTo>
                <a:cubicBezTo>
                  <a:pt x="120610" y="172920"/>
                  <a:pt x="133357" y="177249"/>
                  <a:pt x="147065" y="178211"/>
                </a:cubicBezTo>
                <a:cubicBezTo>
                  <a:pt x="156204" y="178933"/>
                  <a:pt x="165343" y="175325"/>
                  <a:pt x="171596" y="168591"/>
                </a:cubicBezTo>
                <a:lnTo>
                  <a:pt x="178090" y="162098"/>
                </a:lnTo>
                <a:lnTo>
                  <a:pt x="130471" y="114238"/>
                </a:lnTo>
                <a:lnTo>
                  <a:pt x="123256" y="121694"/>
                </a:lnTo>
                <a:close/>
              </a:path>
            </a:pathLst>
          </a:custGeom>
          <a:solidFill>
            <a:srgbClr val="23F9E8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08" name="자유형 107">
            <a:extLst>
              <a:ext uri="{FF2B5EF4-FFF2-40B4-BE49-F238E27FC236}">
                <a16:creationId xmlns:a16="http://schemas.microsoft.com/office/drawing/2014/main" id="{4E8897E4-AD56-CC3D-0C66-465163F83ED0}"/>
              </a:ext>
            </a:extLst>
          </p:cNvPr>
          <p:cNvSpPr/>
          <p:nvPr/>
        </p:nvSpPr>
        <p:spPr>
          <a:xfrm flipH="1">
            <a:off x="8531008" y="4985305"/>
            <a:ext cx="54593" cy="54834"/>
          </a:xfrm>
          <a:custGeom>
            <a:avLst/>
            <a:gdLst>
              <a:gd name="connsiteX0" fmla="*/ 51708 w 54593"/>
              <a:gd name="connsiteY0" fmla="*/ 36316 h 54834"/>
              <a:gd name="connsiteX1" fmla="*/ 18519 w 54593"/>
              <a:gd name="connsiteY1" fmla="*/ 3127 h 54834"/>
              <a:gd name="connsiteX2" fmla="*/ 11063 w 54593"/>
              <a:gd name="connsiteY2" fmla="*/ 0 h 54834"/>
              <a:gd name="connsiteX3" fmla="*/ 3608 w 54593"/>
              <a:gd name="connsiteY3" fmla="*/ 3127 h 54834"/>
              <a:gd name="connsiteX4" fmla="*/ 0 w 54593"/>
              <a:gd name="connsiteY4" fmla="*/ 6975 h 54834"/>
              <a:gd name="connsiteX5" fmla="*/ 47860 w 54593"/>
              <a:gd name="connsiteY5" fmla="*/ 54834 h 54834"/>
              <a:gd name="connsiteX6" fmla="*/ 51467 w 54593"/>
              <a:gd name="connsiteY6" fmla="*/ 51227 h 54834"/>
              <a:gd name="connsiteX7" fmla="*/ 54594 w 54593"/>
              <a:gd name="connsiteY7" fmla="*/ 43771 h 54834"/>
              <a:gd name="connsiteX8" fmla="*/ 51708 w 54593"/>
              <a:gd name="connsiteY8" fmla="*/ 36316 h 54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593" h="54834">
                <a:moveTo>
                  <a:pt x="51708" y="36316"/>
                </a:moveTo>
                <a:lnTo>
                  <a:pt x="18519" y="3127"/>
                </a:lnTo>
                <a:cubicBezTo>
                  <a:pt x="16595" y="1203"/>
                  <a:pt x="13949" y="0"/>
                  <a:pt x="11063" y="0"/>
                </a:cubicBezTo>
                <a:cubicBezTo>
                  <a:pt x="8177" y="0"/>
                  <a:pt x="5532" y="1203"/>
                  <a:pt x="3608" y="3127"/>
                </a:cubicBezTo>
                <a:lnTo>
                  <a:pt x="0" y="6975"/>
                </a:lnTo>
                <a:lnTo>
                  <a:pt x="47860" y="54834"/>
                </a:lnTo>
                <a:lnTo>
                  <a:pt x="51467" y="51227"/>
                </a:lnTo>
                <a:cubicBezTo>
                  <a:pt x="53391" y="49303"/>
                  <a:pt x="54594" y="46657"/>
                  <a:pt x="54594" y="43771"/>
                </a:cubicBezTo>
                <a:cubicBezTo>
                  <a:pt x="54594" y="40885"/>
                  <a:pt x="53632" y="38240"/>
                  <a:pt x="51708" y="36316"/>
                </a:cubicBezTo>
                <a:close/>
              </a:path>
            </a:pathLst>
          </a:custGeom>
          <a:solidFill>
            <a:srgbClr val="23F9E8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E71D930-68FE-54FE-F9EA-6B00FFF9EA67}"/>
              </a:ext>
            </a:extLst>
          </p:cNvPr>
          <p:cNvSpPr txBox="1"/>
          <p:nvPr/>
        </p:nvSpPr>
        <p:spPr>
          <a:xfrm>
            <a:off x="8818800" y="4821073"/>
            <a:ext cx="231024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즉시 대화 중단 및 신고 절차 숙지</a:t>
            </a:r>
          </a:p>
        </p:txBody>
      </p:sp>
      <p:sp>
        <p:nvSpPr>
          <p:cNvPr id="85" name="모서리가 둥근 직사각형 84">
            <a:extLst>
              <a:ext uri="{FF2B5EF4-FFF2-40B4-BE49-F238E27FC236}">
                <a16:creationId xmlns:a16="http://schemas.microsoft.com/office/drawing/2014/main" id="{CDF9AB40-17F3-1F17-714D-91060936DB34}"/>
              </a:ext>
            </a:extLst>
          </p:cNvPr>
          <p:cNvSpPr/>
          <p:nvPr/>
        </p:nvSpPr>
        <p:spPr>
          <a:xfrm>
            <a:off x="438589" y="5696855"/>
            <a:ext cx="11267540" cy="718874"/>
          </a:xfrm>
          <a:prstGeom prst="roundRect">
            <a:avLst/>
          </a:prstGeom>
          <a:solidFill>
            <a:srgbClr val="FE4151">
              <a:alpha val="3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A509EBE-12B7-C9BA-EE4B-49EAC75E0ABB}"/>
              </a:ext>
            </a:extLst>
          </p:cNvPr>
          <p:cNvSpPr txBox="1"/>
          <p:nvPr/>
        </p:nvSpPr>
        <p:spPr>
          <a:xfrm>
            <a:off x="1082063" y="5910097"/>
            <a:ext cx="567495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골든 타임</a:t>
            </a:r>
            <a:r>
              <a:rPr lang="en-US" altLang="ko-KR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카운터다운과 효과음으로 긴박감 부여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실수 유도 상황 속 올바른 선택 훈련</a:t>
            </a:r>
          </a:p>
        </p:txBody>
      </p:sp>
      <p:pic>
        <p:nvPicPr>
          <p:cNvPr id="88" name="그래픽 87" descr="모래가 다 떨어진 모래 시계 단색으로 채워진">
            <a:extLst>
              <a:ext uri="{FF2B5EF4-FFF2-40B4-BE49-F238E27FC236}">
                <a16:creationId xmlns:a16="http://schemas.microsoft.com/office/drawing/2014/main" id="{C4BCC576-9E9C-82CE-BA70-2AAA998CEB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202" y="5843361"/>
            <a:ext cx="425861" cy="425861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882FC53B-6B5E-126C-1C01-1B26C72A46C6}"/>
              </a:ext>
            </a:extLst>
          </p:cNvPr>
          <p:cNvSpPr txBox="1"/>
          <p:nvPr/>
        </p:nvSpPr>
        <p:spPr>
          <a:xfrm>
            <a:off x="336879" y="856603"/>
            <a:ext cx="34355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kumimoji="1" lang="ko-KR" altLang="en-US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고액 알바의 유혹</a:t>
            </a:r>
            <a:r>
              <a:rPr kumimoji="1" lang="en-US" altLang="ko-KR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kumimoji="1" lang="ko-KR" altLang="en-US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골든 타임 챌린지의 단계별 구성</a:t>
            </a:r>
          </a:p>
        </p:txBody>
      </p:sp>
      <p:sp>
        <p:nvSpPr>
          <p:cNvPr id="90" name="그래픽 46" descr="흰동가리 단색으로 채워진">
            <a:extLst>
              <a:ext uri="{FF2B5EF4-FFF2-40B4-BE49-F238E27FC236}">
                <a16:creationId xmlns:a16="http://schemas.microsoft.com/office/drawing/2014/main" id="{358464E7-CC25-35A3-FA08-B527305F7F24}"/>
              </a:ext>
            </a:extLst>
          </p:cNvPr>
          <p:cNvSpPr/>
          <p:nvPr/>
        </p:nvSpPr>
        <p:spPr>
          <a:xfrm>
            <a:off x="2079639" y="2418798"/>
            <a:ext cx="271304" cy="174653"/>
          </a:xfrm>
          <a:custGeom>
            <a:avLst/>
            <a:gdLst>
              <a:gd name="connsiteX0" fmla="*/ 268515 w 271304"/>
              <a:gd name="connsiteY0" fmla="*/ 78848 h 174653"/>
              <a:gd name="connsiteX1" fmla="*/ 210025 w 271304"/>
              <a:gd name="connsiteY1" fmla="*/ 36163 h 174653"/>
              <a:gd name="connsiteX2" fmla="*/ 159314 w 271304"/>
              <a:gd name="connsiteY2" fmla="*/ 13 h 174653"/>
              <a:gd name="connsiteX3" fmla="*/ 136196 w 271304"/>
              <a:gd name="connsiteY3" fmla="*/ 8825 h 174653"/>
              <a:gd name="connsiteX4" fmla="*/ 131734 w 271304"/>
              <a:gd name="connsiteY4" fmla="*/ 31538 h 174653"/>
              <a:gd name="connsiteX5" fmla="*/ 117451 w 271304"/>
              <a:gd name="connsiteY5" fmla="*/ 34942 h 174653"/>
              <a:gd name="connsiteX6" fmla="*/ 88915 w 271304"/>
              <a:gd name="connsiteY6" fmla="*/ 24823 h 174653"/>
              <a:gd name="connsiteX7" fmla="*/ 68458 w 271304"/>
              <a:gd name="connsiteY7" fmla="*/ 31371 h 174653"/>
              <a:gd name="connsiteX8" fmla="*/ 64834 w 271304"/>
              <a:gd name="connsiteY8" fmla="*/ 63841 h 174653"/>
              <a:gd name="connsiteX9" fmla="*/ 63571 w 271304"/>
              <a:gd name="connsiteY9" fmla="*/ 64788 h 174653"/>
              <a:gd name="connsiteX10" fmla="*/ 61443 w 271304"/>
              <a:gd name="connsiteY10" fmla="*/ 66401 h 174653"/>
              <a:gd name="connsiteX11" fmla="*/ 55472 w 271304"/>
              <a:gd name="connsiteY11" fmla="*/ 68493 h 174653"/>
              <a:gd name="connsiteX12" fmla="*/ 51504 w 271304"/>
              <a:gd name="connsiteY12" fmla="*/ 67603 h 174653"/>
              <a:gd name="connsiteX13" fmla="*/ 34350 w 271304"/>
              <a:gd name="connsiteY13" fmla="*/ 59510 h 174653"/>
              <a:gd name="connsiteX14" fmla="*/ 2993 w 271304"/>
              <a:gd name="connsiteY14" fmla="*/ 70692 h 174653"/>
              <a:gd name="connsiteX15" fmla="*/ 1310 w 271304"/>
              <a:gd name="connsiteY15" fmla="*/ 75551 h 174653"/>
              <a:gd name="connsiteX16" fmla="*/ 1 w 271304"/>
              <a:gd name="connsiteY16" fmla="*/ 88014 h 174653"/>
              <a:gd name="connsiteX17" fmla="*/ 1 w 271304"/>
              <a:gd name="connsiteY17" fmla="*/ 89588 h 174653"/>
              <a:gd name="connsiteX18" fmla="*/ 1310 w 271304"/>
              <a:gd name="connsiteY18" fmla="*/ 102051 h 174653"/>
              <a:gd name="connsiteX19" fmla="*/ 24271 w 271304"/>
              <a:gd name="connsiteY19" fmla="*/ 120360 h 174653"/>
              <a:gd name="connsiteX20" fmla="*/ 24271 w 271304"/>
              <a:gd name="connsiteY20" fmla="*/ 120360 h 174653"/>
              <a:gd name="connsiteX21" fmla="*/ 34350 w 271304"/>
              <a:gd name="connsiteY21" fmla="*/ 118092 h 174653"/>
              <a:gd name="connsiteX22" fmla="*/ 51530 w 271304"/>
              <a:gd name="connsiteY22" fmla="*/ 109976 h 174653"/>
              <a:gd name="connsiteX23" fmla="*/ 61220 w 271304"/>
              <a:gd name="connsiteY23" fmla="*/ 110988 h 174653"/>
              <a:gd name="connsiteX24" fmla="*/ 62792 w 271304"/>
              <a:gd name="connsiteY24" fmla="*/ 112153 h 174653"/>
              <a:gd name="connsiteX25" fmla="*/ 65018 w 271304"/>
              <a:gd name="connsiteY25" fmla="*/ 113816 h 174653"/>
              <a:gd name="connsiteX26" fmla="*/ 67267 w 271304"/>
              <a:gd name="connsiteY26" fmla="*/ 147534 h 174653"/>
              <a:gd name="connsiteX27" fmla="*/ 86306 w 271304"/>
              <a:gd name="connsiteY27" fmla="*/ 154013 h 174653"/>
              <a:gd name="connsiteX28" fmla="*/ 115366 w 271304"/>
              <a:gd name="connsiteY28" fmla="*/ 143308 h 174653"/>
              <a:gd name="connsiteX29" fmla="*/ 132307 w 271304"/>
              <a:gd name="connsiteY29" fmla="*/ 147957 h 174653"/>
              <a:gd name="connsiteX30" fmla="*/ 145817 w 271304"/>
              <a:gd name="connsiteY30" fmla="*/ 173763 h 174653"/>
              <a:gd name="connsiteX31" fmla="*/ 153019 w 271304"/>
              <a:gd name="connsiteY31" fmla="*/ 174653 h 174653"/>
              <a:gd name="connsiteX32" fmla="*/ 193863 w 271304"/>
              <a:gd name="connsiteY32" fmla="*/ 149034 h 174653"/>
              <a:gd name="connsiteX33" fmla="*/ 268570 w 271304"/>
              <a:gd name="connsiteY33" fmla="*/ 102683 h 174653"/>
              <a:gd name="connsiteX34" fmla="*/ 268515 w 271304"/>
              <a:gd name="connsiteY34" fmla="*/ 78848 h 174653"/>
              <a:gd name="connsiteX35" fmla="*/ 228744 w 271304"/>
              <a:gd name="connsiteY35" fmla="*/ 69865 h 174653"/>
              <a:gd name="connsiteX36" fmla="*/ 236633 w 271304"/>
              <a:gd name="connsiteY36" fmla="*/ 77754 h 174653"/>
              <a:gd name="connsiteX37" fmla="*/ 228744 w 271304"/>
              <a:gd name="connsiteY37" fmla="*/ 85644 h 174653"/>
              <a:gd name="connsiteX38" fmla="*/ 220854 w 271304"/>
              <a:gd name="connsiteY38" fmla="*/ 77754 h 174653"/>
              <a:gd name="connsiteX39" fmla="*/ 228737 w 271304"/>
              <a:gd name="connsiteY39" fmla="*/ 69865 h 174653"/>
              <a:gd name="connsiteX40" fmla="*/ 228744 w 271304"/>
              <a:gd name="connsiteY40" fmla="*/ 69865 h 174653"/>
              <a:gd name="connsiteX41" fmla="*/ 214598 w 271304"/>
              <a:gd name="connsiteY41" fmla="*/ 48279 h 174653"/>
              <a:gd name="connsiteX42" fmla="*/ 216910 w 271304"/>
              <a:gd name="connsiteY42" fmla="*/ 132584 h 174653"/>
              <a:gd name="connsiteX43" fmla="*/ 203815 w 271304"/>
              <a:gd name="connsiteY43" fmla="*/ 136745 h 174653"/>
              <a:gd name="connsiteX44" fmla="*/ 200113 w 271304"/>
              <a:gd name="connsiteY44" fmla="*/ 46940 h 174653"/>
              <a:gd name="connsiteX45" fmla="*/ 205720 w 271304"/>
              <a:gd name="connsiteY45" fmla="*/ 44976 h 174653"/>
              <a:gd name="connsiteX46" fmla="*/ 55547 w 271304"/>
              <a:gd name="connsiteY46" fmla="*/ 99252 h 174653"/>
              <a:gd name="connsiteX47" fmla="*/ 49069 w 271304"/>
              <a:gd name="connsiteY47" fmla="*/ 100391 h 174653"/>
              <a:gd name="connsiteX48" fmla="*/ 48109 w 271304"/>
              <a:gd name="connsiteY48" fmla="*/ 87222 h 174653"/>
              <a:gd name="connsiteX49" fmla="*/ 48712 w 271304"/>
              <a:gd name="connsiteY49" fmla="*/ 77073 h 174653"/>
              <a:gd name="connsiteX50" fmla="*/ 55472 w 271304"/>
              <a:gd name="connsiteY50" fmla="*/ 78334 h 174653"/>
              <a:gd name="connsiteX51" fmla="*/ 61842 w 271304"/>
              <a:gd name="connsiteY51" fmla="*/ 77244 h 174653"/>
              <a:gd name="connsiteX52" fmla="*/ 62363 w 271304"/>
              <a:gd name="connsiteY52" fmla="*/ 100571 h 174653"/>
              <a:gd name="connsiteX53" fmla="*/ 55547 w 271304"/>
              <a:gd name="connsiteY53" fmla="*/ 99252 h 174653"/>
              <a:gd name="connsiteX54" fmla="*/ 116885 w 271304"/>
              <a:gd name="connsiteY54" fmla="*/ 133982 h 174653"/>
              <a:gd name="connsiteX55" fmla="*/ 112871 w 271304"/>
              <a:gd name="connsiteY55" fmla="*/ 129458 h 174653"/>
              <a:gd name="connsiteX56" fmla="*/ 110066 w 271304"/>
              <a:gd name="connsiteY56" fmla="*/ 88796 h 174653"/>
              <a:gd name="connsiteX57" fmla="*/ 114547 w 271304"/>
              <a:gd name="connsiteY57" fmla="*/ 48920 h 174653"/>
              <a:gd name="connsiteX58" fmla="*/ 119183 w 271304"/>
              <a:gd name="connsiteY58" fmla="*/ 44357 h 174653"/>
              <a:gd name="connsiteX59" fmla="*/ 122253 w 271304"/>
              <a:gd name="connsiteY59" fmla="*/ 43791 h 174653"/>
              <a:gd name="connsiteX60" fmla="*/ 133573 w 271304"/>
              <a:gd name="connsiteY60" fmla="*/ 41172 h 174653"/>
              <a:gd name="connsiteX61" fmla="*/ 136389 w 271304"/>
              <a:gd name="connsiteY61" fmla="*/ 40553 h 174653"/>
              <a:gd name="connsiteX62" fmla="*/ 136215 w 271304"/>
              <a:gd name="connsiteY62" fmla="*/ 41394 h 174653"/>
              <a:gd name="connsiteX63" fmla="*/ 129707 w 271304"/>
              <a:gd name="connsiteY63" fmla="*/ 88783 h 174653"/>
              <a:gd name="connsiteX64" fmla="*/ 134290 w 271304"/>
              <a:gd name="connsiteY64" fmla="*/ 138329 h 174653"/>
              <a:gd name="connsiteX65" fmla="*/ 134290 w 271304"/>
              <a:gd name="connsiteY65" fmla="*/ 138329 h 174653"/>
              <a:gd name="connsiteX66" fmla="*/ 121883 w 271304"/>
              <a:gd name="connsiteY66" fmla="*/ 135383 h 174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271304" h="174653">
                <a:moveTo>
                  <a:pt x="268515" y="78848"/>
                </a:moveTo>
                <a:cubicBezTo>
                  <a:pt x="259643" y="60928"/>
                  <a:pt x="238908" y="45807"/>
                  <a:pt x="210025" y="36163"/>
                </a:cubicBezTo>
                <a:cubicBezTo>
                  <a:pt x="202990" y="14214"/>
                  <a:pt x="182357" y="-494"/>
                  <a:pt x="159314" y="13"/>
                </a:cubicBezTo>
                <a:cubicBezTo>
                  <a:pt x="148688" y="55"/>
                  <a:pt x="140910" y="3018"/>
                  <a:pt x="136196" y="8825"/>
                </a:cubicBezTo>
                <a:cubicBezTo>
                  <a:pt x="131786" y="14256"/>
                  <a:pt x="130303" y="21887"/>
                  <a:pt x="131734" y="31538"/>
                </a:cubicBezTo>
                <a:cubicBezTo>
                  <a:pt x="126781" y="32484"/>
                  <a:pt x="121991" y="33623"/>
                  <a:pt x="117451" y="34942"/>
                </a:cubicBezTo>
                <a:cubicBezTo>
                  <a:pt x="109328" y="28491"/>
                  <a:pt x="99287" y="24930"/>
                  <a:pt x="88915" y="24823"/>
                </a:cubicBezTo>
                <a:cubicBezTo>
                  <a:pt x="81542" y="24563"/>
                  <a:pt x="74309" y="26878"/>
                  <a:pt x="68458" y="31371"/>
                </a:cubicBezTo>
                <a:cubicBezTo>
                  <a:pt x="58814" y="39512"/>
                  <a:pt x="57223" y="53774"/>
                  <a:pt x="64834" y="63841"/>
                </a:cubicBezTo>
                <a:lnTo>
                  <a:pt x="63571" y="64788"/>
                </a:lnTo>
                <a:cubicBezTo>
                  <a:pt x="62818" y="65347"/>
                  <a:pt x="62124" y="65865"/>
                  <a:pt x="61443" y="66401"/>
                </a:cubicBezTo>
                <a:cubicBezTo>
                  <a:pt x="59743" y="67749"/>
                  <a:pt x="57641" y="68485"/>
                  <a:pt x="55472" y="68493"/>
                </a:cubicBezTo>
                <a:cubicBezTo>
                  <a:pt x="54100" y="68493"/>
                  <a:pt x="52745" y="68189"/>
                  <a:pt x="51504" y="67603"/>
                </a:cubicBezTo>
                <a:lnTo>
                  <a:pt x="34350" y="59510"/>
                </a:lnTo>
                <a:cubicBezTo>
                  <a:pt x="22604" y="53939"/>
                  <a:pt x="8565" y="58945"/>
                  <a:pt x="2993" y="70692"/>
                </a:cubicBezTo>
                <a:cubicBezTo>
                  <a:pt x="2256" y="72245"/>
                  <a:pt x="1692" y="73875"/>
                  <a:pt x="1310" y="75551"/>
                </a:cubicBezTo>
                <a:cubicBezTo>
                  <a:pt x="422" y="79645"/>
                  <a:pt x="-17" y="83824"/>
                  <a:pt x="1" y="88014"/>
                </a:cubicBezTo>
                <a:lnTo>
                  <a:pt x="1" y="89588"/>
                </a:lnTo>
                <a:cubicBezTo>
                  <a:pt x="-16" y="93778"/>
                  <a:pt x="423" y="97956"/>
                  <a:pt x="1310" y="102051"/>
                </a:cubicBezTo>
                <a:cubicBezTo>
                  <a:pt x="3676" y="112813"/>
                  <a:pt x="13253" y="120449"/>
                  <a:pt x="24271" y="120360"/>
                </a:cubicBezTo>
                <a:lnTo>
                  <a:pt x="24271" y="120360"/>
                </a:lnTo>
                <a:cubicBezTo>
                  <a:pt x="27758" y="120363"/>
                  <a:pt x="31201" y="119588"/>
                  <a:pt x="34350" y="118092"/>
                </a:cubicBezTo>
                <a:lnTo>
                  <a:pt x="51530" y="109976"/>
                </a:lnTo>
                <a:cubicBezTo>
                  <a:pt x="54695" y="108476"/>
                  <a:pt x="58433" y="108866"/>
                  <a:pt x="61220" y="110988"/>
                </a:cubicBezTo>
                <a:cubicBezTo>
                  <a:pt x="61731" y="111377"/>
                  <a:pt x="62248" y="111754"/>
                  <a:pt x="62792" y="112153"/>
                </a:cubicBezTo>
                <a:cubicBezTo>
                  <a:pt x="63446" y="112641"/>
                  <a:pt x="64186" y="113171"/>
                  <a:pt x="65018" y="113816"/>
                </a:cubicBezTo>
                <a:cubicBezTo>
                  <a:pt x="55927" y="131494"/>
                  <a:pt x="61119" y="141887"/>
                  <a:pt x="67267" y="147534"/>
                </a:cubicBezTo>
                <a:cubicBezTo>
                  <a:pt x="72586" y="151987"/>
                  <a:pt x="79375" y="154297"/>
                  <a:pt x="86306" y="154013"/>
                </a:cubicBezTo>
                <a:cubicBezTo>
                  <a:pt x="96914" y="153779"/>
                  <a:pt x="107141" y="150012"/>
                  <a:pt x="115366" y="143308"/>
                </a:cubicBezTo>
                <a:cubicBezTo>
                  <a:pt x="120908" y="145215"/>
                  <a:pt x="126567" y="146768"/>
                  <a:pt x="132307" y="147957"/>
                </a:cubicBezTo>
                <a:cubicBezTo>
                  <a:pt x="131671" y="161994"/>
                  <a:pt x="136520" y="171330"/>
                  <a:pt x="145817" y="173763"/>
                </a:cubicBezTo>
                <a:cubicBezTo>
                  <a:pt x="148170" y="174365"/>
                  <a:pt x="150590" y="174664"/>
                  <a:pt x="153019" y="174653"/>
                </a:cubicBezTo>
                <a:cubicBezTo>
                  <a:pt x="168005" y="174653"/>
                  <a:pt x="184606" y="164177"/>
                  <a:pt x="193863" y="149034"/>
                </a:cubicBezTo>
                <a:cubicBezTo>
                  <a:pt x="230534" y="142248"/>
                  <a:pt x="257725" y="125392"/>
                  <a:pt x="268570" y="102683"/>
                </a:cubicBezTo>
                <a:cubicBezTo>
                  <a:pt x="272235" y="95156"/>
                  <a:pt x="272214" y="86358"/>
                  <a:pt x="268515" y="78848"/>
                </a:cubicBezTo>
                <a:close/>
                <a:moveTo>
                  <a:pt x="228744" y="69865"/>
                </a:moveTo>
                <a:cubicBezTo>
                  <a:pt x="233101" y="69865"/>
                  <a:pt x="236633" y="73397"/>
                  <a:pt x="236633" y="77754"/>
                </a:cubicBezTo>
                <a:cubicBezTo>
                  <a:pt x="236633" y="82111"/>
                  <a:pt x="233101" y="85644"/>
                  <a:pt x="228744" y="85644"/>
                </a:cubicBezTo>
                <a:cubicBezTo>
                  <a:pt x="224386" y="85644"/>
                  <a:pt x="220854" y="82111"/>
                  <a:pt x="220854" y="77754"/>
                </a:cubicBezTo>
                <a:cubicBezTo>
                  <a:pt x="220852" y="73399"/>
                  <a:pt x="224382" y="69867"/>
                  <a:pt x="228737" y="69865"/>
                </a:cubicBezTo>
                <a:cubicBezTo>
                  <a:pt x="228739" y="69865"/>
                  <a:pt x="228741" y="69865"/>
                  <a:pt x="228744" y="69865"/>
                </a:cubicBezTo>
                <a:close/>
                <a:moveTo>
                  <a:pt x="214598" y="48279"/>
                </a:moveTo>
                <a:cubicBezTo>
                  <a:pt x="197199" y="73965"/>
                  <a:pt x="198129" y="107889"/>
                  <a:pt x="216910" y="132584"/>
                </a:cubicBezTo>
                <a:cubicBezTo>
                  <a:pt x="212759" y="134136"/>
                  <a:pt x="208398" y="135530"/>
                  <a:pt x="203815" y="136745"/>
                </a:cubicBezTo>
                <a:cubicBezTo>
                  <a:pt x="185587" y="109955"/>
                  <a:pt x="184152" y="75139"/>
                  <a:pt x="200113" y="46940"/>
                </a:cubicBezTo>
                <a:cubicBezTo>
                  <a:pt x="201222" y="44968"/>
                  <a:pt x="203623" y="44127"/>
                  <a:pt x="205720" y="44976"/>
                </a:cubicBezTo>
                <a:close/>
                <a:moveTo>
                  <a:pt x="55547" y="99252"/>
                </a:moveTo>
                <a:cubicBezTo>
                  <a:pt x="53338" y="99260"/>
                  <a:pt x="51147" y="99646"/>
                  <a:pt x="49069" y="100391"/>
                </a:cubicBezTo>
                <a:cubicBezTo>
                  <a:pt x="48438" y="96029"/>
                  <a:pt x="48117" y="91628"/>
                  <a:pt x="48109" y="87222"/>
                </a:cubicBezTo>
                <a:cubicBezTo>
                  <a:pt x="48120" y="83830"/>
                  <a:pt x="48321" y="80442"/>
                  <a:pt x="48712" y="77073"/>
                </a:cubicBezTo>
                <a:cubicBezTo>
                  <a:pt x="50869" y="77903"/>
                  <a:pt x="53160" y="78330"/>
                  <a:pt x="55472" y="78334"/>
                </a:cubicBezTo>
                <a:cubicBezTo>
                  <a:pt x="57641" y="78330"/>
                  <a:pt x="59795" y="77961"/>
                  <a:pt x="61842" y="77244"/>
                </a:cubicBezTo>
                <a:cubicBezTo>
                  <a:pt x="60842" y="85001"/>
                  <a:pt x="61018" y="92866"/>
                  <a:pt x="62363" y="100571"/>
                </a:cubicBezTo>
                <a:cubicBezTo>
                  <a:pt x="60190" y="99720"/>
                  <a:pt x="57880" y="99273"/>
                  <a:pt x="55547" y="99252"/>
                </a:cubicBezTo>
                <a:close/>
                <a:moveTo>
                  <a:pt x="116885" y="133982"/>
                </a:moveTo>
                <a:cubicBezTo>
                  <a:pt x="114779" y="133385"/>
                  <a:pt x="113212" y="131619"/>
                  <a:pt x="112871" y="129458"/>
                </a:cubicBezTo>
                <a:cubicBezTo>
                  <a:pt x="110799" y="116006"/>
                  <a:pt x="109860" y="102405"/>
                  <a:pt x="110066" y="88796"/>
                </a:cubicBezTo>
                <a:cubicBezTo>
                  <a:pt x="110174" y="75385"/>
                  <a:pt x="111676" y="62021"/>
                  <a:pt x="114547" y="48920"/>
                </a:cubicBezTo>
                <a:cubicBezTo>
                  <a:pt x="115012" y="46593"/>
                  <a:pt x="116849" y="44785"/>
                  <a:pt x="119183" y="44357"/>
                </a:cubicBezTo>
                <a:lnTo>
                  <a:pt x="122253" y="43791"/>
                </a:lnTo>
                <a:cubicBezTo>
                  <a:pt x="126296" y="42897"/>
                  <a:pt x="128928" y="42072"/>
                  <a:pt x="133573" y="41172"/>
                </a:cubicBezTo>
                <a:cubicBezTo>
                  <a:pt x="134631" y="40969"/>
                  <a:pt x="135312" y="40844"/>
                  <a:pt x="136389" y="40553"/>
                </a:cubicBezTo>
                <a:lnTo>
                  <a:pt x="136215" y="41394"/>
                </a:lnTo>
                <a:cubicBezTo>
                  <a:pt x="132437" y="59517"/>
                  <a:pt x="129707" y="72611"/>
                  <a:pt x="129707" y="88783"/>
                </a:cubicBezTo>
                <a:cubicBezTo>
                  <a:pt x="129504" y="105413"/>
                  <a:pt x="131040" y="122019"/>
                  <a:pt x="134290" y="138329"/>
                </a:cubicBezTo>
                <a:lnTo>
                  <a:pt x="134290" y="138329"/>
                </a:lnTo>
                <a:cubicBezTo>
                  <a:pt x="128981" y="137232"/>
                  <a:pt x="126473" y="136692"/>
                  <a:pt x="121883" y="135383"/>
                </a:cubicBezTo>
                <a:close/>
              </a:path>
            </a:pathLst>
          </a:custGeom>
          <a:solidFill>
            <a:srgbClr val="23F9E8"/>
          </a:solidFill>
          <a:ln w="317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04" name="그래픽 77" descr="중세 타워 단색으로 채워진">
            <a:extLst>
              <a:ext uri="{FF2B5EF4-FFF2-40B4-BE49-F238E27FC236}">
                <a16:creationId xmlns:a16="http://schemas.microsoft.com/office/drawing/2014/main" id="{6AA6B95C-1E06-EEF7-56EA-4D3F6786B894}"/>
              </a:ext>
            </a:extLst>
          </p:cNvPr>
          <p:cNvSpPr/>
          <p:nvPr/>
        </p:nvSpPr>
        <p:spPr>
          <a:xfrm>
            <a:off x="8547527" y="4050282"/>
            <a:ext cx="134438" cy="246965"/>
          </a:xfrm>
          <a:custGeom>
            <a:avLst/>
            <a:gdLst>
              <a:gd name="connsiteX0" fmla="*/ 133204 w 134438"/>
              <a:gd name="connsiteY0" fmla="*/ 75594 h 246965"/>
              <a:gd name="connsiteX1" fmla="*/ 68302 w 134438"/>
              <a:gd name="connsiteY1" fmla="*/ 16106 h 246965"/>
              <a:gd name="connsiteX2" fmla="*/ 103620 w 134438"/>
              <a:gd name="connsiteY2" fmla="*/ 16106 h 246965"/>
              <a:gd name="connsiteX3" fmla="*/ 93956 w 134438"/>
              <a:gd name="connsiteY3" fmla="*/ 8053 h 246965"/>
              <a:gd name="connsiteX4" fmla="*/ 103620 w 134438"/>
              <a:gd name="connsiteY4" fmla="*/ 0 h 246965"/>
              <a:gd name="connsiteX5" fmla="*/ 66038 w 134438"/>
              <a:gd name="connsiteY5" fmla="*/ 0 h 246965"/>
              <a:gd name="connsiteX6" fmla="*/ 66038 w 134438"/>
              <a:gd name="connsiteY6" fmla="*/ 10745 h 246965"/>
              <a:gd name="connsiteX7" fmla="*/ 1192 w 134438"/>
              <a:gd name="connsiteY7" fmla="*/ 75622 h 246965"/>
              <a:gd name="connsiteX8" fmla="*/ 452 w 134438"/>
              <a:gd name="connsiteY8" fmla="*/ 79341 h 246965"/>
              <a:gd name="connsiteX9" fmla="*/ 2691 w 134438"/>
              <a:gd name="connsiteY9" fmla="*/ 80532 h 246965"/>
              <a:gd name="connsiteX10" fmla="*/ 15037 w 134438"/>
              <a:gd name="connsiteY10" fmla="*/ 80532 h 246965"/>
              <a:gd name="connsiteX11" fmla="*/ 11011 w 134438"/>
              <a:gd name="connsiteY11" fmla="*/ 126167 h 246965"/>
              <a:gd name="connsiteX12" fmla="*/ 28459 w 134438"/>
              <a:gd name="connsiteY12" fmla="*/ 138247 h 246965"/>
              <a:gd name="connsiteX13" fmla="*/ 33828 w 134438"/>
              <a:gd name="connsiteY13" fmla="*/ 246965 h 246965"/>
              <a:gd name="connsiteX14" fmla="*/ 98254 w 134438"/>
              <a:gd name="connsiteY14" fmla="*/ 246965 h 246965"/>
              <a:gd name="connsiteX15" fmla="*/ 103623 w 134438"/>
              <a:gd name="connsiteY15" fmla="*/ 138247 h 246965"/>
              <a:gd name="connsiteX16" fmla="*/ 121071 w 134438"/>
              <a:gd name="connsiteY16" fmla="*/ 126167 h 246965"/>
              <a:gd name="connsiteX17" fmla="*/ 117045 w 134438"/>
              <a:gd name="connsiteY17" fmla="*/ 80532 h 246965"/>
              <a:gd name="connsiteX18" fmla="*/ 131747 w 134438"/>
              <a:gd name="connsiteY18" fmla="*/ 80532 h 246965"/>
              <a:gd name="connsiteX19" fmla="*/ 134438 w 134438"/>
              <a:gd name="connsiteY19" fmla="*/ 77862 h 246965"/>
              <a:gd name="connsiteX20" fmla="*/ 133204 w 134438"/>
              <a:gd name="connsiteY20" fmla="*/ 75594 h 246965"/>
              <a:gd name="connsiteX21" fmla="*/ 60672 w 134438"/>
              <a:gd name="connsiteY21" fmla="*/ 91270 h 246965"/>
              <a:gd name="connsiteX22" fmla="*/ 66041 w 134438"/>
              <a:gd name="connsiteY22" fmla="*/ 85901 h 246965"/>
              <a:gd name="connsiteX23" fmla="*/ 71410 w 134438"/>
              <a:gd name="connsiteY23" fmla="*/ 91270 h 246965"/>
              <a:gd name="connsiteX24" fmla="*/ 71410 w 134438"/>
              <a:gd name="connsiteY24" fmla="*/ 107376 h 246965"/>
              <a:gd name="connsiteX25" fmla="*/ 60672 w 134438"/>
              <a:gd name="connsiteY25" fmla="*/ 107376 h 246965"/>
              <a:gd name="connsiteX26" fmla="*/ 44566 w 134438"/>
              <a:gd name="connsiteY26" fmla="*/ 107376 h 246965"/>
              <a:gd name="connsiteX27" fmla="*/ 33828 w 134438"/>
              <a:gd name="connsiteY27" fmla="*/ 107376 h 246965"/>
              <a:gd name="connsiteX28" fmla="*/ 33828 w 134438"/>
              <a:gd name="connsiteY28" fmla="*/ 91270 h 246965"/>
              <a:gd name="connsiteX29" fmla="*/ 39197 w 134438"/>
              <a:gd name="connsiteY29" fmla="*/ 85901 h 246965"/>
              <a:gd name="connsiteX30" fmla="*/ 44566 w 134438"/>
              <a:gd name="connsiteY30" fmla="*/ 91270 h 246965"/>
              <a:gd name="connsiteX31" fmla="*/ 72752 w 134438"/>
              <a:gd name="connsiteY31" fmla="*/ 230859 h 246965"/>
              <a:gd name="connsiteX32" fmla="*/ 59330 w 134438"/>
              <a:gd name="connsiteY32" fmla="*/ 230859 h 246965"/>
              <a:gd name="connsiteX33" fmla="*/ 59330 w 134438"/>
              <a:gd name="connsiteY33" fmla="*/ 205357 h 246965"/>
              <a:gd name="connsiteX34" fmla="*/ 66041 w 134438"/>
              <a:gd name="connsiteY34" fmla="*/ 198646 h 246965"/>
              <a:gd name="connsiteX35" fmla="*/ 72752 w 134438"/>
              <a:gd name="connsiteY35" fmla="*/ 205357 h 246965"/>
              <a:gd name="connsiteX36" fmla="*/ 98254 w 134438"/>
              <a:gd name="connsiteY36" fmla="*/ 107376 h 246965"/>
              <a:gd name="connsiteX37" fmla="*/ 87516 w 134438"/>
              <a:gd name="connsiteY37" fmla="*/ 107376 h 246965"/>
              <a:gd name="connsiteX38" fmla="*/ 87516 w 134438"/>
              <a:gd name="connsiteY38" fmla="*/ 91270 h 246965"/>
              <a:gd name="connsiteX39" fmla="*/ 92885 w 134438"/>
              <a:gd name="connsiteY39" fmla="*/ 85901 h 246965"/>
              <a:gd name="connsiteX40" fmla="*/ 98254 w 134438"/>
              <a:gd name="connsiteY40" fmla="*/ 91270 h 246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34438" h="246965">
                <a:moveTo>
                  <a:pt x="133204" y="75594"/>
                </a:moveTo>
                <a:cubicBezTo>
                  <a:pt x="116847" y="65153"/>
                  <a:pt x="80138" y="39838"/>
                  <a:pt x="68302" y="16106"/>
                </a:cubicBezTo>
                <a:lnTo>
                  <a:pt x="103620" y="16106"/>
                </a:lnTo>
                <a:lnTo>
                  <a:pt x="93956" y="8053"/>
                </a:lnTo>
                <a:lnTo>
                  <a:pt x="103620" y="0"/>
                </a:lnTo>
                <a:lnTo>
                  <a:pt x="66038" y="0"/>
                </a:lnTo>
                <a:lnTo>
                  <a:pt x="66038" y="10745"/>
                </a:lnTo>
                <a:cubicBezTo>
                  <a:pt x="57636" y="35936"/>
                  <a:pt x="18049" y="64408"/>
                  <a:pt x="1192" y="75622"/>
                </a:cubicBezTo>
                <a:cubicBezTo>
                  <a:pt x="-39" y="76445"/>
                  <a:pt x="-371" y="78110"/>
                  <a:pt x="452" y="79341"/>
                </a:cubicBezTo>
                <a:cubicBezTo>
                  <a:pt x="952" y="80088"/>
                  <a:pt x="1792" y="80536"/>
                  <a:pt x="2691" y="80532"/>
                </a:cubicBezTo>
                <a:lnTo>
                  <a:pt x="15037" y="80532"/>
                </a:lnTo>
                <a:lnTo>
                  <a:pt x="11011" y="126167"/>
                </a:lnTo>
                <a:lnTo>
                  <a:pt x="28459" y="138247"/>
                </a:lnTo>
                <a:lnTo>
                  <a:pt x="33828" y="246965"/>
                </a:lnTo>
                <a:lnTo>
                  <a:pt x="98254" y="246965"/>
                </a:lnTo>
                <a:lnTo>
                  <a:pt x="103623" y="138247"/>
                </a:lnTo>
                <a:lnTo>
                  <a:pt x="121071" y="126167"/>
                </a:lnTo>
                <a:lnTo>
                  <a:pt x="117045" y="80532"/>
                </a:lnTo>
                <a:lnTo>
                  <a:pt x="131747" y="80532"/>
                </a:lnTo>
                <a:cubicBezTo>
                  <a:pt x="133228" y="80538"/>
                  <a:pt x="134432" y="79342"/>
                  <a:pt x="134438" y="77862"/>
                </a:cubicBezTo>
                <a:cubicBezTo>
                  <a:pt x="134442" y="76945"/>
                  <a:pt x="133976" y="76089"/>
                  <a:pt x="133204" y="75594"/>
                </a:cubicBezTo>
                <a:close/>
                <a:moveTo>
                  <a:pt x="60672" y="91270"/>
                </a:moveTo>
                <a:cubicBezTo>
                  <a:pt x="60672" y="88305"/>
                  <a:pt x="63076" y="85901"/>
                  <a:pt x="66041" y="85901"/>
                </a:cubicBezTo>
                <a:cubicBezTo>
                  <a:pt x="69006" y="85901"/>
                  <a:pt x="71410" y="88305"/>
                  <a:pt x="71410" y="91270"/>
                </a:cubicBezTo>
                <a:lnTo>
                  <a:pt x="71410" y="107376"/>
                </a:lnTo>
                <a:lnTo>
                  <a:pt x="60672" y="107376"/>
                </a:lnTo>
                <a:close/>
                <a:moveTo>
                  <a:pt x="44566" y="107376"/>
                </a:moveTo>
                <a:lnTo>
                  <a:pt x="33828" y="107376"/>
                </a:lnTo>
                <a:lnTo>
                  <a:pt x="33828" y="91270"/>
                </a:lnTo>
                <a:cubicBezTo>
                  <a:pt x="33828" y="88305"/>
                  <a:pt x="36232" y="85901"/>
                  <a:pt x="39197" y="85901"/>
                </a:cubicBezTo>
                <a:cubicBezTo>
                  <a:pt x="42162" y="85901"/>
                  <a:pt x="44566" y="88305"/>
                  <a:pt x="44566" y="91270"/>
                </a:cubicBezTo>
                <a:close/>
                <a:moveTo>
                  <a:pt x="72752" y="230859"/>
                </a:moveTo>
                <a:lnTo>
                  <a:pt x="59330" y="230859"/>
                </a:lnTo>
                <a:lnTo>
                  <a:pt x="59330" y="205357"/>
                </a:lnTo>
                <a:cubicBezTo>
                  <a:pt x="59330" y="201651"/>
                  <a:pt x="62335" y="198646"/>
                  <a:pt x="66041" y="198646"/>
                </a:cubicBezTo>
                <a:cubicBezTo>
                  <a:pt x="69748" y="198646"/>
                  <a:pt x="72752" y="201651"/>
                  <a:pt x="72752" y="205357"/>
                </a:cubicBezTo>
                <a:close/>
                <a:moveTo>
                  <a:pt x="98254" y="107376"/>
                </a:moveTo>
                <a:lnTo>
                  <a:pt x="87516" y="107376"/>
                </a:lnTo>
                <a:lnTo>
                  <a:pt x="87516" y="91270"/>
                </a:lnTo>
                <a:cubicBezTo>
                  <a:pt x="87516" y="88305"/>
                  <a:pt x="89920" y="85901"/>
                  <a:pt x="92885" y="85901"/>
                </a:cubicBezTo>
                <a:cubicBezTo>
                  <a:pt x="95850" y="85901"/>
                  <a:pt x="98254" y="88305"/>
                  <a:pt x="98254" y="91270"/>
                </a:cubicBezTo>
                <a:close/>
              </a:path>
            </a:pathLst>
          </a:custGeom>
          <a:solidFill>
            <a:srgbClr val="23F9E8"/>
          </a:solidFill>
          <a:ln w="2679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59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D9195-5F80-02FF-B546-0EE02E48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7F25D2BB-EBE4-3261-4EC4-BE93FA1BB208}"/>
              </a:ext>
            </a:extLst>
          </p:cNvPr>
          <p:cNvSpPr/>
          <p:nvPr/>
        </p:nvSpPr>
        <p:spPr>
          <a:xfrm>
            <a:off x="0" y="0"/>
            <a:ext cx="3374136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463E2F6-3988-32BC-6D3F-9AB34AD245FD}"/>
              </a:ext>
            </a:extLst>
          </p:cNvPr>
          <p:cNvSpPr/>
          <p:nvPr/>
        </p:nvSpPr>
        <p:spPr>
          <a:xfrm>
            <a:off x="3353199" y="6924"/>
            <a:ext cx="8817864" cy="6858000"/>
          </a:xfrm>
          <a:prstGeom prst="rect">
            <a:avLst/>
          </a:prstGeom>
          <a:solidFill>
            <a:srgbClr val="0816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72FB68-CDCE-C4F0-9C0A-440C0A0A9B33}"/>
              </a:ext>
            </a:extLst>
          </p:cNvPr>
          <p:cNvSpPr txBox="1"/>
          <p:nvPr/>
        </p:nvSpPr>
        <p:spPr>
          <a:xfrm>
            <a:off x="237744" y="2435699"/>
            <a:ext cx="28777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도입부 상세</a:t>
            </a:r>
            <a:r>
              <a:rPr kumimoji="1" lang="en-US" altLang="ko-KR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kumimoji="1" lang="ko-KR" altLang="en-US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2400" b="1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미끼 투척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96B1787-E5AE-2F89-4B8C-375AEFAE71DB}"/>
              </a:ext>
            </a:extLst>
          </p:cNvPr>
          <p:cNvSpPr/>
          <p:nvPr/>
        </p:nvSpPr>
        <p:spPr>
          <a:xfrm>
            <a:off x="3593334" y="1797099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43F23151-3664-236F-42BD-911E524EEC9E}"/>
              </a:ext>
            </a:extLst>
          </p:cNvPr>
          <p:cNvSpPr/>
          <p:nvPr/>
        </p:nvSpPr>
        <p:spPr>
          <a:xfrm>
            <a:off x="3589150" y="2590553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7B2CFD-2695-66A7-6A20-54D248E0C8E3}"/>
              </a:ext>
            </a:extLst>
          </p:cNvPr>
          <p:cNvSpPr txBox="1"/>
          <p:nvPr/>
        </p:nvSpPr>
        <p:spPr>
          <a:xfrm>
            <a:off x="4053669" y="1766015"/>
            <a:ext cx="638668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상황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단기간 고수익 제안 문자가 수신되고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설마 나에게는 아닐 거야</a:t>
            </a:r>
            <a:r>
              <a:rPr kumimoji="1" lang="en-US" altLang="ko-KR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라는 사용자의 심리를 자극합니다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771F21-CF2A-BDDD-1976-AE6021E3EE78}"/>
              </a:ext>
            </a:extLst>
          </p:cNvPr>
          <p:cNvSpPr txBox="1"/>
          <p:nvPr/>
        </p:nvSpPr>
        <p:spPr>
          <a:xfrm>
            <a:off x="4075608" y="2556613"/>
            <a:ext cx="642515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 목표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랑크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클릭 전 의심하는 습관을 형성하고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발신자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URL,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문구를 꼼꼼히 검증하는 태도를 기릅니다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1CAA7C-C258-1B1E-B1B5-2669D962F01C}"/>
              </a:ext>
            </a:extLst>
          </p:cNvPr>
          <p:cNvSpPr txBox="1"/>
          <p:nvPr/>
        </p:nvSpPr>
        <p:spPr>
          <a:xfrm>
            <a:off x="4075608" y="3319865"/>
            <a:ext cx="5795176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인터랙션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링크 클릭 직전에 나타나는 경고 팝업과 의심해야 할 포인트를 하이라이트로 강조합니다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5BB975-9602-91A8-E368-49424ABE8972}"/>
              </a:ext>
            </a:extLst>
          </p:cNvPr>
          <p:cNvSpPr txBox="1"/>
          <p:nvPr/>
        </p:nvSpPr>
        <p:spPr>
          <a:xfrm>
            <a:off x="4075608" y="4083117"/>
            <a:ext cx="706154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피드백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잘못 클릭 시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위험한 링크를 클릭하셨습니다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!”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경고 메시지와 재도전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올바른 판단 시 가이드를 제공합니다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DDE0D15-C36F-B614-02F9-E14DA374BBF3}"/>
              </a:ext>
            </a:extLst>
          </p:cNvPr>
          <p:cNvSpPr/>
          <p:nvPr/>
        </p:nvSpPr>
        <p:spPr>
          <a:xfrm>
            <a:off x="3600119" y="3345198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9B22A53-5490-AA7A-5158-2A44F0098607}"/>
              </a:ext>
            </a:extLst>
          </p:cNvPr>
          <p:cNvSpPr/>
          <p:nvPr/>
        </p:nvSpPr>
        <p:spPr>
          <a:xfrm>
            <a:off x="3602027" y="4104050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" name="그래픽 46" descr="흰동가리 단색으로 채워진">
            <a:extLst>
              <a:ext uri="{FF2B5EF4-FFF2-40B4-BE49-F238E27FC236}">
                <a16:creationId xmlns:a16="http://schemas.microsoft.com/office/drawing/2014/main" id="{7514E4B2-994A-1F94-4F80-3DD66B30F71F}"/>
              </a:ext>
            </a:extLst>
          </p:cNvPr>
          <p:cNvSpPr/>
          <p:nvPr/>
        </p:nvSpPr>
        <p:spPr>
          <a:xfrm>
            <a:off x="319569" y="3156777"/>
            <a:ext cx="1143471" cy="887678"/>
          </a:xfrm>
          <a:custGeom>
            <a:avLst/>
            <a:gdLst>
              <a:gd name="connsiteX0" fmla="*/ 268515 w 271304"/>
              <a:gd name="connsiteY0" fmla="*/ 78848 h 174653"/>
              <a:gd name="connsiteX1" fmla="*/ 210025 w 271304"/>
              <a:gd name="connsiteY1" fmla="*/ 36163 h 174653"/>
              <a:gd name="connsiteX2" fmla="*/ 159314 w 271304"/>
              <a:gd name="connsiteY2" fmla="*/ 13 h 174653"/>
              <a:gd name="connsiteX3" fmla="*/ 136196 w 271304"/>
              <a:gd name="connsiteY3" fmla="*/ 8825 h 174653"/>
              <a:gd name="connsiteX4" fmla="*/ 131734 w 271304"/>
              <a:gd name="connsiteY4" fmla="*/ 31538 h 174653"/>
              <a:gd name="connsiteX5" fmla="*/ 117451 w 271304"/>
              <a:gd name="connsiteY5" fmla="*/ 34942 h 174653"/>
              <a:gd name="connsiteX6" fmla="*/ 88915 w 271304"/>
              <a:gd name="connsiteY6" fmla="*/ 24823 h 174653"/>
              <a:gd name="connsiteX7" fmla="*/ 68458 w 271304"/>
              <a:gd name="connsiteY7" fmla="*/ 31371 h 174653"/>
              <a:gd name="connsiteX8" fmla="*/ 64834 w 271304"/>
              <a:gd name="connsiteY8" fmla="*/ 63841 h 174653"/>
              <a:gd name="connsiteX9" fmla="*/ 63571 w 271304"/>
              <a:gd name="connsiteY9" fmla="*/ 64788 h 174653"/>
              <a:gd name="connsiteX10" fmla="*/ 61443 w 271304"/>
              <a:gd name="connsiteY10" fmla="*/ 66401 h 174653"/>
              <a:gd name="connsiteX11" fmla="*/ 55472 w 271304"/>
              <a:gd name="connsiteY11" fmla="*/ 68493 h 174653"/>
              <a:gd name="connsiteX12" fmla="*/ 51504 w 271304"/>
              <a:gd name="connsiteY12" fmla="*/ 67603 h 174653"/>
              <a:gd name="connsiteX13" fmla="*/ 34350 w 271304"/>
              <a:gd name="connsiteY13" fmla="*/ 59510 h 174653"/>
              <a:gd name="connsiteX14" fmla="*/ 2993 w 271304"/>
              <a:gd name="connsiteY14" fmla="*/ 70692 h 174653"/>
              <a:gd name="connsiteX15" fmla="*/ 1310 w 271304"/>
              <a:gd name="connsiteY15" fmla="*/ 75551 h 174653"/>
              <a:gd name="connsiteX16" fmla="*/ 1 w 271304"/>
              <a:gd name="connsiteY16" fmla="*/ 88014 h 174653"/>
              <a:gd name="connsiteX17" fmla="*/ 1 w 271304"/>
              <a:gd name="connsiteY17" fmla="*/ 89588 h 174653"/>
              <a:gd name="connsiteX18" fmla="*/ 1310 w 271304"/>
              <a:gd name="connsiteY18" fmla="*/ 102051 h 174653"/>
              <a:gd name="connsiteX19" fmla="*/ 24271 w 271304"/>
              <a:gd name="connsiteY19" fmla="*/ 120360 h 174653"/>
              <a:gd name="connsiteX20" fmla="*/ 24271 w 271304"/>
              <a:gd name="connsiteY20" fmla="*/ 120360 h 174653"/>
              <a:gd name="connsiteX21" fmla="*/ 34350 w 271304"/>
              <a:gd name="connsiteY21" fmla="*/ 118092 h 174653"/>
              <a:gd name="connsiteX22" fmla="*/ 51530 w 271304"/>
              <a:gd name="connsiteY22" fmla="*/ 109976 h 174653"/>
              <a:gd name="connsiteX23" fmla="*/ 61220 w 271304"/>
              <a:gd name="connsiteY23" fmla="*/ 110988 h 174653"/>
              <a:gd name="connsiteX24" fmla="*/ 62792 w 271304"/>
              <a:gd name="connsiteY24" fmla="*/ 112153 h 174653"/>
              <a:gd name="connsiteX25" fmla="*/ 65018 w 271304"/>
              <a:gd name="connsiteY25" fmla="*/ 113816 h 174653"/>
              <a:gd name="connsiteX26" fmla="*/ 67267 w 271304"/>
              <a:gd name="connsiteY26" fmla="*/ 147534 h 174653"/>
              <a:gd name="connsiteX27" fmla="*/ 86306 w 271304"/>
              <a:gd name="connsiteY27" fmla="*/ 154013 h 174653"/>
              <a:gd name="connsiteX28" fmla="*/ 115366 w 271304"/>
              <a:gd name="connsiteY28" fmla="*/ 143308 h 174653"/>
              <a:gd name="connsiteX29" fmla="*/ 132307 w 271304"/>
              <a:gd name="connsiteY29" fmla="*/ 147957 h 174653"/>
              <a:gd name="connsiteX30" fmla="*/ 145817 w 271304"/>
              <a:gd name="connsiteY30" fmla="*/ 173763 h 174653"/>
              <a:gd name="connsiteX31" fmla="*/ 153019 w 271304"/>
              <a:gd name="connsiteY31" fmla="*/ 174653 h 174653"/>
              <a:gd name="connsiteX32" fmla="*/ 193863 w 271304"/>
              <a:gd name="connsiteY32" fmla="*/ 149034 h 174653"/>
              <a:gd name="connsiteX33" fmla="*/ 268570 w 271304"/>
              <a:gd name="connsiteY33" fmla="*/ 102683 h 174653"/>
              <a:gd name="connsiteX34" fmla="*/ 268515 w 271304"/>
              <a:gd name="connsiteY34" fmla="*/ 78848 h 174653"/>
              <a:gd name="connsiteX35" fmla="*/ 228744 w 271304"/>
              <a:gd name="connsiteY35" fmla="*/ 69865 h 174653"/>
              <a:gd name="connsiteX36" fmla="*/ 236633 w 271304"/>
              <a:gd name="connsiteY36" fmla="*/ 77754 h 174653"/>
              <a:gd name="connsiteX37" fmla="*/ 228744 w 271304"/>
              <a:gd name="connsiteY37" fmla="*/ 85644 h 174653"/>
              <a:gd name="connsiteX38" fmla="*/ 220854 w 271304"/>
              <a:gd name="connsiteY38" fmla="*/ 77754 h 174653"/>
              <a:gd name="connsiteX39" fmla="*/ 228737 w 271304"/>
              <a:gd name="connsiteY39" fmla="*/ 69865 h 174653"/>
              <a:gd name="connsiteX40" fmla="*/ 228744 w 271304"/>
              <a:gd name="connsiteY40" fmla="*/ 69865 h 174653"/>
              <a:gd name="connsiteX41" fmla="*/ 214598 w 271304"/>
              <a:gd name="connsiteY41" fmla="*/ 48279 h 174653"/>
              <a:gd name="connsiteX42" fmla="*/ 216910 w 271304"/>
              <a:gd name="connsiteY42" fmla="*/ 132584 h 174653"/>
              <a:gd name="connsiteX43" fmla="*/ 203815 w 271304"/>
              <a:gd name="connsiteY43" fmla="*/ 136745 h 174653"/>
              <a:gd name="connsiteX44" fmla="*/ 200113 w 271304"/>
              <a:gd name="connsiteY44" fmla="*/ 46940 h 174653"/>
              <a:gd name="connsiteX45" fmla="*/ 205720 w 271304"/>
              <a:gd name="connsiteY45" fmla="*/ 44976 h 174653"/>
              <a:gd name="connsiteX46" fmla="*/ 55547 w 271304"/>
              <a:gd name="connsiteY46" fmla="*/ 99252 h 174653"/>
              <a:gd name="connsiteX47" fmla="*/ 49069 w 271304"/>
              <a:gd name="connsiteY47" fmla="*/ 100391 h 174653"/>
              <a:gd name="connsiteX48" fmla="*/ 48109 w 271304"/>
              <a:gd name="connsiteY48" fmla="*/ 87222 h 174653"/>
              <a:gd name="connsiteX49" fmla="*/ 48712 w 271304"/>
              <a:gd name="connsiteY49" fmla="*/ 77073 h 174653"/>
              <a:gd name="connsiteX50" fmla="*/ 55472 w 271304"/>
              <a:gd name="connsiteY50" fmla="*/ 78334 h 174653"/>
              <a:gd name="connsiteX51" fmla="*/ 61842 w 271304"/>
              <a:gd name="connsiteY51" fmla="*/ 77244 h 174653"/>
              <a:gd name="connsiteX52" fmla="*/ 62363 w 271304"/>
              <a:gd name="connsiteY52" fmla="*/ 100571 h 174653"/>
              <a:gd name="connsiteX53" fmla="*/ 55547 w 271304"/>
              <a:gd name="connsiteY53" fmla="*/ 99252 h 174653"/>
              <a:gd name="connsiteX54" fmla="*/ 116885 w 271304"/>
              <a:gd name="connsiteY54" fmla="*/ 133982 h 174653"/>
              <a:gd name="connsiteX55" fmla="*/ 112871 w 271304"/>
              <a:gd name="connsiteY55" fmla="*/ 129458 h 174653"/>
              <a:gd name="connsiteX56" fmla="*/ 110066 w 271304"/>
              <a:gd name="connsiteY56" fmla="*/ 88796 h 174653"/>
              <a:gd name="connsiteX57" fmla="*/ 114547 w 271304"/>
              <a:gd name="connsiteY57" fmla="*/ 48920 h 174653"/>
              <a:gd name="connsiteX58" fmla="*/ 119183 w 271304"/>
              <a:gd name="connsiteY58" fmla="*/ 44357 h 174653"/>
              <a:gd name="connsiteX59" fmla="*/ 122253 w 271304"/>
              <a:gd name="connsiteY59" fmla="*/ 43791 h 174653"/>
              <a:gd name="connsiteX60" fmla="*/ 133573 w 271304"/>
              <a:gd name="connsiteY60" fmla="*/ 41172 h 174653"/>
              <a:gd name="connsiteX61" fmla="*/ 136389 w 271304"/>
              <a:gd name="connsiteY61" fmla="*/ 40553 h 174653"/>
              <a:gd name="connsiteX62" fmla="*/ 136215 w 271304"/>
              <a:gd name="connsiteY62" fmla="*/ 41394 h 174653"/>
              <a:gd name="connsiteX63" fmla="*/ 129707 w 271304"/>
              <a:gd name="connsiteY63" fmla="*/ 88783 h 174653"/>
              <a:gd name="connsiteX64" fmla="*/ 134290 w 271304"/>
              <a:gd name="connsiteY64" fmla="*/ 138329 h 174653"/>
              <a:gd name="connsiteX65" fmla="*/ 134290 w 271304"/>
              <a:gd name="connsiteY65" fmla="*/ 138329 h 174653"/>
              <a:gd name="connsiteX66" fmla="*/ 121883 w 271304"/>
              <a:gd name="connsiteY66" fmla="*/ 135383 h 174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271304" h="174653">
                <a:moveTo>
                  <a:pt x="268515" y="78848"/>
                </a:moveTo>
                <a:cubicBezTo>
                  <a:pt x="259643" y="60928"/>
                  <a:pt x="238908" y="45807"/>
                  <a:pt x="210025" y="36163"/>
                </a:cubicBezTo>
                <a:cubicBezTo>
                  <a:pt x="202990" y="14214"/>
                  <a:pt x="182357" y="-494"/>
                  <a:pt x="159314" y="13"/>
                </a:cubicBezTo>
                <a:cubicBezTo>
                  <a:pt x="148688" y="55"/>
                  <a:pt x="140910" y="3018"/>
                  <a:pt x="136196" y="8825"/>
                </a:cubicBezTo>
                <a:cubicBezTo>
                  <a:pt x="131786" y="14256"/>
                  <a:pt x="130303" y="21887"/>
                  <a:pt x="131734" y="31538"/>
                </a:cubicBezTo>
                <a:cubicBezTo>
                  <a:pt x="126781" y="32484"/>
                  <a:pt x="121991" y="33623"/>
                  <a:pt x="117451" y="34942"/>
                </a:cubicBezTo>
                <a:cubicBezTo>
                  <a:pt x="109328" y="28491"/>
                  <a:pt x="99287" y="24930"/>
                  <a:pt x="88915" y="24823"/>
                </a:cubicBezTo>
                <a:cubicBezTo>
                  <a:pt x="81542" y="24563"/>
                  <a:pt x="74309" y="26878"/>
                  <a:pt x="68458" y="31371"/>
                </a:cubicBezTo>
                <a:cubicBezTo>
                  <a:pt x="58814" y="39512"/>
                  <a:pt x="57223" y="53774"/>
                  <a:pt x="64834" y="63841"/>
                </a:cubicBezTo>
                <a:lnTo>
                  <a:pt x="63571" y="64788"/>
                </a:lnTo>
                <a:cubicBezTo>
                  <a:pt x="62818" y="65347"/>
                  <a:pt x="62124" y="65865"/>
                  <a:pt x="61443" y="66401"/>
                </a:cubicBezTo>
                <a:cubicBezTo>
                  <a:pt x="59743" y="67749"/>
                  <a:pt x="57641" y="68485"/>
                  <a:pt x="55472" y="68493"/>
                </a:cubicBezTo>
                <a:cubicBezTo>
                  <a:pt x="54100" y="68493"/>
                  <a:pt x="52745" y="68189"/>
                  <a:pt x="51504" y="67603"/>
                </a:cubicBezTo>
                <a:lnTo>
                  <a:pt x="34350" y="59510"/>
                </a:lnTo>
                <a:cubicBezTo>
                  <a:pt x="22604" y="53939"/>
                  <a:pt x="8565" y="58945"/>
                  <a:pt x="2993" y="70692"/>
                </a:cubicBezTo>
                <a:cubicBezTo>
                  <a:pt x="2256" y="72245"/>
                  <a:pt x="1692" y="73875"/>
                  <a:pt x="1310" y="75551"/>
                </a:cubicBezTo>
                <a:cubicBezTo>
                  <a:pt x="422" y="79645"/>
                  <a:pt x="-17" y="83824"/>
                  <a:pt x="1" y="88014"/>
                </a:cubicBezTo>
                <a:lnTo>
                  <a:pt x="1" y="89588"/>
                </a:lnTo>
                <a:cubicBezTo>
                  <a:pt x="-16" y="93778"/>
                  <a:pt x="423" y="97956"/>
                  <a:pt x="1310" y="102051"/>
                </a:cubicBezTo>
                <a:cubicBezTo>
                  <a:pt x="3676" y="112813"/>
                  <a:pt x="13253" y="120449"/>
                  <a:pt x="24271" y="120360"/>
                </a:cubicBezTo>
                <a:lnTo>
                  <a:pt x="24271" y="120360"/>
                </a:lnTo>
                <a:cubicBezTo>
                  <a:pt x="27758" y="120363"/>
                  <a:pt x="31201" y="119588"/>
                  <a:pt x="34350" y="118092"/>
                </a:cubicBezTo>
                <a:lnTo>
                  <a:pt x="51530" y="109976"/>
                </a:lnTo>
                <a:cubicBezTo>
                  <a:pt x="54695" y="108476"/>
                  <a:pt x="58433" y="108866"/>
                  <a:pt x="61220" y="110988"/>
                </a:cubicBezTo>
                <a:cubicBezTo>
                  <a:pt x="61731" y="111377"/>
                  <a:pt x="62248" y="111754"/>
                  <a:pt x="62792" y="112153"/>
                </a:cubicBezTo>
                <a:cubicBezTo>
                  <a:pt x="63446" y="112641"/>
                  <a:pt x="64186" y="113171"/>
                  <a:pt x="65018" y="113816"/>
                </a:cubicBezTo>
                <a:cubicBezTo>
                  <a:pt x="55927" y="131494"/>
                  <a:pt x="61119" y="141887"/>
                  <a:pt x="67267" y="147534"/>
                </a:cubicBezTo>
                <a:cubicBezTo>
                  <a:pt x="72586" y="151987"/>
                  <a:pt x="79375" y="154297"/>
                  <a:pt x="86306" y="154013"/>
                </a:cubicBezTo>
                <a:cubicBezTo>
                  <a:pt x="96914" y="153779"/>
                  <a:pt x="107141" y="150012"/>
                  <a:pt x="115366" y="143308"/>
                </a:cubicBezTo>
                <a:cubicBezTo>
                  <a:pt x="120908" y="145215"/>
                  <a:pt x="126567" y="146768"/>
                  <a:pt x="132307" y="147957"/>
                </a:cubicBezTo>
                <a:cubicBezTo>
                  <a:pt x="131671" y="161994"/>
                  <a:pt x="136520" y="171330"/>
                  <a:pt x="145817" y="173763"/>
                </a:cubicBezTo>
                <a:cubicBezTo>
                  <a:pt x="148170" y="174365"/>
                  <a:pt x="150590" y="174664"/>
                  <a:pt x="153019" y="174653"/>
                </a:cubicBezTo>
                <a:cubicBezTo>
                  <a:pt x="168005" y="174653"/>
                  <a:pt x="184606" y="164177"/>
                  <a:pt x="193863" y="149034"/>
                </a:cubicBezTo>
                <a:cubicBezTo>
                  <a:pt x="230534" y="142248"/>
                  <a:pt x="257725" y="125392"/>
                  <a:pt x="268570" y="102683"/>
                </a:cubicBezTo>
                <a:cubicBezTo>
                  <a:pt x="272235" y="95156"/>
                  <a:pt x="272214" y="86358"/>
                  <a:pt x="268515" y="78848"/>
                </a:cubicBezTo>
                <a:close/>
                <a:moveTo>
                  <a:pt x="228744" y="69865"/>
                </a:moveTo>
                <a:cubicBezTo>
                  <a:pt x="233101" y="69865"/>
                  <a:pt x="236633" y="73397"/>
                  <a:pt x="236633" y="77754"/>
                </a:cubicBezTo>
                <a:cubicBezTo>
                  <a:pt x="236633" y="82111"/>
                  <a:pt x="233101" y="85644"/>
                  <a:pt x="228744" y="85644"/>
                </a:cubicBezTo>
                <a:cubicBezTo>
                  <a:pt x="224386" y="85644"/>
                  <a:pt x="220854" y="82111"/>
                  <a:pt x="220854" y="77754"/>
                </a:cubicBezTo>
                <a:cubicBezTo>
                  <a:pt x="220852" y="73399"/>
                  <a:pt x="224382" y="69867"/>
                  <a:pt x="228737" y="69865"/>
                </a:cubicBezTo>
                <a:cubicBezTo>
                  <a:pt x="228739" y="69865"/>
                  <a:pt x="228741" y="69865"/>
                  <a:pt x="228744" y="69865"/>
                </a:cubicBezTo>
                <a:close/>
                <a:moveTo>
                  <a:pt x="214598" y="48279"/>
                </a:moveTo>
                <a:cubicBezTo>
                  <a:pt x="197199" y="73965"/>
                  <a:pt x="198129" y="107889"/>
                  <a:pt x="216910" y="132584"/>
                </a:cubicBezTo>
                <a:cubicBezTo>
                  <a:pt x="212759" y="134136"/>
                  <a:pt x="208398" y="135530"/>
                  <a:pt x="203815" y="136745"/>
                </a:cubicBezTo>
                <a:cubicBezTo>
                  <a:pt x="185587" y="109955"/>
                  <a:pt x="184152" y="75139"/>
                  <a:pt x="200113" y="46940"/>
                </a:cubicBezTo>
                <a:cubicBezTo>
                  <a:pt x="201222" y="44968"/>
                  <a:pt x="203623" y="44127"/>
                  <a:pt x="205720" y="44976"/>
                </a:cubicBezTo>
                <a:close/>
                <a:moveTo>
                  <a:pt x="55547" y="99252"/>
                </a:moveTo>
                <a:cubicBezTo>
                  <a:pt x="53338" y="99260"/>
                  <a:pt x="51147" y="99646"/>
                  <a:pt x="49069" y="100391"/>
                </a:cubicBezTo>
                <a:cubicBezTo>
                  <a:pt x="48438" y="96029"/>
                  <a:pt x="48117" y="91628"/>
                  <a:pt x="48109" y="87222"/>
                </a:cubicBezTo>
                <a:cubicBezTo>
                  <a:pt x="48120" y="83830"/>
                  <a:pt x="48321" y="80442"/>
                  <a:pt x="48712" y="77073"/>
                </a:cubicBezTo>
                <a:cubicBezTo>
                  <a:pt x="50869" y="77903"/>
                  <a:pt x="53160" y="78330"/>
                  <a:pt x="55472" y="78334"/>
                </a:cubicBezTo>
                <a:cubicBezTo>
                  <a:pt x="57641" y="78330"/>
                  <a:pt x="59795" y="77961"/>
                  <a:pt x="61842" y="77244"/>
                </a:cubicBezTo>
                <a:cubicBezTo>
                  <a:pt x="60842" y="85001"/>
                  <a:pt x="61018" y="92866"/>
                  <a:pt x="62363" y="100571"/>
                </a:cubicBezTo>
                <a:cubicBezTo>
                  <a:pt x="60190" y="99720"/>
                  <a:pt x="57880" y="99273"/>
                  <a:pt x="55547" y="99252"/>
                </a:cubicBezTo>
                <a:close/>
                <a:moveTo>
                  <a:pt x="116885" y="133982"/>
                </a:moveTo>
                <a:cubicBezTo>
                  <a:pt x="114779" y="133385"/>
                  <a:pt x="113212" y="131619"/>
                  <a:pt x="112871" y="129458"/>
                </a:cubicBezTo>
                <a:cubicBezTo>
                  <a:pt x="110799" y="116006"/>
                  <a:pt x="109860" y="102405"/>
                  <a:pt x="110066" y="88796"/>
                </a:cubicBezTo>
                <a:cubicBezTo>
                  <a:pt x="110174" y="75385"/>
                  <a:pt x="111676" y="62021"/>
                  <a:pt x="114547" y="48920"/>
                </a:cubicBezTo>
                <a:cubicBezTo>
                  <a:pt x="115012" y="46593"/>
                  <a:pt x="116849" y="44785"/>
                  <a:pt x="119183" y="44357"/>
                </a:cubicBezTo>
                <a:lnTo>
                  <a:pt x="122253" y="43791"/>
                </a:lnTo>
                <a:cubicBezTo>
                  <a:pt x="126296" y="42897"/>
                  <a:pt x="128928" y="42072"/>
                  <a:pt x="133573" y="41172"/>
                </a:cubicBezTo>
                <a:cubicBezTo>
                  <a:pt x="134631" y="40969"/>
                  <a:pt x="135312" y="40844"/>
                  <a:pt x="136389" y="40553"/>
                </a:cubicBezTo>
                <a:lnTo>
                  <a:pt x="136215" y="41394"/>
                </a:lnTo>
                <a:cubicBezTo>
                  <a:pt x="132437" y="59517"/>
                  <a:pt x="129707" y="72611"/>
                  <a:pt x="129707" y="88783"/>
                </a:cubicBezTo>
                <a:cubicBezTo>
                  <a:pt x="129504" y="105413"/>
                  <a:pt x="131040" y="122019"/>
                  <a:pt x="134290" y="138329"/>
                </a:cubicBezTo>
                <a:lnTo>
                  <a:pt x="134290" y="138329"/>
                </a:lnTo>
                <a:cubicBezTo>
                  <a:pt x="128981" y="137232"/>
                  <a:pt x="126473" y="136692"/>
                  <a:pt x="121883" y="135383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317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8" name="그래픽 7" descr="스마트폰 단색으로 채워진">
            <a:extLst>
              <a:ext uri="{FF2B5EF4-FFF2-40B4-BE49-F238E27FC236}">
                <a16:creationId xmlns:a16="http://schemas.microsoft.com/office/drawing/2014/main" id="{CC69F4E7-6C93-3659-D0D1-17E3AC161C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3906" y="1853874"/>
            <a:ext cx="319788" cy="319788"/>
          </a:xfrm>
          <a:prstGeom prst="rect">
            <a:avLst/>
          </a:prstGeom>
        </p:spPr>
      </p:pic>
      <p:pic>
        <p:nvPicPr>
          <p:cNvPr id="10" name="그래픽 9" descr="학사모 단색으로 채워진">
            <a:extLst>
              <a:ext uri="{FF2B5EF4-FFF2-40B4-BE49-F238E27FC236}">
                <a16:creationId xmlns:a16="http://schemas.microsoft.com/office/drawing/2014/main" id="{D0BF3E9C-E9BB-03F0-C969-21C3F56746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2975" y="2646862"/>
            <a:ext cx="320719" cy="320719"/>
          </a:xfrm>
          <a:prstGeom prst="rect">
            <a:avLst/>
          </a:prstGeom>
        </p:spPr>
      </p:pic>
      <p:pic>
        <p:nvPicPr>
          <p:cNvPr id="24" name="그래픽 23" descr="커서 단색으로 채워진">
            <a:extLst>
              <a:ext uri="{FF2B5EF4-FFF2-40B4-BE49-F238E27FC236}">
                <a16:creationId xmlns:a16="http://schemas.microsoft.com/office/drawing/2014/main" id="{E410E230-0E82-F2CC-4BEF-BA7A7BBABF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90174" y="3435924"/>
            <a:ext cx="256093" cy="256093"/>
          </a:xfrm>
          <a:prstGeom prst="rect">
            <a:avLst/>
          </a:prstGeom>
        </p:spPr>
      </p:pic>
      <p:pic>
        <p:nvPicPr>
          <p:cNvPr id="26" name="그래픽 25" descr="말풍선 단색으로 채워진">
            <a:extLst>
              <a:ext uri="{FF2B5EF4-FFF2-40B4-BE49-F238E27FC236}">
                <a16:creationId xmlns:a16="http://schemas.microsoft.com/office/drawing/2014/main" id="{EA75D518-2FFB-344E-E080-5E4BA806B6B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74020" y="4176899"/>
            <a:ext cx="324299" cy="32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961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FA54E-C2C8-A5F0-9DFF-56FF15D4A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5B5D55A7-3944-FACC-C995-ECE1FB259C61}"/>
              </a:ext>
            </a:extLst>
          </p:cNvPr>
          <p:cNvSpPr/>
          <p:nvPr/>
        </p:nvSpPr>
        <p:spPr>
          <a:xfrm>
            <a:off x="0" y="0"/>
            <a:ext cx="3374136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DCE2910-8BF8-AD67-7E2D-C94A2B6801E9}"/>
              </a:ext>
            </a:extLst>
          </p:cNvPr>
          <p:cNvSpPr/>
          <p:nvPr/>
        </p:nvSpPr>
        <p:spPr>
          <a:xfrm>
            <a:off x="3373140" y="0"/>
            <a:ext cx="8817864" cy="6858000"/>
          </a:xfrm>
          <a:prstGeom prst="rect">
            <a:avLst/>
          </a:prstGeom>
          <a:solidFill>
            <a:srgbClr val="0816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2997A9B-6797-B722-4FC1-1274AF49672D}"/>
              </a:ext>
            </a:extLst>
          </p:cNvPr>
          <p:cNvSpPr/>
          <p:nvPr/>
        </p:nvSpPr>
        <p:spPr>
          <a:xfrm>
            <a:off x="3593334" y="1797099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82258809-5A9F-A008-E216-90EF497F86FE}"/>
              </a:ext>
            </a:extLst>
          </p:cNvPr>
          <p:cNvSpPr/>
          <p:nvPr/>
        </p:nvSpPr>
        <p:spPr>
          <a:xfrm>
            <a:off x="3589150" y="2590553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24BF30-585A-EC5B-C8A4-2C1881301273}"/>
              </a:ext>
            </a:extLst>
          </p:cNvPr>
          <p:cNvSpPr txBox="1"/>
          <p:nvPr/>
        </p:nvSpPr>
        <p:spPr>
          <a:xfrm>
            <a:off x="4053669" y="1766015"/>
            <a:ext cx="289374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과제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문자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/SNS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팝업에서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가지 사기 단서 찾기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BD4B8F-6E65-AC22-7FA4-DABB27FAB543}"/>
              </a:ext>
            </a:extLst>
          </p:cNvPr>
          <p:cNvSpPr txBox="1"/>
          <p:nvPr/>
        </p:nvSpPr>
        <p:spPr>
          <a:xfrm>
            <a:off x="4075608" y="2556613"/>
            <a:ext cx="3985386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단서 예시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비현실적 수익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어색한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URL,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불명확 발신자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특수문자 치환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BBD8E1-E065-D6DC-11FD-1DBAD5FDB43D}"/>
              </a:ext>
            </a:extLst>
          </p:cNvPr>
          <p:cNvSpPr txBox="1"/>
          <p:nvPr/>
        </p:nvSpPr>
        <p:spPr>
          <a:xfrm>
            <a:off x="4075608" y="3319865"/>
            <a:ext cx="211949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성공조건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정답 패턴 최소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 식별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7C503E-D458-DC84-EDF4-BCBF5CDAE135}"/>
              </a:ext>
            </a:extLst>
          </p:cNvPr>
          <p:cNvSpPr txBox="1"/>
          <p:nvPr/>
        </p:nvSpPr>
        <p:spPr>
          <a:xfrm>
            <a:off x="4075608" y="4083117"/>
            <a:ext cx="415530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 포인트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언어적 패턴과 기술적 신호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짧은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URL, </a:t>
            </a:r>
            <a:r>
              <a:rPr kumimoji="1"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서드파티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도메인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구분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49A5AC5-8CEC-6AE5-BEAD-5861166EA95F}"/>
              </a:ext>
            </a:extLst>
          </p:cNvPr>
          <p:cNvSpPr/>
          <p:nvPr/>
        </p:nvSpPr>
        <p:spPr>
          <a:xfrm>
            <a:off x="3600119" y="3345198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26FCACDB-7E3F-20C1-69F2-0421CCE65318}"/>
              </a:ext>
            </a:extLst>
          </p:cNvPr>
          <p:cNvSpPr/>
          <p:nvPr/>
        </p:nvSpPr>
        <p:spPr>
          <a:xfrm>
            <a:off x="3602027" y="4104050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3A29AD-0255-0306-4F54-04D7D647D936}"/>
              </a:ext>
            </a:extLst>
          </p:cNvPr>
          <p:cNvSpPr txBox="1"/>
          <p:nvPr/>
        </p:nvSpPr>
        <p:spPr>
          <a:xfrm>
            <a:off x="194951" y="2231363"/>
            <a:ext cx="21884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미션 </a:t>
            </a:r>
            <a:r>
              <a:rPr kumimoji="1" lang="en-US" altLang="ko-KR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1" lang="ko-KR" alt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상세</a:t>
            </a:r>
            <a:r>
              <a:rPr kumimoji="1" lang="en-US" altLang="ko-KR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</a:p>
          <a:p>
            <a:r>
              <a:rPr kumimoji="1" lang="ko-KR" altLang="en-US" sz="2400" b="1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수상한 문자 분석</a:t>
            </a:r>
          </a:p>
        </p:txBody>
      </p:sp>
      <p:pic>
        <p:nvPicPr>
          <p:cNvPr id="7" name="그래픽 6" descr="말풍선 단색으로 채워진">
            <a:extLst>
              <a:ext uri="{FF2B5EF4-FFF2-40B4-BE49-F238E27FC236}">
                <a16:creationId xmlns:a16="http://schemas.microsoft.com/office/drawing/2014/main" id="{925DDC1C-76ED-39B6-67AF-BE71183D8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908" y="3062360"/>
            <a:ext cx="1207269" cy="12072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E57F26-4A66-3A7D-A5F9-DC99764BB9D9}"/>
              </a:ext>
            </a:extLst>
          </p:cNvPr>
          <p:cNvSpPr txBox="1"/>
          <p:nvPr/>
        </p:nvSpPr>
        <p:spPr>
          <a:xfrm>
            <a:off x="4075608" y="4863059"/>
            <a:ext cx="370646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피드백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오답 시 </a:t>
            </a:r>
            <a:r>
              <a:rPr kumimoji="1" lang="en-US" altLang="ko-KR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개인 정보가 유출될 뻔했습니다</a:t>
            </a:r>
            <a:r>
              <a:rPr kumimoji="1" lang="en-US" altLang="ko-KR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!’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경고 및 해설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6F5AD6A-7601-77C9-EC92-3C54EC0EA7EC}"/>
              </a:ext>
            </a:extLst>
          </p:cNvPr>
          <p:cNvSpPr/>
          <p:nvPr/>
        </p:nvSpPr>
        <p:spPr>
          <a:xfrm>
            <a:off x="3602027" y="4883992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22" name="그래픽 21" descr="클립보드 선택 표시됨 단색으로 채워진">
            <a:extLst>
              <a:ext uri="{FF2B5EF4-FFF2-40B4-BE49-F238E27FC236}">
                <a16:creationId xmlns:a16="http://schemas.microsoft.com/office/drawing/2014/main" id="{3DF5C1D5-5A70-C3D9-AFA3-AD62A2084E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78924" y="1862406"/>
            <a:ext cx="302723" cy="302723"/>
          </a:xfrm>
          <a:prstGeom prst="rect">
            <a:avLst/>
          </a:prstGeom>
        </p:spPr>
      </p:pic>
      <p:pic>
        <p:nvPicPr>
          <p:cNvPr id="25" name="그래픽 24" descr="돋보기 단색으로 채워진">
            <a:extLst>
              <a:ext uri="{FF2B5EF4-FFF2-40B4-BE49-F238E27FC236}">
                <a16:creationId xmlns:a16="http://schemas.microsoft.com/office/drawing/2014/main" id="{9E6E93A6-6623-C496-BCFC-52F19A48F5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17283" y="2694220"/>
            <a:ext cx="226003" cy="226003"/>
          </a:xfrm>
          <a:prstGeom prst="rect">
            <a:avLst/>
          </a:prstGeom>
        </p:spPr>
      </p:pic>
      <p:pic>
        <p:nvPicPr>
          <p:cNvPr id="28" name="그래픽 27" descr="배지 체크 표시1 단색으로 채워진">
            <a:extLst>
              <a:ext uri="{FF2B5EF4-FFF2-40B4-BE49-F238E27FC236}">
                <a16:creationId xmlns:a16="http://schemas.microsoft.com/office/drawing/2014/main" id="{1A51D446-94C2-11EB-DBFB-93EE433FF71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93372" y="3429000"/>
            <a:ext cx="269266" cy="269266"/>
          </a:xfrm>
          <a:prstGeom prst="rect">
            <a:avLst/>
          </a:prstGeom>
        </p:spPr>
      </p:pic>
      <p:pic>
        <p:nvPicPr>
          <p:cNvPr id="30" name="그래픽 29" descr="전구 단색으로 채워진">
            <a:extLst>
              <a:ext uri="{FF2B5EF4-FFF2-40B4-BE49-F238E27FC236}">
                <a16:creationId xmlns:a16="http://schemas.microsoft.com/office/drawing/2014/main" id="{461D626C-0004-D557-425C-DFDE0A8DBC2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79266" y="4169528"/>
            <a:ext cx="302381" cy="302381"/>
          </a:xfrm>
          <a:prstGeom prst="rect">
            <a:avLst/>
          </a:prstGeom>
        </p:spPr>
      </p:pic>
      <p:pic>
        <p:nvPicPr>
          <p:cNvPr id="32" name="그래픽 31" descr="경고 단색으로 채워진">
            <a:extLst>
              <a:ext uri="{FF2B5EF4-FFF2-40B4-BE49-F238E27FC236}">
                <a16:creationId xmlns:a16="http://schemas.microsoft.com/office/drawing/2014/main" id="{20119ED8-1DF5-C025-1799-F7B372AB2B6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93372" y="4954209"/>
            <a:ext cx="263775" cy="26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952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67809-A15F-215B-A9DA-2E8E4FA4A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A9720F76-E05F-8BB5-C065-11398ECA0633}"/>
              </a:ext>
            </a:extLst>
          </p:cNvPr>
          <p:cNvSpPr/>
          <p:nvPr/>
        </p:nvSpPr>
        <p:spPr>
          <a:xfrm>
            <a:off x="0" y="0"/>
            <a:ext cx="3374136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56239B3-4A2F-0C44-B80C-42AC849A9572}"/>
              </a:ext>
            </a:extLst>
          </p:cNvPr>
          <p:cNvSpPr/>
          <p:nvPr/>
        </p:nvSpPr>
        <p:spPr>
          <a:xfrm>
            <a:off x="3374136" y="0"/>
            <a:ext cx="8817864" cy="6858000"/>
          </a:xfrm>
          <a:prstGeom prst="rect">
            <a:avLst/>
          </a:prstGeom>
          <a:solidFill>
            <a:srgbClr val="0816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6DE266D4-C0CC-6112-FD3F-3447D9D03E4F}"/>
              </a:ext>
            </a:extLst>
          </p:cNvPr>
          <p:cNvSpPr/>
          <p:nvPr/>
        </p:nvSpPr>
        <p:spPr>
          <a:xfrm>
            <a:off x="3593334" y="1797099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A0D8BFB-0F74-BC05-ABA4-C164ACC79CDE}"/>
              </a:ext>
            </a:extLst>
          </p:cNvPr>
          <p:cNvSpPr/>
          <p:nvPr/>
        </p:nvSpPr>
        <p:spPr>
          <a:xfrm>
            <a:off x="3589150" y="2590553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1F5D3-824B-97ED-C6B2-01C14B842B56}"/>
              </a:ext>
            </a:extLst>
          </p:cNvPr>
          <p:cNvSpPr txBox="1"/>
          <p:nvPr/>
        </p:nvSpPr>
        <p:spPr>
          <a:xfrm>
            <a:off x="4053669" y="1766015"/>
            <a:ext cx="426591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과제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채팅창에서 요구되는 민감 정보 식별 후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Drag &amp; Drop</a:t>
            </a:r>
            <a:r>
              <a:rPr kumimoji="1"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으로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차단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C9ECF6-4E75-E7F8-9A5A-99E2FE6D1D37}"/>
              </a:ext>
            </a:extLst>
          </p:cNvPr>
          <p:cNvSpPr txBox="1"/>
          <p:nvPr/>
        </p:nvSpPr>
        <p:spPr>
          <a:xfrm>
            <a:off x="4075608" y="2556613"/>
            <a:ext cx="466506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민감 정보 예시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통장 비밀번호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OTP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번호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신분증 사본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보안카드 사진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신용카드 정보</a:t>
            </a:r>
            <a:endParaRPr kumimoji="1" lang="en-US" altLang="ko-KR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C6BE9C-4D57-5596-B4F9-FB5C6D9A0000}"/>
              </a:ext>
            </a:extLst>
          </p:cNvPr>
          <p:cNvSpPr txBox="1"/>
          <p:nvPr/>
        </p:nvSpPr>
        <p:spPr>
          <a:xfrm>
            <a:off x="4075608" y="3319865"/>
            <a:ext cx="420820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성공조건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치명적 위험 패턴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 정확히 분류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하나라도 넘기면 위험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97BB36-7386-DDB8-3EA2-C22B48B18890}"/>
              </a:ext>
            </a:extLst>
          </p:cNvPr>
          <p:cNvSpPr txBox="1"/>
          <p:nvPr/>
        </p:nvSpPr>
        <p:spPr>
          <a:xfrm>
            <a:off x="4075608" y="4083117"/>
            <a:ext cx="375776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 err="1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인터렉션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-US" altLang="ko-KR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React_dnd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드래그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드롭 시 실시간 위험도 </a:t>
            </a:r>
            <a:r>
              <a:rPr kumimoji="1"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뱃지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노출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60DC2AD5-F7AD-E2A1-1DA4-C28628C66A45}"/>
              </a:ext>
            </a:extLst>
          </p:cNvPr>
          <p:cNvSpPr/>
          <p:nvPr/>
        </p:nvSpPr>
        <p:spPr>
          <a:xfrm>
            <a:off x="3600119" y="3345198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B177DF9C-33BF-467D-E931-C135700A2C92}"/>
              </a:ext>
            </a:extLst>
          </p:cNvPr>
          <p:cNvSpPr/>
          <p:nvPr/>
        </p:nvSpPr>
        <p:spPr>
          <a:xfrm>
            <a:off x="3589148" y="4100721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BE260-ED6C-B11C-D72D-2D2393B0F31C}"/>
              </a:ext>
            </a:extLst>
          </p:cNvPr>
          <p:cNvSpPr txBox="1"/>
          <p:nvPr/>
        </p:nvSpPr>
        <p:spPr>
          <a:xfrm>
            <a:off x="168341" y="1529614"/>
            <a:ext cx="21178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미션 </a:t>
            </a:r>
            <a:r>
              <a:rPr kumimoji="1" lang="en-US" altLang="ko-KR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kumimoji="1" lang="ko-KR" alt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상세</a:t>
            </a:r>
            <a:r>
              <a:rPr kumimoji="1" lang="en-US" altLang="ko-KR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</a:p>
          <a:p>
            <a:r>
              <a:rPr kumimoji="1" lang="ko-KR" altLang="en-US" sz="2400" b="1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사기범과의 대화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ABB2CB-5014-F157-EA8B-CF71830E78BE}"/>
              </a:ext>
            </a:extLst>
          </p:cNvPr>
          <p:cNvSpPr txBox="1"/>
          <p:nvPr/>
        </p:nvSpPr>
        <p:spPr>
          <a:xfrm>
            <a:off x="4075608" y="4863059"/>
            <a:ext cx="501451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 포인트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결코 제공해서는 안 되는 개인정보의 종류를 인지하고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요청 즉시 대화 중단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0315822-4F14-2142-E3F5-693C343690EA}"/>
              </a:ext>
            </a:extLst>
          </p:cNvPr>
          <p:cNvSpPr/>
          <p:nvPr/>
        </p:nvSpPr>
        <p:spPr>
          <a:xfrm>
            <a:off x="3602027" y="4883992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22" name="그래픽 21" descr="클립보드 선택 표시됨 단색으로 채워진">
            <a:extLst>
              <a:ext uri="{FF2B5EF4-FFF2-40B4-BE49-F238E27FC236}">
                <a16:creationId xmlns:a16="http://schemas.microsoft.com/office/drawing/2014/main" id="{84607B4E-23C1-117F-3911-7FC553357A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78924" y="1862406"/>
            <a:ext cx="302723" cy="302723"/>
          </a:xfrm>
          <a:prstGeom prst="rect">
            <a:avLst/>
          </a:prstGeom>
        </p:spPr>
      </p:pic>
      <p:pic>
        <p:nvPicPr>
          <p:cNvPr id="28" name="그래픽 27" descr="배지 체크 표시1 단색으로 채워진">
            <a:extLst>
              <a:ext uri="{FF2B5EF4-FFF2-40B4-BE49-F238E27FC236}">
                <a16:creationId xmlns:a16="http://schemas.microsoft.com/office/drawing/2014/main" id="{0E321712-80C2-5BC3-1064-B0FA51E2D6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93372" y="3429000"/>
            <a:ext cx="269266" cy="269266"/>
          </a:xfrm>
          <a:prstGeom prst="rect">
            <a:avLst/>
          </a:prstGeom>
        </p:spPr>
      </p:pic>
      <p:pic>
        <p:nvPicPr>
          <p:cNvPr id="32" name="그래픽 31" descr="경고 단색으로 채워진">
            <a:extLst>
              <a:ext uri="{FF2B5EF4-FFF2-40B4-BE49-F238E27FC236}">
                <a16:creationId xmlns:a16="http://schemas.microsoft.com/office/drawing/2014/main" id="{781FC574-52D7-E920-3280-FF0C15DEF7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83586" y="2658923"/>
            <a:ext cx="263775" cy="263775"/>
          </a:xfrm>
          <a:prstGeom prst="rect">
            <a:avLst/>
          </a:prstGeom>
        </p:spPr>
      </p:pic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2BB0BB09-2982-A1D4-5633-F8E6F231EBA6}"/>
              </a:ext>
            </a:extLst>
          </p:cNvPr>
          <p:cNvSpPr/>
          <p:nvPr/>
        </p:nvSpPr>
        <p:spPr>
          <a:xfrm>
            <a:off x="116989" y="3856741"/>
            <a:ext cx="2905414" cy="1828114"/>
          </a:xfrm>
          <a:prstGeom prst="roundRect">
            <a:avLst/>
          </a:prstGeom>
          <a:solidFill>
            <a:schemeClr val="accent1">
              <a:lumMod val="50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52E6F8E6-8DF9-4E11-63C7-386899A3B3B5}"/>
              </a:ext>
            </a:extLst>
          </p:cNvPr>
          <p:cNvSpPr/>
          <p:nvPr/>
        </p:nvSpPr>
        <p:spPr>
          <a:xfrm>
            <a:off x="310365" y="3997896"/>
            <a:ext cx="2518663" cy="772902"/>
          </a:xfrm>
          <a:prstGeom prst="roundRect">
            <a:avLst/>
          </a:prstGeom>
          <a:solidFill>
            <a:srgbClr val="FE4151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1200" dirty="0"/>
              <a:t>안녕하세요</a:t>
            </a:r>
            <a:r>
              <a:rPr kumimoji="1" lang="en-US" altLang="ko-KR" sz="1200" dirty="0"/>
              <a:t>?</a:t>
            </a:r>
            <a:r>
              <a:rPr kumimoji="1" lang="ko-KR" altLang="en-US" sz="1200" dirty="0"/>
              <a:t> 지금 바로 고수익 알바 시작 가능합니다</a:t>
            </a:r>
            <a:r>
              <a:rPr kumimoji="1" lang="en-US" altLang="ko-KR" sz="1200" dirty="0"/>
              <a:t>.</a:t>
            </a:r>
            <a:r>
              <a:rPr kumimoji="1" lang="ko-KR" altLang="en-US" sz="1200" dirty="0"/>
              <a:t> </a:t>
            </a:r>
            <a:r>
              <a:rPr kumimoji="1" lang="ko-KR" altLang="en-US" sz="12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통장 사본 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</a:t>
            </a:r>
            <a:r>
              <a:rPr kumimoji="1" lang="ko-KR" altLang="en-US" sz="12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비밀번호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 보내주시면 됩니다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54ACA55F-30FA-12B7-624C-C78739860794}"/>
              </a:ext>
            </a:extLst>
          </p:cNvPr>
          <p:cNvSpPr/>
          <p:nvPr/>
        </p:nvSpPr>
        <p:spPr>
          <a:xfrm>
            <a:off x="255184" y="4973632"/>
            <a:ext cx="930317" cy="564979"/>
          </a:xfrm>
          <a:prstGeom prst="roundRect">
            <a:avLst/>
          </a:prstGeom>
          <a:solidFill>
            <a:srgbClr val="FE4151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1200" dirty="0"/>
              <a:t>    통장</a:t>
            </a:r>
            <a:endParaRPr kumimoji="1" lang="en-US" altLang="ko-KR" sz="1200" dirty="0"/>
          </a:p>
          <a:p>
            <a:r>
              <a:rPr kumimoji="1" lang="ko-KR" altLang="en-US" sz="1200" dirty="0"/>
              <a:t>비밀번호</a:t>
            </a:r>
            <a:endParaRPr kumimoji="1" lang="ko-KR" altLang="en-US" sz="1200" dirty="0">
              <a:solidFill>
                <a:schemeClr val="bg1"/>
              </a:solidFill>
            </a:endParaRPr>
          </a:p>
        </p:txBody>
      </p:sp>
      <p:pic>
        <p:nvPicPr>
          <p:cNvPr id="27" name="그래픽 26" descr="열린 자물쇠 단색으로 채워진">
            <a:extLst>
              <a:ext uri="{FF2B5EF4-FFF2-40B4-BE49-F238E27FC236}">
                <a16:creationId xmlns:a16="http://schemas.microsoft.com/office/drawing/2014/main" id="{DF7B2405-4118-57AC-D61F-48DD5F5E075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4163" y="5037431"/>
            <a:ext cx="215918" cy="215918"/>
          </a:xfrm>
          <a:prstGeom prst="rect">
            <a:avLst/>
          </a:prstGeom>
        </p:spPr>
      </p:pic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D33B69A2-2C24-5BD3-A517-0AC5C211064B}"/>
              </a:ext>
            </a:extLst>
          </p:cNvPr>
          <p:cNvSpPr/>
          <p:nvPr/>
        </p:nvSpPr>
        <p:spPr>
          <a:xfrm>
            <a:off x="1616156" y="4992791"/>
            <a:ext cx="1284091" cy="564979"/>
          </a:xfrm>
          <a:prstGeom prst="roundRect">
            <a:avLst/>
          </a:prstGeom>
          <a:noFill/>
          <a:ln>
            <a:solidFill>
              <a:srgbClr val="23F9E8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1200" dirty="0">
                <a:solidFill>
                  <a:srgbClr val="23F9E8"/>
                </a:solidFill>
              </a:rPr>
              <a:t>      차단 영역</a:t>
            </a:r>
          </a:p>
        </p:txBody>
      </p:sp>
      <p:pic>
        <p:nvPicPr>
          <p:cNvPr id="33" name="그래픽 32" descr="방패 단색으로 채워진">
            <a:extLst>
              <a:ext uri="{FF2B5EF4-FFF2-40B4-BE49-F238E27FC236}">
                <a16:creationId xmlns:a16="http://schemas.microsoft.com/office/drawing/2014/main" id="{66DF99CC-C9F8-92E7-2FC9-8159474435D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73913" y="5151008"/>
            <a:ext cx="248543" cy="248543"/>
          </a:xfrm>
          <a:prstGeom prst="rect">
            <a:avLst/>
          </a:prstGeom>
        </p:spPr>
      </p:pic>
      <p:sp>
        <p:nvSpPr>
          <p:cNvPr id="34" name="오른쪽 화살표[R] 33">
            <a:extLst>
              <a:ext uri="{FF2B5EF4-FFF2-40B4-BE49-F238E27FC236}">
                <a16:creationId xmlns:a16="http://schemas.microsoft.com/office/drawing/2014/main" id="{A4CEB994-738B-D294-D9C9-AAD819F1F2AF}"/>
              </a:ext>
            </a:extLst>
          </p:cNvPr>
          <p:cNvSpPr/>
          <p:nvPr/>
        </p:nvSpPr>
        <p:spPr>
          <a:xfrm>
            <a:off x="1276557" y="5176572"/>
            <a:ext cx="248543" cy="153554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36" name="그래픽 35" descr="커서 단색으로 채워진">
            <a:extLst>
              <a:ext uri="{FF2B5EF4-FFF2-40B4-BE49-F238E27FC236}">
                <a16:creationId xmlns:a16="http://schemas.microsoft.com/office/drawing/2014/main" id="{4429C2F9-B781-7A3D-C266-8FA351B1090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91268" y="4199593"/>
            <a:ext cx="256093" cy="256093"/>
          </a:xfrm>
          <a:prstGeom prst="rect">
            <a:avLst/>
          </a:prstGeom>
        </p:spPr>
      </p:pic>
      <p:pic>
        <p:nvPicPr>
          <p:cNvPr id="37" name="그래픽 36" descr="학사모 단색으로 채워진">
            <a:extLst>
              <a:ext uri="{FF2B5EF4-FFF2-40B4-BE49-F238E27FC236}">
                <a16:creationId xmlns:a16="http://schemas.microsoft.com/office/drawing/2014/main" id="{EE2E95C0-0D7E-9853-4A7A-F691161BA37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81488" y="4950927"/>
            <a:ext cx="320719" cy="320719"/>
          </a:xfrm>
          <a:prstGeom prst="rect">
            <a:avLst/>
          </a:prstGeom>
        </p:spPr>
      </p:pic>
      <p:pic>
        <p:nvPicPr>
          <p:cNvPr id="39" name="그래픽 38" descr="댓글 슬래시 침묵 단색으로 채워진">
            <a:extLst>
              <a:ext uri="{FF2B5EF4-FFF2-40B4-BE49-F238E27FC236}">
                <a16:creationId xmlns:a16="http://schemas.microsoft.com/office/drawing/2014/main" id="{C32A5D27-E17F-230F-FECB-36DF8815769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6989" y="2360611"/>
            <a:ext cx="1408111" cy="140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692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DD25C-8CA0-33CF-1A6D-FCC85869C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C519D03B-EA6F-C2FB-58AF-78B184D4936D}"/>
              </a:ext>
            </a:extLst>
          </p:cNvPr>
          <p:cNvSpPr/>
          <p:nvPr/>
        </p:nvSpPr>
        <p:spPr>
          <a:xfrm>
            <a:off x="0" y="0"/>
            <a:ext cx="3374136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0A67B51-B11A-8CC2-EE49-530EDF60E897}"/>
              </a:ext>
            </a:extLst>
          </p:cNvPr>
          <p:cNvSpPr/>
          <p:nvPr/>
        </p:nvSpPr>
        <p:spPr>
          <a:xfrm>
            <a:off x="3374136" y="0"/>
            <a:ext cx="8817864" cy="6858000"/>
          </a:xfrm>
          <a:prstGeom prst="rect">
            <a:avLst/>
          </a:prstGeom>
          <a:solidFill>
            <a:srgbClr val="0816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E8BD49F9-D552-EC6A-7C6C-AEAB1A4C55EF}"/>
              </a:ext>
            </a:extLst>
          </p:cNvPr>
          <p:cNvSpPr/>
          <p:nvPr/>
        </p:nvSpPr>
        <p:spPr>
          <a:xfrm>
            <a:off x="3593334" y="1797099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16DEF96-8C8A-B661-5B0D-28A860478BE5}"/>
              </a:ext>
            </a:extLst>
          </p:cNvPr>
          <p:cNvSpPr/>
          <p:nvPr/>
        </p:nvSpPr>
        <p:spPr>
          <a:xfrm>
            <a:off x="3593334" y="2553297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ED0E75-B5BB-402A-DB6D-9E88AE660901}"/>
              </a:ext>
            </a:extLst>
          </p:cNvPr>
          <p:cNvSpPr txBox="1"/>
          <p:nvPr/>
        </p:nvSpPr>
        <p:spPr>
          <a:xfrm>
            <a:off x="4053669" y="1766015"/>
            <a:ext cx="406553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과제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수집한 단서를 위험 분석 시스템에 제출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사기 유형 최종 판단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985E04-6E00-240A-E5F2-EA1C12CBFE45}"/>
              </a:ext>
            </a:extLst>
          </p:cNvPr>
          <p:cNvSpPr txBox="1"/>
          <p:nvPr/>
        </p:nvSpPr>
        <p:spPr>
          <a:xfrm>
            <a:off x="4075608" y="2529267"/>
            <a:ext cx="398218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행동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민감 정보 드래그 투입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-&gt;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유형 분류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-&gt;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112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신고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버튼 클릭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681D37-0E3B-642C-09A7-61F289666BE4}"/>
              </a:ext>
            </a:extLst>
          </p:cNvPr>
          <p:cNvSpPr txBox="1"/>
          <p:nvPr/>
        </p:nvSpPr>
        <p:spPr>
          <a:xfrm>
            <a:off x="4075608" y="3319865"/>
            <a:ext cx="307327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성공조건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유형 정확도 충족 및 즉시 신고 프로세스 수행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E2C1D7-D221-ED03-BE00-2CB2BA4B6048}"/>
              </a:ext>
            </a:extLst>
          </p:cNvPr>
          <p:cNvSpPr txBox="1"/>
          <p:nvPr/>
        </p:nvSpPr>
        <p:spPr>
          <a:xfrm>
            <a:off x="4075608" y="4083117"/>
            <a:ext cx="272702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보상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점수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클리어 시간 기록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리캡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카드 제공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38FC164-D6DD-F8BD-C9C8-B0734E3A45A5}"/>
              </a:ext>
            </a:extLst>
          </p:cNvPr>
          <p:cNvSpPr/>
          <p:nvPr/>
        </p:nvSpPr>
        <p:spPr>
          <a:xfrm>
            <a:off x="3600119" y="3345198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2E74965-0398-9951-A4E7-62A97794ED73}"/>
              </a:ext>
            </a:extLst>
          </p:cNvPr>
          <p:cNvSpPr/>
          <p:nvPr/>
        </p:nvSpPr>
        <p:spPr>
          <a:xfrm>
            <a:off x="3597837" y="4139281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97507D-AFF0-0027-AC70-33255C994093}"/>
              </a:ext>
            </a:extLst>
          </p:cNvPr>
          <p:cNvSpPr txBox="1"/>
          <p:nvPr/>
        </p:nvSpPr>
        <p:spPr>
          <a:xfrm>
            <a:off x="194951" y="2231363"/>
            <a:ext cx="22589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미션 </a:t>
            </a:r>
            <a:r>
              <a:rPr kumimoji="1" lang="en-US" altLang="ko-KR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kumimoji="1" lang="ko-KR" alt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상세</a:t>
            </a:r>
            <a:r>
              <a:rPr kumimoji="1" lang="en-US" altLang="ko-KR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</a:p>
          <a:p>
            <a:r>
              <a:rPr kumimoji="1" lang="ko-KR" altLang="en-US" sz="2400" b="1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위험 감지 및 탈출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56ABC1-9D88-F373-DC35-7CDA363B379B}"/>
              </a:ext>
            </a:extLst>
          </p:cNvPr>
          <p:cNvSpPr txBox="1"/>
          <p:nvPr/>
        </p:nvSpPr>
        <p:spPr>
          <a:xfrm>
            <a:off x="4075608" y="4863059"/>
            <a:ext cx="254108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 포인트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대화 중단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증거 보관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신고절차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숙지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3D0D2A5-4F3C-5485-E59B-CD158E31CCEC}"/>
              </a:ext>
            </a:extLst>
          </p:cNvPr>
          <p:cNvSpPr/>
          <p:nvPr/>
        </p:nvSpPr>
        <p:spPr>
          <a:xfrm>
            <a:off x="3602027" y="4883992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22" name="그래픽 21" descr="클립보드 선택 표시됨 단색으로 채워진">
            <a:extLst>
              <a:ext uri="{FF2B5EF4-FFF2-40B4-BE49-F238E27FC236}">
                <a16:creationId xmlns:a16="http://schemas.microsoft.com/office/drawing/2014/main" id="{1719393B-DE50-DB0A-D4FC-E08590ABEB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78924" y="1862406"/>
            <a:ext cx="302723" cy="302723"/>
          </a:xfrm>
          <a:prstGeom prst="rect">
            <a:avLst/>
          </a:prstGeom>
        </p:spPr>
      </p:pic>
      <p:pic>
        <p:nvPicPr>
          <p:cNvPr id="28" name="그래픽 27" descr="배지 체크 표시1 단색으로 채워진">
            <a:extLst>
              <a:ext uri="{FF2B5EF4-FFF2-40B4-BE49-F238E27FC236}">
                <a16:creationId xmlns:a16="http://schemas.microsoft.com/office/drawing/2014/main" id="{C800A627-7A3B-A8A3-F868-22C8511542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93372" y="3429000"/>
            <a:ext cx="269266" cy="269266"/>
          </a:xfrm>
          <a:prstGeom prst="rect">
            <a:avLst/>
          </a:prstGeom>
        </p:spPr>
      </p:pic>
      <p:pic>
        <p:nvPicPr>
          <p:cNvPr id="30" name="그래픽 29" descr="전구 단색으로 채워진">
            <a:extLst>
              <a:ext uri="{FF2B5EF4-FFF2-40B4-BE49-F238E27FC236}">
                <a16:creationId xmlns:a16="http://schemas.microsoft.com/office/drawing/2014/main" id="{5B12D6A0-1168-5802-F463-8AD32F26D1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8126" y="4949470"/>
            <a:ext cx="302381" cy="302381"/>
          </a:xfrm>
          <a:prstGeom prst="rect">
            <a:avLst/>
          </a:prstGeom>
        </p:spPr>
      </p:pic>
      <p:pic>
        <p:nvPicPr>
          <p:cNvPr id="4" name="그래픽 3" descr="문이 열려 있음 단색으로 채워진">
            <a:extLst>
              <a:ext uri="{FF2B5EF4-FFF2-40B4-BE49-F238E27FC236}">
                <a16:creationId xmlns:a16="http://schemas.microsoft.com/office/drawing/2014/main" id="{C7185F21-2C07-A612-EA01-674A4F66DCF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5517" y="3158396"/>
            <a:ext cx="1354342" cy="1354342"/>
          </a:xfrm>
          <a:prstGeom prst="rect">
            <a:avLst/>
          </a:prstGeom>
        </p:spPr>
      </p:pic>
      <p:pic>
        <p:nvPicPr>
          <p:cNvPr id="10" name="그래픽 9" descr="트로피 단색으로 채워진">
            <a:extLst>
              <a:ext uri="{FF2B5EF4-FFF2-40B4-BE49-F238E27FC236}">
                <a16:creationId xmlns:a16="http://schemas.microsoft.com/office/drawing/2014/main" id="{69353889-FE6E-1091-D379-1959F176F53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84390" y="4223857"/>
            <a:ext cx="278248" cy="278248"/>
          </a:xfrm>
          <a:prstGeom prst="rect">
            <a:avLst/>
          </a:prstGeom>
        </p:spPr>
      </p:pic>
      <p:pic>
        <p:nvPicPr>
          <p:cNvPr id="16" name="그래픽 15" descr="커서 단색으로 채워진">
            <a:extLst>
              <a:ext uri="{FF2B5EF4-FFF2-40B4-BE49-F238E27FC236}">
                <a16:creationId xmlns:a16="http://schemas.microsoft.com/office/drawing/2014/main" id="{3525DA5D-03C1-7A46-92CC-3C7861DB172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99957" y="2655118"/>
            <a:ext cx="256093" cy="25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927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4359B-5481-EB2B-AF18-2450BCF66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908FCC09-8364-F7EC-63A1-122F1AC82B54}"/>
              </a:ext>
            </a:extLst>
          </p:cNvPr>
          <p:cNvSpPr/>
          <p:nvPr/>
        </p:nvSpPr>
        <p:spPr>
          <a:xfrm>
            <a:off x="24867" y="0"/>
            <a:ext cx="12243918" cy="6858000"/>
          </a:xfrm>
          <a:prstGeom prst="rect">
            <a:avLst/>
          </a:prstGeom>
          <a:solidFill>
            <a:srgbClr val="0816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AE19A3-324D-3D43-2226-1438CAC61447}"/>
              </a:ext>
            </a:extLst>
          </p:cNvPr>
          <p:cNvSpPr txBox="1"/>
          <p:nvPr/>
        </p:nvSpPr>
        <p:spPr>
          <a:xfrm>
            <a:off x="336879" y="314926"/>
            <a:ext cx="2454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기술 구현 </a:t>
            </a:r>
            <a:r>
              <a:rPr kumimoji="1" lang="ko-KR" altLang="en-US" sz="2400" b="1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아키텍처</a:t>
            </a:r>
            <a:endParaRPr kumimoji="1" lang="ko-KR" altLang="en-US" sz="24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298792-57DD-DC05-8AD7-55612D45B359}"/>
              </a:ext>
            </a:extLst>
          </p:cNvPr>
          <p:cNvSpPr txBox="1"/>
          <p:nvPr/>
        </p:nvSpPr>
        <p:spPr>
          <a:xfrm>
            <a:off x="336879" y="856603"/>
            <a:ext cx="51748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React</a:t>
            </a:r>
            <a:r>
              <a:rPr kumimoji="1" lang="ko-KR" altLang="en-US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와 </a:t>
            </a:r>
            <a:r>
              <a:rPr kumimoji="1" lang="en-US" altLang="ko-KR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Spring Boot</a:t>
            </a:r>
            <a:r>
              <a:rPr kumimoji="1" lang="ko-KR" altLang="en-US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</a:t>
            </a:r>
            <a:r>
              <a:rPr kumimoji="1" lang="ko-KR" altLang="en-US" sz="1300" dirty="0" err="1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풀스택</a:t>
            </a:r>
            <a:r>
              <a:rPr kumimoji="1" lang="ko-KR" altLang="en-US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구조로 안정적이고 동적인 사용자 경험 구현</a:t>
            </a:r>
            <a:r>
              <a:rPr kumimoji="1" lang="en-US" altLang="ko-KR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kumimoji="1" lang="ko-KR" altLang="en-US" sz="1300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4E14DC66-7405-9CF2-6E7F-7188C1BD2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100714"/>
              </p:ext>
            </p:extLst>
          </p:nvPr>
        </p:nvGraphicFramePr>
        <p:xfrm>
          <a:off x="526842" y="1146319"/>
          <a:ext cx="5325800" cy="354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5800">
                  <a:extLst>
                    <a:ext uri="{9D8B030D-6E8A-4147-A177-3AD203B41FA5}">
                      <a16:colId xmlns:a16="http://schemas.microsoft.com/office/drawing/2014/main" val="1521993156"/>
                    </a:ext>
                  </a:extLst>
                </a:gridCol>
              </a:tblGrid>
              <a:tr h="118728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414315"/>
                  </a:ext>
                </a:extLst>
              </a:tr>
              <a:tr h="2357575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084165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CB3A4FFA-C793-42C2-EF33-E38EDD3A8BBF}"/>
              </a:ext>
            </a:extLst>
          </p:cNvPr>
          <p:cNvSpPr txBox="1"/>
          <p:nvPr/>
        </p:nvSpPr>
        <p:spPr>
          <a:xfrm>
            <a:off x="1023717" y="1579819"/>
            <a:ext cx="223971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 err="1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프론트엔드</a:t>
            </a:r>
            <a:r>
              <a:rPr kumimoji="1" lang="ko-KR" altLang="en-US" sz="20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20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(React)</a:t>
            </a:r>
          </a:p>
          <a:p>
            <a:endParaRPr kumimoji="1" lang="en-US" altLang="ko-KR" sz="500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 err="1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몰입감</a:t>
            </a:r>
            <a:r>
              <a:rPr kumimoji="1" lang="ko-KR" altLang="en-US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있는 사용자 인터페이스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A22C6D-D68B-04D5-5E1F-7CE111FE9213}"/>
              </a:ext>
            </a:extLst>
          </p:cNvPr>
          <p:cNvSpPr txBox="1"/>
          <p:nvPr/>
        </p:nvSpPr>
        <p:spPr>
          <a:xfrm>
            <a:off x="821518" y="2468271"/>
            <a:ext cx="5052986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UI/UX</a:t>
            </a:r>
          </a:p>
          <a:p>
            <a:endParaRPr kumimoji="1" lang="en-US" altLang="ko-KR" sz="5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모바일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채팅 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UI 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중심의 친숙한 배경을 사용하여 현실감을 높이고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CSS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애니메이션</a:t>
            </a:r>
            <a:endParaRPr kumimoji="1" lang="en-US" altLang="ko-KR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으로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긴박한 타이머와 효과음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(Audio API)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제어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6F2D43-29C7-B09B-DFC6-B9102E59DEE9}"/>
              </a:ext>
            </a:extLst>
          </p:cNvPr>
          <p:cNvSpPr txBox="1"/>
          <p:nvPr/>
        </p:nvSpPr>
        <p:spPr>
          <a:xfrm>
            <a:off x="821518" y="3296729"/>
            <a:ext cx="5166799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인터랙션</a:t>
            </a:r>
            <a:endParaRPr kumimoji="1" lang="en-US" altLang="ko-KR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Drag &amp; Drop 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퍼즐 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(react-</a:t>
            </a:r>
            <a:r>
              <a:rPr kumimoji="1" lang="en-US" altLang="ko-KR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dnd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 활용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통해 미션 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민감 정보 보호 행동을 능</a:t>
            </a:r>
            <a:endParaRPr kumimoji="1" lang="en-US" altLang="ko-KR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동적으로 구현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3D53F3-9449-26A2-72F5-E5B089EA87F1}"/>
              </a:ext>
            </a:extLst>
          </p:cNvPr>
          <p:cNvSpPr txBox="1"/>
          <p:nvPr/>
        </p:nvSpPr>
        <p:spPr>
          <a:xfrm>
            <a:off x="837142" y="4084389"/>
            <a:ext cx="5067413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피드백</a:t>
            </a:r>
            <a:endParaRPr kumimoji="1" lang="en-US" altLang="ko-KR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오답 시 </a:t>
            </a:r>
            <a:r>
              <a:rPr kumimoji="1" lang="en-US" altLang="ko-KR" sz="12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kumimoji="1" lang="ko-KR" altLang="en-US" sz="12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개인 정보가 유출될 뻔했습니다</a:t>
            </a:r>
            <a:r>
              <a:rPr kumimoji="1" lang="en-US" altLang="ko-KR" sz="12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!’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와 같은 경고 메시지를 시각적으로 강렬하</a:t>
            </a:r>
            <a:endParaRPr kumimoji="1" lang="en-US" altLang="ko-KR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게 표시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46190B8A-AD5D-6335-04F6-6E121C60FE96}"/>
              </a:ext>
            </a:extLst>
          </p:cNvPr>
          <p:cNvSpPr/>
          <p:nvPr/>
        </p:nvSpPr>
        <p:spPr>
          <a:xfrm>
            <a:off x="451774" y="2524942"/>
            <a:ext cx="389299" cy="3676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26" name="그래픽 25" descr="텔레비전 단색으로 채워진">
            <a:extLst>
              <a:ext uri="{FF2B5EF4-FFF2-40B4-BE49-F238E27FC236}">
                <a16:creationId xmlns:a16="http://schemas.microsoft.com/office/drawing/2014/main" id="{BFBB0C85-7B1E-43DE-BAE5-3D81BD22FD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526842" y="2589209"/>
            <a:ext cx="239165" cy="239165"/>
          </a:xfrm>
          <a:prstGeom prst="rect">
            <a:avLst/>
          </a:prstGeom>
        </p:spPr>
      </p:pic>
      <p:sp>
        <p:nvSpPr>
          <p:cNvPr id="30" name="타원 29">
            <a:extLst>
              <a:ext uri="{FF2B5EF4-FFF2-40B4-BE49-F238E27FC236}">
                <a16:creationId xmlns:a16="http://schemas.microsoft.com/office/drawing/2014/main" id="{0B72C259-368C-F9CA-BF4A-801D18A04332}"/>
              </a:ext>
            </a:extLst>
          </p:cNvPr>
          <p:cNvSpPr/>
          <p:nvPr/>
        </p:nvSpPr>
        <p:spPr>
          <a:xfrm>
            <a:off x="453230" y="3329959"/>
            <a:ext cx="389299" cy="3676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28" name="그래픽 27" descr="오른쪽을 가리키는 검지  단색으로 채워진">
            <a:extLst>
              <a:ext uri="{FF2B5EF4-FFF2-40B4-BE49-F238E27FC236}">
                <a16:creationId xmlns:a16="http://schemas.microsoft.com/office/drawing/2014/main" id="{8B7B68AF-A1B4-2210-5530-626CBDD671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526842" y="3394226"/>
            <a:ext cx="239165" cy="239165"/>
          </a:xfrm>
          <a:prstGeom prst="rect">
            <a:avLst/>
          </a:prstGeom>
        </p:spPr>
      </p:pic>
      <p:sp>
        <p:nvSpPr>
          <p:cNvPr id="31" name="타원 30">
            <a:extLst>
              <a:ext uri="{FF2B5EF4-FFF2-40B4-BE49-F238E27FC236}">
                <a16:creationId xmlns:a16="http://schemas.microsoft.com/office/drawing/2014/main" id="{68B95C71-7F94-4D34-8497-E414BEF17AF2}"/>
              </a:ext>
            </a:extLst>
          </p:cNvPr>
          <p:cNvSpPr/>
          <p:nvPr/>
        </p:nvSpPr>
        <p:spPr>
          <a:xfrm>
            <a:off x="447843" y="4091333"/>
            <a:ext cx="389299" cy="3676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33" name="그래픽 32" descr="말풍선 단색으로 채워진">
            <a:extLst>
              <a:ext uri="{FF2B5EF4-FFF2-40B4-BE49-F238E27FC236}">
                <a16:creationId xmlns:a16="http://schemas.microsoft.com/office/drawing/2014/main" id="{42FE661D-7398-7E8C-E428-604C07C8FD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487446" y="4134976"/>
            <a:ext cx="318949" cy="318949"/>
          </a:xfrm>
          <a:prstGeom prst="rect">
            <a:avLst/>
          </a:prstGeom>
        </p:spPr>
      </p:pic>
      <p:pic>
        <p:nvPicPr>
          <p:cNvPr id="35" name="그림 34" descr="그래픽, 원, 다채로움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66E635-2A9D-7890-76C7-0F82B7E612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189" y="1683375"/>
            <a:ext cx="499029" cy="444542"/>
          </a:xfrm>
          <a:prstGeom prst="rect">
            <a:avLst/>
          </a:prstGeom>
        </p:spPr>
      </p:pic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76ABED74-6926-30BE-FEC7-BA9AB2E61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270067"/>
              </p:ext>
            </p:extLst>
          </p:nvPr>
        </p:nvGraphicFramePr>
        <p:xfrm>
          <a:off x="6511582" y="1146319"/>
          <a:ext cx="5325800" cy="354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5800">
                  <a:extLst>
                    <a:ext uri="{9D8B030D-6E8A-4147-A177-3AD203B41FA5}">
                      <a16:colId xmlns:a16="http://schemas.microsoft.com/office/drawing/2014/main" val="1521993156"/>
                    </a:ext>
                  </a:extLst>
                </a:gridCol>
              </a:tblGrid>
              <a:tr h="118728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414315"/>
                  </a:ext>
                </a:extLst>
              </a:tr>
              <a:tr h="2357575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084165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EC896317-C896-0CA4-2137-C0B00FC835DE}"/>
              </a:ext>
            </a:extLst>
          </p:cNvPr>
          <p:cNvSpPr txBox="1"/>
          <p:nvPr/>
        </p:nvSpPr>
        <p:spPr>
          <a:xfrm>
            <a:off x="6838893" y="1579819"/>
            <a:ext cx="251703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 err="1">
                <a:solidFill>
                  <a:srgbClr val="92D0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백엔드</a:t>
            </a:r>
            <a:r>
              <a:rPr kumimoji="1" lang="ko-KR" altLang="en-US" sz="2000" dirty="0">
                <a:solidFill>
                  <a:srgbClr val="92D0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2000" dirty="0">
                <a:solidFill>
                  <a:srgbClr val="92D0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(Spring Boot)</a:t>
            </a:r>
          </a:p>
          <a:p>
            <a:endParaRPr kumimoji="1" lang="en-US" altLang="ko-KR" sz="500" dirty="0">
              <a:solidFill>
                <a:srgbClr val="92D05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rgbClr val="92D0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 분석 로직과 데이터 관리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71D436C-1907-E6BF-4010-B93328599F86}"/>
              </a:ext>
            </a:extLst>
          </p:cNvPr>
          <p:cNvSpPr txBox="1"/>
          <p:nvPr/>
        </p:nvSpPr>
        <p:spPr>
          <a:xfrm>
            <a:off x="6875818" y="2524942"/>
            <a:ext cx="4613764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Restful API</a:t>
            </a:r>
          </a:p>
          <a:p>
            <a:endParaRPr kumimoji="1" lang="en-US" altLang="ko-KR" sz="5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React 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클라이언트의 모든 미션 체크 요청을 처리하는 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API </a:t>
            </a:r>
            <a:r>
              <a:rPr kumimoji="1" lang="ko-KR" altLang="en-US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엔드포인트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설계</a:t>
            </a: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DBA95CAC-DD7A-B07D-3A7B-9AF275753145}"/>
              </a:ext>
            </a:extLst>
          </p:cNvPr>
          <p:cNvSpPr/>
          <p:nvPr/>
        </p:nvSpPr>
        <p:spPr>
          <a:xfrm>
            <a:off x="6492887" y="2524050"/>
            <a:ext cx="389299" cy="3676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3" name="그래픽 2" descr="서버 단색으로 채워진">
            <a:extLst>
              <a:ext uri="{FF2B5EF4-FFF2-40B4-BE49-F238E27FC236}">
                <a16:creationId xmlns:a16="http://schemas.microsoft.com/office/drawing/2014/main" id="{E9AE7D77-E747-CD44-F46E-DA8CFBF2C29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50828" y="2574701"/>
            <a:ext cx="274878" cy="2748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130302-C236-EE8A-488C-D464D9854EFF}"/>
              </a:ext>
            </a:extLst>
          </p:cNvPr>
          <p:cNvSpPr txBox="1"/>
          <p:nvPr/>
        </p:nvSpPr>
        <p:spPr>
          <a:xfrm>
            <a:off x="6859464" y="3293275"/>
            <a:ext cx="5014514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사기 분석 로직 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endParaRPr kumimoji="1" lang="en-US" altLang="ko-KR" sz="5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DB</a:t>
            </a:r>
            <a:r>
              <a:rPr kumimoji="1" lang="ko-KR" altLang="en-US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저장된 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사기 키워드 패턴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기반으로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플레이어가 제출한 단서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문구의 위험</a:t>
            </a:r>
            <a:endParaRPr kumimoji="1" lang="en-US" altLang="ko-KR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도와 사기 유형을 판단</a:t>
            </a:r>
            <a:endParaRPr kumimoji="1" lang="en-US" altLang="ko-KR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23C2C88-BFB5-BD55-B231-D473646AAE2F}"/>
              </a:ext>
            </a:extLst>
          </p:cNvPr>
          <p:cNvSpPr/>
          <p:nvPr/>
        </p:nvSpPr>
        <p:spPr>
          <a:xfrm>
            <a:off x="6486519" y="3293275"/>
            <a:ext cx="389299" cy="3676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8" name="그래픽 7" descr="좌뇌 및 우뇌 단색으로 채워진">
            <a:extLst>
              <a:ext uri="{FF2B5EF4-FFF2-40B4-BE49-F238E27FC236}">
                <a16:creationId xmlns:a16="http://schemas.microsoft.com/office/drawing/2014/main" id="{50866AF3-3E7C-44E0-0A24-CEF35E0A4D0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47627" y="3342428"/>
            <a:ext cx="269391" cy="2693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AD98C3-043C-BB2E-4371-E0BE0391BBC4}"/>
              </a:ext>
            </a:extLst>
          </p:cNvPr>
          <p:cNvSpPr txBox="1"/>
          <p:nvPr/>
        </p:nvSpPr>
        <p:spPr>
          <a:xfrm>
            <a:off x="6878009" y="4176665"/>
            <a:ext cx="4237057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관리</a:t>
            </a:r>
            <a:endParaRPr kumimoji="1" lang="en-US" altLang="ko-KR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MySQL</a:t>
            </a:r>
            <a:r>
              <a:rPr kumimoji="1" lang="ko-KR" altLang="en-US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미션별 정답 텍스트와 사용자 최종 점수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클리어 시간 저장</a:t>
            </a:r>
            <a:endParaRPr kumimoji="1" lang="en-US" altLang="ko-KR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CA6E50C-B3AA-8110-D54F-B60EF1A9CB31}"/>
              </a:ext>
            </a:extLst>
          </p:cNvPr>
          <p:cNvSpPr/>
          <p:nvPr/>
        </p:nvSpPr>
        <p:spPr>
          <a:xfrm>
            <a:off x="6492887" y="4182840"/>
            <a:ext cx="389299" cy="3676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5" name="그래픽 14" descr="데이터베이스 단색으로 채워진">
            <a:extLst>
              <a:ext uri="{FF2B5EF4-FFF2-40B4-BE49-F238E27FC236}">
                <a16:creationId xmlns:a16="http://schemas.microsoft.com/office/drawing/2014/main" id="{10B970B0-A16C-A520-F67A-9FAE842E2C8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55980" y="4233609"/>
            <a:ext cx="266160" cy="266160"/>
          </a:xfrm>
          <a:prstGeom prst="rect">
            <a:avLst/>
          </a:prstGeom>
        </p:spPr>
      </p:pic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1EA0FC64-3B09-D676-07C8-41ED58C37BCA}"/>
              </a:ext>
            </a:extLst>
          </p:cNvPr>
          <p:cNvSpPr/>
          <p:nvPr/>
        </p:nvSpPr>
        <p:spPr>
          <a:xfrm>
            <a:off x="336879" y="5174625"/>
            <a:ext cx="11619894" cy="1465374"/>
          </a:xfrm>
          <a:prstGeom prst="roundRect">
            <a:avLst>
              <a:gd name="adj" fmla="val 10702"/>
            </a:avLst>
          </a:prstGeom>
          <a:solidFill>
            <a:srgbClr val="23F9E8">
              <a:alpha val="3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40CB5C-4165-CB5B-9715-94B159EFACE6}"/>
              </a:ext>
            </a:extLst>
          </p:cNvPr>
          <p:cNvSpPr txBox="1"/>
          <p:nvPr/>
        </p:nvSpPr>
        <p:spPr>
          <a:xfrm>
            <a:off x="837141" y="5289120"/>
            <a:ext cx="11865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흐름 구조</a:t>
            </a:r>
          </a:p>
        </p:txBody>
      </p:sp>
      <p:pic>
        <p:nvPicPr>
          <p:cNvPr id="20" name="그래픽 19" descr="통계 단색으로 채워진">
            <a:extLst>
              <a:ext uri="{FF2B5EF4-FFF2-40B4-BE49-F238E27FC236}">
                <a16:creationId xmlns:a16="http://schemas.microsoft.com/office/drawing/2014/main" id="{93C64285-E910-6F1E-C77E-6598F82F28C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75172" y="5281228"/>
            <a:ext cx="276999" cy="276999"/>
          </a:xfrm>
          <a:prstGeom prst="rect">
            <a:avLst/>
          </a:prstGeom>
        </p:spPr>
      </p:pic>
      <p:sp>
        <p:nvSpPr>
          <p:cNvPr id="25" name="타원 24">
            <a:extLst>
              <a:ext uri="{FF2B5EF4-FFF2-40B4-BE49-F238E27FC236}">
                <a16:creationId xmlns:a16="http://schemas.microsoft.com/office/drawing/2014/main" id="{B5355089-759C-30F2-AE96-F9B365D6FA01}"/>
              </a:ext>
            </a:extLst>
          </p:cNvPr>
          <p:cNvSpPr/>
          <p:nvPr/>
        </p:nvSpPr>
        <p:spPr>
          <a:xfrm>
            <a:off x="973217" y="5680614"/>
            <a:ext cx="518474" cy="48753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9F388B-F1D2-9210-1D95-096ED979A899}"/>
              </a:ext>
            </a:extLst>
          </p:cNvPr>
          <p:cNvSpPr txBox="1"/>
          <p:nvPr/>
        </p:nvSpPr>
        <p:spPr>
          <a:xfrm>
            <a:off x="914097" y="6233216"/>
            <a:ext cx="636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UI 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액션</a:t>
            </a:r>
          </a:p>
        </p:txBody>
      </p:sp>
      <p:pic>
        <p:nvPicPr>
          <p:cNvPr id="40" name="그래픽 39" descr="커서 단색으로 채워진">
            <a:extLst>
              <a:ext uri="{FF2B5EF4-FFF2-40B4-BE49-F238E27FC236}">
                <a16:creationId xmlns:a16="http://schemas.microsoft.com/office/drawing/2014/main" id="{ED525FC5-4D3C-0074-246C-EA187DCF13C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68769" y="5760698"/>
            <a:ext cx="327367" cy="327367"/>
          </a:xfrm>
          <a:prstGeom prst="rect">
            <a:avLst/>
          </a:prstGeom>
        </p:spPr>
      </p:pic>
      <p:sp>
        <p:nvSpPr>
          <p:cNvPr id="41" name="타원 40">
            <a:extLst>
              <a:ext uri="{FF2B5EF4-FFF2-40B4-BE49-F238E27FC236}">
                <a16:creationId xmlns:a16="http://schemas.microsoft.com/office/drawing/2014/main" id="{555899E5-B617-245D-DBE1-69D538C21EFC}"/>
              </a:ext>
            </a:extLst>
          </p:cNvPr>
          <p:cNvSpPr/>
          <p:nvPr/>
        </p:nvSpPr>
        <p:spPr>
          <a:xfrm>
            <a:off x="3263432" y="5680614"/>
            <a:ext cx="518474" cy="48753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82166C8-C645-1EB5-C534-2D6CD57F586F}"/>
              </a:ext>
            </a:extLst>
          </p:cNvPr>
          <p:cNvSpPr txBox="1"/>
          <p:nvPr/>
        </p:nvSpPr>
        <p:spPr>
          <a:xfrm>
            <a:off x="3104920" y="6233216"/>
            <a:ext cx="8707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REST 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요청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7A35D0FE-1E99-A322-6D51-DFE5745DE052}"/>
              </a:ext>
            </a:extLst>
          </p:cNvPr>
          <p:cNvSpPr/>
          <p:nvPr/>
        </p:nvSpPr>
        <p:spPr>
          <a:xfrm>
            <a:off x="5836762" y="5688390"/>
            <a:ext cx="518474" cy="48753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D93F44F-AD17-4D02-05A0-6F9BE716C878}"/>
              </a:ext>
            </a:extLst>
          </p:cNvPr>
          <p:cNvSpPr txBox="1"/>
          <p:nvPr/>
        </p:nvSpPr>
        <p:spPr>
          <a:xfrm>
            <a:off x="5718315" y="6253722"/>
            <a:ext cx="7745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판정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923806FD-AB70-F822-950A-8CF7E625C067}"/>
              </a:ext>
            </a:extLst>
          </p:cNvPr>
          <p:cNvSpPr/>
          <p:nvPr/>
        </p:nvSpPr>
        <p:spPr>
          <a:xfrm>
            <a:off x="8350972" y="5680614"/>
            <a:ext cx="518474" cy="48753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457C4DA-96C8-186F-7C3D-046A8A34D9C9}"/>
              </a:ext>
            </a:extLst>
          </p:cNvPr>
          <p:cNvSpPr txBox="1"/>
          <p:nvPr/>
        </p:nvSpPr>
        <p:spPr>
          <a:xfrm>
            <a:off x="8384827" y="6233216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응답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44C98E3F-E1AB-33D5-CACD-E6926AA7840F}"/>
              </a:ext>
            </a:extLst>
          </p:cNvPr>
          <p:cNvSpPr/>
          <p:nvPr/>
        </p:nvSpPr>
        <p:spPr>
          <a:xfrm>
            <a:off x="10865182" y="5680614"/>
            <a:ext cx="518474" cy="48753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2FC4039-CF7D-6648-8302-0A8A9FF74F07}"/>
              </a:ext>
            </a:extLst>
          </p:cNvPr>
          <p:cNvSpPr txBox="1"/>
          <p:nvPr/>
        </p:nvSpPr>
        <p:spPr>
          <a:xfrm>
            <a:off x="10615305" y="6253721"/>
            <a:ext cx="10182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시각적 피드백</a:t>
            </a:r>
          </a:p>
        </p:txBody>
      </p:sp>
      <p:pic>
        <p:nvPicPr>
          <p:cNvPr id="50" name="그래픽 49" descr="오른쪽 캐럿 단색으로 채워진">
            <a:extLst>
              <a:ext uri="{FF2B5EF4-FFF2-40B4-BE49-F238E27FC236}">
                <a16:creationId xmlns:a16="http://schemas.microsoft.com/office/drawing/2014/main" id="{2A5C4DDE-367E-0187-5535-026FA91FEA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194237" y="5721383"/>
            <a:ext cx="366649" cy="366649"/>
          </a:xfrm>
          <a:prstGeom prst="rect">
            <a:avLst/>
          </a:prstGeom>
        </p:spPr>
      </p:pic>
      <p:pic>
        <p:nvPicPr>
          <p:cNvPr id="51" name="그래픽 50" descr="오른쪽 캐럿 단색으로 채워진">
            <a:extLst>
              <a:ext uri="{FF2B5EF4-FFF2-40B4-BE49-F238E27FC236}">
                <a16:creationId xmlns:a16="http://schemas.microsoft.com/office/drawing/2014/main" id="{C04A0956-80E5-F01F-B579-C83266C0F5C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556622" y="5741056"/>
            <a:ext cx="366649" cy="366649"/>
          </a:xfrm>
          <a:prstGeom prst="rect">
            <a:avLst/>
          </a:prstGeom>
        </p:spPr>
      </p:pic>
      <p:pic>
        <p:nvPicPr>
          <p:cNvPr id="53" name="그래픽 52" descr="오른쪽 캐럿 단색으로 채워진">
            <a:extLst>
              <a:ext uri="{FF2B5EF4-FFF2-40B4-BE49-F238E27FC236}">
                <a16:creationId xmlns:a16="http://schemas.microsoft.com/office/drawing/2014/main" id="{A495C222-F395-C3EF-6676-DD3D8C9BCA0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129952" y="5738282"/>
            <a:ext cx="366649" cy="366649"/>
          </a:xfrm>
          <a:prstGeom prst="rect">
            <a:avLst/>
          </a:prstGeom>
        </p:spPr>
      </p:pic>
      <p:pic>
        <p:nvPicPr>
          <p:cNvPr id="54" name="그래픽 53" descr="오른쪽 캐럿 단색으로 채워진">
            <a:extLst>
              <a:ext uri="{FF2B5EF4-FFF2-40B4-BE49-F238E27FC236}">
                <a16:creationId xmlns:a16="http://schemas.microsoft.com/office/drawing/2014/main" id="{01497313-9EB6-6430-44DC-5CA0D361D5D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683989" y="5721383"/>
            <a:ext cx="366649" cy="366649"/>
          </a:xfrm>
          <a:prstGeom prst="rect">
            <a:avLst/>
          </a:prstGeom>
        </p:spPr>
      </p:pic>
      <p:pic>
        <p:nvPicPr>
          <p:cNvPr id="56" name="그래픽 55" descr="전송 단색으로 채워진">
            <a:extLst>
              <a:ext uri="{FF2B5EF4-FFF2-40B4-BE49-F238E27FC236}">
                <a16:creationId xmlns:a16="http://schemas.microsoft.com/office/drawing/2014/main" id="{8FB3B9C2-D066-385F-05E4-528CA31E8BE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10800000">
            <a:off x="3382468" y="5792171"/>
            <a:ext cx="276999" cy="276999"/>
          </a:xfrm>
          <a:prstGeom prst="rect">
            <a:avLst/>
          </a:prstGeom>
        </p:spPr>
      </p:pic>
      <p:pic>
        <p:nvPicPr>
          <p:cNvPr id="58" name="그래픽 57" descr="톱니바퀴 단색으로 채워진">
            <a:extLst>
              <a:ext uri="{FF2B5EF4-FFF2-40B4-BE49-F238E27FC236}">
                <a16:creationId xmlns:a16="http://schemas.microsoft.com/office/drawing/2014/main" id="{6AEA7F88-EDB8-7B1C-A248-ECE4BFC28E7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flipH="1">
            <a:off x="5906208" y="5742894"/>
            <a:ext cx="375552" cy="375552"/>
          </a:xfrm>
          <a:prstGeom prst="rect">
            <a:avLst/>
          </a:prstGeom>
        </p:spPr>
      </p:pic>
      <p:pic>
        <p:nvPicPr>
          <p:cNvPr id="60" name="그래픽 59" descr="뒤로 단색으로 채워진">
            <a:extLst>
              <a:ext uri="{FF2B5EF4-FFF2-40B4-BE49-F238E27FC236}">
                <a16:creationId xmlns:a16="http://schemas.microsoft.com/office/drawing/2014/main" id="{D8DAFA54-6DCB-1900-2739-00ECF2721E3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410092" y="5747442"/>
            <a:ext cx="357489" cy="357489"/>
          </a:xfrm>
          <a:prstGeom prst="rect">
            <a:avLst/>
          </a:prstGeom>
        </p:spPr>
      </p:pic>
      <p:pic>
        <p:nvPicPr>
          <p:cNvPr id="62" name="그래픽 61" descr="눈 단색으로 채워진">
            <a:extLst>
              <a:ext uri="{FF2B5EF4-FFF2-40B4-BE49-F238E27FC236}">
                <a16:creationId xmlns:a16="http://schemas.microsoft.com/office/drawing/2014/main" id="{44D5D5CE-4D5E-269B-27A5-DE7C7636CB0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905597" y="5711681"/>
            <a:ext cx="418937" cy="41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297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8997-A206-740F-F79F-47D9C5209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582E4821-B43D-D5CB-4613-FF1F0BB44F4C}"/>
              </a:ext>
            </a:extLst>
          </p:cNvPr>
          <p:cNvSpPr/>
          <p:nvPr/>
        </p:nvSpPr>
        <p:spPr>
          <a:xfrm>
            <a:off x="-51918" y="0"/>
            <a:ext cx="12243918" cy="6858000"/>
          </a:xfrm>
          <a:prstGeom prst="rect">
            <a:avLst/>
          </a:prstGeom>
          <a:solidFill>
            <a:srgbClr val="0816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60CED0-C7E2-782D-3663-5E36636DD0B5}"/>
              </a:ext>
            </a:extLst>
          </p:cNvPr>
          <p:cNvSpPr txBox="1"/>
          <p:nvPr/>
        </p:nvSpPr>
        <p:spPr>
          <a:xfrm>
            <a:off x="336879" y="314926"/>
            <a:ext cx="2525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기대 효과 및 </a:t>
            </a:r>
            <a:r>
              <a:rPr kumimoji="1" lang="ko-KR" altLang="en-US" sz="2400" b="1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마무리</a:t>
            </a:r>
            <a:endParaRPr kumimoji="1" lang="ko-KR" altLang="en-US" sz="24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41D171-DEA9-15E3-FD17-81B4C0A8A4A2}"/>
              </a:ext>
            </a:extLst>
          </p:cNvPr>
          <p:cNvSpPr txBox="1"/>
          <p:nvPr/>
        </p:nvSpPr>
        <p:spPr>
          <a:xfrm>
            <a:off x="336879" y="856603"/>
            <a:ext cx="360868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디지털 안전불감증 탈출 프로젝트의 가치와 향후 계획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C2D5BA46-5EC5-8813-9E0B-AD20C994560A}"/>
              </a:ext>
            </a:extLst>
          </p:cNvPr>
          <p:cNvSpPr/>
          <p:nvPr/>
        </p:nvSpPr>
        <p:spPr>
          <a:xfrm>
            <a:off x="1266823" y="1567817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0D8626-3E6C-4760-2C43-0B3337B8BD82}"/>
              </a:ext>
            </a:extLst>
          </p:cNvPr>
          <p:cNvSpPr txBox="1"/>
          <p:nvPr/>
        </p:nvSpPr>
        <p:spPr>
          <a:xfrm>
            <a:off x="1727158" y="1617052"/>
            <a:ext cx="89639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 효과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9042AF-B71C-3672-D9FF-5E837B110E2B}"/>
              </a:ext>
            </a:extLst>
          </p:cNvPr>
          <p:cNvSpPr txBox="1"/>
          <p:nvPr/>
        </p:nvSpPr>
        <p:spPr>
          <a:xfrm>
            <a:off x="1616461" y="2111967"/>
            <a:ext cx="274305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클릭 전 의심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습관화로 초기 방어력 강화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7C371E-7C0D-4627-23A4-6EEBF3D1D546}"/>
              </a:ext>
            </a:extLst>
          </p:cNvPr>
          <p:cNvSpPr txBox="1"/>
          <p:nvPr/>
        </p:nvSpPr>
        <p:spPr>
          <a:xfrm>
            <a:off x="1616460" y="2485358"/>
            <a:ext cx="33201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민감정보의 위험성 이해와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선제적 차단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능력 향상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C75969-576A-F847-E65C-02510BEFC666}"/>
              </a:ext>
            </a:extLst>
          </p:cNvPr>
          <p:cNvSpPr txBox="1"/>
          <p:nvPr/>
        </p:nvSpPr>
        <p:spPr>
          <a:xfrm>
            <a:off x="1616459" y="2832877"/>
            <a:ext cx="30732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신고 절차와 증거 보존의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실전 대응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역량 개발</a:t>
            </a:r>
          </a:p>
        </p:txBody>
      </p:sp>
      <p:pic>
        <p:nvPicPr>
          <p:cNvPr id="49" name="그래픽 48" descr="배지 체크 표시1 단색으로 채워진">
            <a:extLst>
              <a:ext uri="{FF2B5EF4-FFF2-40B4-BE49-F238E27FC236}">
                <a16:creationId xmlns:a16="http://schemas.microsoft.com/office/drawing/2014/main" id="{0D7CF258-A36D-D645-9D23-A0DDDBC85C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837" y="2166663"/>
            <a:ext cx="218622" cy="218622"/>
          </a:xfrm>
          <a:prstGeom prst="rect">
            <a:avLst/>
          </a:prstGeom>
        </p:spPr>
      </p:pic>
      <p:pic>
        <p:nvPicPr>
          <p:cNvPr id="52" name="그래픽 51" descr="배지 체크 표시1 단색으로 채워진">
            <a:extLst>
              <a:ext uri="{FF2B5EF4-FFF2-40B4-BE49-F238E27FC236}">
                <a16:creationId xmlns:a16="http://schemas.microsoft.com/office/drawing/2014/main" id="{9310C2E4-B096-4356-7858-69801C9017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837" y="2512706"/>
            <a:ext cx="218622" cy="218622"/>
          </a:xfrm>
          <a:prstGeom prst="rect">
            <a:avLst/>
          </a:prstGeom>
        </p:spPr>
      </p:pic>
      <p:pic>
        <p:nvPicPr>
          <p:cNvPr id="55" name="그래픽 54" descr="배지 체크 표시1 단색으로 채워진">
            <a:extLst>
              <a:ext uri="{FF2B5EF4-FFF2-40B4-BE49-F238E27FC236}">
                <a16:creationId xmlns:a16="http://schemas.microsoft.com/office/drawing/2014/main" id="{97567815-ABA0-6295-2C28-211E661397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837" y="2869760"/>
            <a:ext cx="218622" cy="218622"/>
          </a:xfrm>
          <a:prstGeom prst="rect">
            <a:avLst/>
          </a:prstGeom>
        </p:spPr>
      </p:pic>
      <p:sp>
        <p:nvSpPr>
          <p:cNvPr id="57" name="타원 56">
            <a:extLst>
              <a:ext uri="{FF2B5EF4-FFF2-40B4-BE49-F238E27FC236}">
                <a16:creationId xmlns:a16="http://schemas.microsoft.com/office/drawing/2014/main" id="{7F5CF9F8-8C9E-61DB-C8D4-504A010EA65A}"/>
              </a:ext>
            </a:extLst>
          </p:cNvPr>
          <p:cNvSpPr/>
          <p:nvPr/>
        </p:nvSpPr>
        <p:spPr>
          <a:xfrm>
            <a:off x="7053503" y="1567817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8B2127E-5190-2DAE-45D9-A45F737A6841}"/>
              </a:ext>
            </a:extLst>
          </p:cNvPr>
          <p:cNvSpPr txBox="1"/>
          <p:nvPr/>
        </p:nvSpPr>
        <p:spPr>
          <a:xfrm>
            <a:off x="7513838" y="1617052"/>
            <a:ext cx="89639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성과 지표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319873A-A887-E7C3-1702-48010A387056}"/>
              </a:ext>
            </a:extLst>
          </p:cNvPr>
          <p:cNvSpPr txBox="1"/>
          <p:nvPr/>
        </p:nvSpPr>
        <p:spPr>
          <a:xfrm>
            <a:off x="7403141" y="2111967"/>
            <a:ext cx="262924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미션 </a:t>
            </a:r>
            <a:r>
              <a:rPr kumimoji="1" lang="ko-KR" altLang="en-US" sz="1300" dirty="0" err="1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클리어율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시도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성공 비율 추적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829A3C7-3A49-3C43-CF78-CDE3B231368B}"/>
              </a:ext>
            </a:extLst>
          </p:cNvPr>
          <p:cNvSpPr txBox="1"/>
          <p:nvPr/>
        </p:nvSpPr>
        <p:spPr>
          <a:xfrm>
            <a:off x="7403140" y="2485358"/>
            <a:ext cx="21242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반복 학습 시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오답 감소율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측정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2850260-49BF-391E-759C-118AF2B2E357}"/>
              </a:ext>
            </a:extLst>
          </p:cNvPr>
          <p:cNvSpPr txBox="1"/>
          <p:nvPr/>
        </p:nvSpPr>
        <p:spPr>
          <a:xfrm>
            <a:off x="7403139" y="2832877"/>
            <a:ext cx="259878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위험 상황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 응답 시간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재방문율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6" name="그래픽 65" descr="배지 체크 표시1 단색으로 채워진">
            <a:extLst>
              <a:ext uri="{FF2B5EF4-FFF2-40B4-BE49-F238E27FC236}">
                <a16:creationId xmlns:a16="http://schemas.microsoft.com/office/drawing/2014/main" id="{7A7854F8-EE31-E389-AC87-BB48F99F9C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4517" y="2166663"/>
            <a:ext cx="218622" cy="218622"/>
          </a:xfrm>
          <a:prstGeom prst="rect">
            <a:avLst/>
          </a:prstGeom>
        </p:spPr>
      </p:pic>
      <p:pic>
        <p:nvPicPr>
          <p:cNvPr id="67" name="그래픽 66" descr="배지 체크 표시1 단색으로 채워진">
            <a:extLst>
              <a:ext uri="{FF2B5EF4-FFF2-40B4-BE49-F238E27FC236}">
                <a16:creationId xmlns:a16="http://schemas.microsoft.com/office/drawing/2014/main" id="{62FC943F-8229-4702-715D-04DC565BC4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4517" y="2512706"/>
            <a:ext cx="218622" cy="218622"/>
          </a:xfrm>
          <a:prstGeom prst="rect">
            <a:avLst/>
          </a:prstGeom>
        </p:spPr>
      </p:pic>
      <p:pic>
        <p:nvPicPr>
          <p:cNvPr id="68" name="그래픽 67" descr="배지 체크 표시1 단색으로 채워진">
            <a:extLst>
              <a:ext uri="{FF2B5EF4-FFF2-40B4-BE49-F238E27FC236}">
                <a16:creationId xmlns:a16="http://schemas.microsoft.com/office/drawing/2014/main" id="{E9A928B6-4FFE-B1E7-BD7E-4F340911E8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4517" y="2869760"/>
            <a:ext cx="218622" cy="218622"/>
          </a:xfrm>
          <a:prstGeom prst="rect">
            <a:avLst/>
          </a:prstGeom>
        </p:spPr>
      </p:pic>
      <p:pic>
        <p:nvPicPr>
          <p:cNvPr id="70" name="그래픽 69" descr="상향 추세 단색으로 채워진">
            <a:extLst>
              <a:ext uri="{FF2B5EF4-FFF2-40B4-BE49-F238E27FC236}">
                <a16:creationId xmlns:a16="http://schemas.microsoft.com/office/drawing/2014/main" id="{603381CC-D513-CA57-7B5A-C6F7673E2E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4856" y="1631092"/>
            <a:ext cx="300763" cy="300763"/>
          </a:xfrm>
          <a:prstGeom prst="rect">
            <a:avLst/>
          </a:prstGeom>
        </p:spPr>
      </p:pic>
      <p:sp>
        <p:nvSpPr>
          <p:cNvPr id="71" name="타원 70">
            <a:extLst>
              <a:ext uri="{FF2B5EF4-FFF2-40B4-BE49-F238E27FC236}">
                <a16:creationId xmlns:a16="http://schemas.microsoft.com/office/drawing/2014/main" id="{489C4129-E556-C75E-94A5-D50CA85B3AE4}"/>
              </a:ext>
            </a:extLst>
          </p:cNvPr>
          <p:cNvSpPr/>
          <p:nvPr/>
        </p:nvSpPr>
        <p:spPr>
          <a:xfrm>
            <a:off x="1266726" y="3536829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E867253-146B-E77E-8DF0-42398169A206}"/>
              </a:ext>
            </a:extLst>
          </p:cNvPr>
          <p:cNvSpPr txBox="1"/>
          <p:nvPr/>
        </p:nvSpPr>
        <p:spPr>
          <a:xfrm>
            <a:off x="1727061" y="3586064"/>
            <a:ext cx="89639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확장 계획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5F7426A-026C-E413-AE97-A471B00815DF}"/>
              </a:ext>
            </a:extLst>
          </p:cNvPr>
          <p:cNvSpPr txBox="1"/>
          <p:nvPr/>
        </p:nvSpPr>
        <p:spPr>
          <a:xfrm>
            <a:off x="1616364" y="4080979"/>
            <a:ext cx="25571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최신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사기 유형 패턴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주기적 업데이트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2373E4B-F516-4835-3EE3-D92F6DF55A91}"/>
              </a:ext>
            </a:extLst>
          </p:cNvPr>
          <p:cNvSpPr txBox="1"/>
          <p:nvPr/>
        </p:nvSpPr>
        <p:spPr>
          <a:xfrm>
            <a:off x="1616363" y="4454370"/>
            <a:ext cx="30732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개인별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난이도 조절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점수 랭킹 시스템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도입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E693C4E-BCE8-5B06-FC2F-8B4AEAA3FAF9}"/>
              </a:ext>
            </a:extLst>
          </p:cNvPr>
          <p:cNvSpPr txBox="1"/>
          <p:nvPr/>
        </p:nvSpPr>
        <p:spPr>
          <a:xfrm>
            <a:off x="1616362" y="4801889"/>
            <a:ext cx="261321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시각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청각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접근성 개선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연령층 확대</a:t>
            </a:r>
          </a:p>
        </p:txBody>
      </p:sp>
      <p:pic>
        <p:nvPicPr>
          <p:cNvPr id="77" name="그래픽 76" descr="배지 체크 표시1 단색으로 채워진">
            <a:extLst>
              <a:ext uri="{FF2B5EF4-FFF2-40B4-BE49-F238E27FC236}">
                <a16:creationId xmlns:a16="http://schemas.microsoft.com/office/drawing/2014/main" id="{94BD3F72-11E1-50C5-009E-09E20BC23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740" y="4135675"/>
            <a:ext cx="218622" cy="218622"/>
          </a:xfrm>
          <a:prstGeom prst="rect">
            <a:avLst/>
          </a:prstGeom>
        </p:spPr>
      </p:pic>
      <p:pic>
        <p:nvPicPr>
          <p:cNvPr id="78" name="그래픽 77" descr="배지 체크 표시1 단색으로 채워진">
            <a:extLst>
              <a:ext uri="{FF2B5EF4-FFF2-40B4-BE49-F238E27FC236}">
                <a16:creationId xmlns:a16="http://schemas.microsoft.com/office/drawing/2014/main" id="{2026E22A-CC2E-80AD-719F-27BDDFC758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740" y="4481718"/>
            <a:ext cx="218622" cy="218622"/>
          </a:xfrm>
          <a:prstGeom prst="rect">
            <a:avLst/>
          </a:prstGeom>
        </p:spPr>
      </p:pic>
      <p:pic>
        <p:nvPicPr>
          <p:cNvPr id="79" name="그래픽 78" descr="배지 체크 표시1 단색으로 채워진">
            <a:extLst>
              <a:ext uri="{FF2B5EF4-FFF2-40B4-BE49-F238E27FC236}">
                <a16:creationId xmlns:a16="http://schemas.microsoft.com/office/drawing/2014/main" id="{21C1ACF8-7FDB-93CB-61F5-6516D3BA5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740" y="4838772"/>
            <a:ext cx="218622" cy="218622"/>
          </a:xfrm>
          <a:prstGeom prst="rect">
            <a:avLst/>
          </a:prstGeom>
        </p:spPr>
      </p:pic>
      <p:pic>
        <p:nvPicPr>
          <p:cNvPr id="81" name="그래픽 80" descr="로켓 단색으로 채워진">
            <a:extLst>
              <a:ext uri="{FF2B5EF4-FFF2-40B4-BE49-F238E27FC236}">
                <a16:creationId xmlns:a16="http://schemas.microsoft.com/office/drawing/2014/main" id="{9E4B1E17-8813-31B0-C30B-24119521BA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22795" y="3599933"/>
            <a:ext cx="347346" cy="347346"/>
          </a:xfrm>
          <a:prstGeom prst="rect">
            <a:avLst/>
          </a:prstGeom>
        </p:spPr>
      </p:pic>
      <p:sp>
        <p:nvSpPr>
          <p:cNvPr id="82" name="타원 81">
            <a:extLst>
              <a:ext uri="{FF2B5EF4-FFF2-40B4-BE49-F238E27FC236}">
                <a16:creationId xmlns:a16="http://schemas.microsoft.com/office/drawing/2014/main" id="{FFB6BEE3-0E06-FFBA-9AB4-C51506BECF66}"/>
              </a:ext>
            </a:extLst>
          </p:cNvPr>
          <p:cNvSpPr/>
          <p:nvPr/>
        </p:nvSpPr>
        <p:spPr>
          <a:xfrm>
            <a:off x="7041782" y="3538173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246522A-1956-FDF7-0EB9-B8401C8AEEF5}"/>
              </a:ext>
            </a:extLst>
          </p:cNvPr>
          <p:cNvSpPr txBox="1"/>
          <p:nvPr/>
        </p:nvSpPr>
        <p:spPr>
          <a:xfrm>
            <a:off x="7502117" y="3587408"/>
            <a:ext cx="85151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 err="1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콜투액션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5118EE9-CB64-D3C6-AF81-9CAF2B5170ED}"/>
              </a:ext>
            </a:extLst>
          </p:cNvPr>
          <p:cNvSpPr txBox="1"/>
          <p:nvPr/>
        </p:nvSpPr>
        <p:spPr>
          <a:xfrm>
            <a:off x="7391420" y="4082323"/>
            <a:ext cx="29306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파일럿 테스트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 모집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(10-30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청년층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AC048DB-05C0-23AC-E9A0-66082E66445D}"/>
              </a:ext>
            </a:extLst>
          </p:cNvPr>
          <p:cNvSpPr txBox="1"/>
          <p:nvPr/>
        </p:nvSpPr>
        <p:spPr>
          <a:xfrm>
            <a:off x="7391419" y="4455714"/>
            <a:ext cx="271580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금융기관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협업 배포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체계 구축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4FCEEB7-32B2-CD45-3066-517A13B991ED}"/>
              </a:ext>
            </a:extLst>
          </p:cNvPr>
          <p:cNvSpPr txBox="1"/>
          <p:nvPr/>
        </p:nvSpPr>
        <p:spPr>
          <a:xfrm>
            <a:off x="7391418" y="4803233"/>
            <a:ext cx="237116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사용자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피드백 기반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시나리오 확장</a:t>
            </a:r>
          </a:p>
        </p:txBody>
      </p:sp>
      <p:pic>
        <p:nvPicPr>
          <p:cNvPr id="87" name="그래픽 86" descr="배지 체크 표시1 단색으로 채워진">
            <a:extLst>
              <a:ext uri="{FF2B5EF4-FFF2-40B4-BE49-F238E27FC236}">
                <a16:creationId xmlns:a16="http://schemas.microsoft.com/office/drawing/2014/main" id="{7BF17CF1-9073-AD22-0D08-B32D317956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2796" y="4137019"/>
            <a:ext cx="218622" cy="218622"/>
          </a:xfrm>
          <a:prstGeom prst="rect">
            <a:avLst/>
          </a:prstGeom>
        </p:spPr>
      </p:pic>
      <p:pic>
        <p:nvPicPr>
          <p:cNvPr id="88" name="그래픽 87" descr="배지 체크 표시1 단색으로 채워진">
            <a:extLst>
              <a:ext uri="{FF2B5EF4-FFF2-40B4-BE49-F238E27FC236}">
                <a16:creationId xmlns:a16="http://schemas.microsoft.com/office/drawing/2014/main" id="{D381347C-6B50-7C1D-FFC9-AADAF6977A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2796" y="4483062"/>
            <a:ext cx="218622" cy="218622"/>
          </a:xfrm>
          <a:prstGeom prst="rect">
            <a:avLst/>
          </a:prstGeom>
        </p:spPr>
      </p:pic>
      <p:pic>
        <p:nvPicPr>
          <p:cNvPr id="89" name="그래픽 88" descr="배지 체크 표시1 단색으로 채워진">
            <a:extLst>
              <a:ext uri="{FF2B5EF4-FFF2-40B4-BE49-F238E27FC236}">
                <a16:creationId xmlns:a16="http://schemas.microsoft.com/office/drawing/2014/main" id="{2AA9A6F7-762B-EA84-6348-4C344C1CB0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2796" y="4840116"/>
            <a:ext cx="218622" cy="218622"/>
          </a:xfrm>
          <a:prstGeom prst="rect">
            <a:avLst/>
          </a:prstGeom>
        </p:spPr>
      </p:pic>
      <p:pic>
        <p:nvPicPr>
          <p:cNvPr id="92" name="그래픽 91" descr="악수 단색으로 채워진">
            <a:extLst>
              <a:ext uri="{FF2B5EF4-FFF2-40B4-BE49-F238E27FC236}">
                <a16:creationId xmlns:a16="http://schemas.microsoft.com/office/drawing/2014/main" id="{20EAC56F-8BA5-7FF6-656E-3A522DCAE29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53503" y="3547628"/>
            <a:ext cx="457200" cy="457200"/>
          </a:xfrm>
          <a:prstGeom prst="rect">
            <a:avLst/>
          </a:prstGeom>
        </p:spPr>
      </p:pic>
      <p:sp>
        <p:nvSpPr>
          <p:cNvPr id="93" name="모서리가 둥근 직사각형 92">
            <a:extLst>
              <a:ext uri="{FF2B5EF4-FFF2-40B4-BE49-F238E27FC236}">
                <a16:creationId xmlns:a16="http://schemas.microsoft.com/office/drawing/2014/main" id="{CAD6FA7A-DD65-15E3-11D7-0D641C863F01}"/>
              </a:ext>
            </a:extLst>
          </p:cNvPr>
          <p:cNvSpPr/>
          <p:nvPr/>
        </p:nvSpPr>
        <p:spPr>
          <a:xfrm>
            <a:off x="924726" y="5619757"/>
            <a:ext cx="10105948" cy="718874"/>
          </a:xfrm>
          <a:prstGeom prst="roundRect">
            <a:avLst/>
          </a:prstGeom>
          <a:solidFill>
            <a:srgbClr val="FE4151">
              <a:alpha val="3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853ABFF-0515-8E75-4E41-4750B5F942CD}"/>
              </a:ext>
            </a:extLst>
          </p:cNvPr>
          <p:cNvSpPr txBox="1"/>
          <p:nvPr/>
        </p:nvSpPr>
        <p:spPr>
          <a:xfrm>
            <a:off x="1565015" y="5730589"/>
            <a:ext cx="956383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</a:t>
            </a:r>
            <a:r>
              <a:rPr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디지털 안전불감증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 단순한 개인 문제가 아닌 사회적 비용입니다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우리의 상호작용형 학습 시스템으로 </a:t>
            </a:r>
            <a:r>
              <a:rPr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의심은 습관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으로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대응은 즉시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전환하는 </a:t>
            </a:r>
            <a:endParaRPr lang="en-US" altLang="ko-KR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새로운 디지털 면역력을 구축하겠습니다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6" name="그래픽 95" descr="방패 단색으로 채워진">
            <a:extLst>
              <a:ext uri="{FF2B5EF4-FFF2-40B4-BE49-F238E27FC236}">
                <a16:creationId xmlns:a16="http://schemas.microsoft.com/office/drawing/2014/main" id="{426F0BC1-88E9-3EB4-8855-6F5DC1DFB52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07960" y="5808755"/>
            <a:ext cx="359081" cy="359081"/>
          </a:xfrm>
          <a:prstGeom prst="rect">
            <a:avLst/>
          </a:prstGeom>
        </p:spPr>
      </p:pic>
      <p:pic>
        <p:nvPicPr>
          <p:cNvPr id="97" name="그래픽 96" descr="학사모 단색으로 채워진">
            <a:extLst>
              <a:ext uri="{FF2B5EF4-FFF2-40B4-BE49-F238E27FC236}">
                <a16:creationId xmlns:a16="http://schemas.microsoft.com/office/drawing/2014/main" id="{DD445077-944C-626F-1532-D90AB026A60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11836" y="1582680"/>
            <a:ext cx="390430" cy="39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923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4956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</TotalTime>
  <Words>872</Words>
  <Application>Microsoft Macintosh PowerPoint</Application>
  <PresentationFormat>와이드스크린</PresentationFormat>
  <Paragraphs>183</Paragraphs>
  <Slides>10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Pretendard</vt:lpstr>
      <vt:lpstr>Arial</vt:lpstr>
      <vt:lpstr>Office 테마</vt:lpstr>
      <vt:lpstr>디지털 안전불감증 탈출 프로젝트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하태영</dc:creator>
  <cp:lastModifiedBy>하태영</cp:lastModifiedBy>
  <cp:revision>8</cp:revision>
  <dcterms:created xsi:type="dcterms:W3CDTF">2025-11-10T15:23:09Z</dcterms:created>
  <dcterms:modified xsi:type="dcterms:W3CDTF">2025-11-12T22:54:37Z</dcterms:modified>
</cp:coreProperties>
</file>