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14"/>
    <p:restoredTop sz="94700"/>
  </p:normalViewPr>
  <p:slideViewPr>
    <p:cSldViewPr snapToGrid="0">
      <p:cViewPr varScale="1">
        <p:scale>
          <a:sx n="87" d="100"/>
          <a:sy n="87" d="100"/>
        </p:scale>
        <p:origin x="2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71B-B84C-DD2F-08E5-4516EB691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1F821A-B669-9F6A-C457-E07771134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3A112-31D1-7F14-671F-E54C5A00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9658B-CF6C-D443-BA11-A3394921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D5567-2CAE-5975-AFF3-C2FABEF4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31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AA198-B493-67BD-7F2E-B16819A1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95A96-E544-DCF4-A887-AD71E666B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B7A97-3202-2F3A-38A2-B6EDEDA0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6D7F18-EE63-6107-71A1-B6213A63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E9C17B-0570-588E-37BF-19A17CFF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659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BEBE1-4D81-D006-417D-71F20339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012F27-322A-A5D9-FDFE-10ECB576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0D3BE-BA86-8860-C201-A4B3C862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815E0-7B2B-C217-03FF-8803C220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A41856-0C6C-E956-CB3B-3737A9A9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839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6B0A0-367D-1192-0275-522F5970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607CF-7399-5DDE-EAB8-5F68F0629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BE360-B6D5-1420-54DA-03A88896C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1AFF52-BB0A-69DD-BB01-0DA601E1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6256F9-7201-5E65-50A9-650B20E7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E223E6-6779-F303-427A-F0BA9AC2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486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6F1C9-EF9D-3AEB-1BFF-644A585F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6DCC60-7B85-7B49-3AC0-F8F9074B4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40B19-94FE-968A-FA54-52AC366FE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8D9E9-1D74-43E2-03B1-C708AA08E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4154DA-3C0D-5400-6E85-FC652F52D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6D6C9B-2184-05B2-BEDD-11403827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65F4D3-5355-ECB0-AF49-B7A13D2D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6CDD4F-3820-7D7F-3919-078C3773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391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9E706-B1C1-44A5-7565-3732FEB9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F01289-A95F-03E1-8784-73FD9290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31D2B2-F3A0-A098-B5B9-D2E6AEA5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7D65FD-2FD2-F0F2-359F-2402673C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72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D42278-EA5C-FD91-1EC4-60146600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2374AD-670D-030D-1A51-D532ED19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E33695-4A57-A7D3-F937-E97B75FF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525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D5D9D-8BE6-15EB-27FE-A073AED0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60F4D7-9C30-AA07-6545-485465923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00D71C-3019-FA01-A499-B3AA02090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70CAB6-0400-D2C8-276C-8EE231CC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4E92F3-52B9-F322-9DFA-863AA7B0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E3F5B9-9AFA-CD4E-E21F-69D1FEF1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222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3E476-3555-0512-283C-6F897E40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D88198-9DC9-ACA5-905F-F1392D637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E7FF9C-022C-C75B-7988-0EE750715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666D17-3713-3481-0858-2E392A38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CF185E-04A7-E5D6-2591-723E7766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4D687E-E7D4-57A2-3DDF-8F3B650F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439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4DC98-AD0D-C44B-B778-7464D962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2B965-69B5-901E-BE29-832D2B0FF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4BCF2-C524-A258-C114-8FF36629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5D68C-08A2-AB05-0383-9E1F4CC9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FD558-EC71-0BFF-6F53-3C3F696D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201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44DC31-1B03-A274-6377-25194910E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171E5-B63A-71D4-8A07-4B4562627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A1CF8-CDB5-E393-D1A6-FE0509F3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36C4F-6AF5-D995-70FB-438B779D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000FE-F5AE-47E8-8BB6-2DA8ADE2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151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D1C050-2999-15C2-B9F5-4C60313C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DC08DF-96A6-DB62-342A-E38E4AB5B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5C4D9-269C-2577-F744-65F975A8D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4321A-28B8-9545-AD00-C130CF747A0A}" type="datetimeFigureOut">
              <a:rPr kumimoji="1" lang="ko-KR" altLang="en-US" smtClean="0"/>
              <a:t>2025. 7. 12.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8B893-3EAB-0009-59D8-0EA3F293A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89E5CB-3BAA-255C-992B-46AA8675B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978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_ZM_JR6SHutv5vzuWOZ-ximci8Y01YZ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RW586EnxiWM2mZXoKf39l3eqPmUFWVke#scrollTo=dxqTYRF6CQ_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PYdtjHHDWtfBpP7fDrh3SEbUUCM77Wz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PYdtjHHDWtfBpP7fDrh3SEbUUCM77Wz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5303D-E403-A700-3C3E-9AD4ED4CF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CNN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A4251-2327-C10B-E5B5-45F4D0158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Lec5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484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DF681-7E9C-86A7-CB27-9CCFAF44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77021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Gradient Descent(</a:t>
            </a:r>
            <a:r>
              <a:rPr kumimoji="1" lang="ko-KR" altLang="en-US" dirty="0"/>
              <a:t>경사 </a:t>
            </a:r>
            <a:r>
              <a:rPr kumimoji="1" lang="ko-KR" altLang="en-US" dirty="0" err="1"/>
              <a:t>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Batch Gradient Descent(</a:t>
            </a:r>
            <a:r>
              <a:rPr kumimoji="1" lang="ko-KR" altLang="en-US" dirty="0"/>
              <a:t>배치 </a:t>
            </a:r>
            <a:r>
              <a:rPr kumimoji="1" lang="ko-KR" altLang="en-US" dirty="0" err="1"/>
              <a:t>경사하강법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Stochastic Gradient Descent(</a:t>
            </a:r>
            <a:r>
              <a:rPr kumimoji="1" lang="ko-KR" altLang="en-US" dirty="0"/>
              <a:t>확률적 </a:t>
            </a:r>
            <a:r>
              <a:rPr kumimoji="1" lang="ko-KR" altLang="en-US" dirty="0" err="1"/>
              <a:t>경사하강법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Mini-Batch Gradient Descent(</a:t>
            </a:r>
            <a:r>
              <a:rPr kumimoji="1" lang="ko-KR" altLang="en-US" dirty="0"/>
              <a:t>미니배치 경사 </a:t>
            </a:r>
            <a:r>
              <a:rPr kumimoji="1" lang="ko-KR" altLang="en-US" dirty="0" err="1"/>
              <a:t>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Vanilla SGD</a:t>
            </a:r>
            <a:r>
              <a:rPr kumimoji="1" lang="ko-KR" altLang="en-US" dirty="0"/>
              <a:t>의 문제점과 해결방안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dirty="0"/>
              <a:t>Review Question(</a:t>
            </a:r>
            <a:r>
              <a:rPr kumimoji="1" lang="ko-KR" altLang="en-US" dirty="0"/>
              <a:t>강의에서 나온 질문들</a:t>
            </a:r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5B68F57-D566-EF3A-B64E-DF327BC9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35" y="73664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000" dirty="0"/>
              <a:t>Review</a:t>
            </a:r>
            <a:endParaRPr kumimoji="1"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13880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C66034-5EBB-C4E9-94F6-7051D4095563}"/>
              </a:ext>
            </a:extLst>
          </p:cNvPr>
          <p:cNvSpPr txBox="1"/>
          <p:nvPr/>
        </p:nvSpPr>
        <p:spPr>
          <a:xfrm>
            <a:off x="391379" y="1502545"/>
            <a:ext cx="114092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loss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각각의 파라미터로 </a:t>
            </a:r>
            <a:r>
              <a:rPr kumimoji="1" lang="ko-KR" altLang="en-US" dirty="0" err="1"/>
              <a:t>편미분하면</a:t>
            </a:r>
            <a:r>
              <a:rPr kumimoji="1" lang="ko-KR" altLang="en-US" dirty="0"/>
              <a:t>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가 나오는데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가 낮아지는 방향으로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단계씩 </a:t>
            </a:r>
            <a:r>
              <a:rPr kumimoji="1" lang="ko-KR" altLang="en-US" dirty="0" err="1"/>
              <a:t>진행하다보면</a:t>
            </a:r>
            <a:r>
              <a:rPr kumimoji="1" lang="ko-KR" altLang="en-US" dirty="0"/>
              <a:t> 결국 전체적으로 </a:t>
            </a:r>
            <a:r>
              <a:rPr kumimoji="1" lang="en-US" altLang="ko-KR" dirty="0"/>
              <a:t>loss</a:t>
            </a:r>
            <a:r>
              <a:rPr kumimoji="1" lang="ko-KR" altLang="en-US" dirty="0"/>
              <a:t>가 줄어드는 방향으로 나아갈 수 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함수의 최솟값을 찾기 위해 반복적으로 함수의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의 반대 방향으로 이동하는 기본적인 최적화 알고리즘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kumimoji="1" lang="ko-KR" altLang="en-US" dirty="0"/>
              <a:t>시작 파라미터에서 미분을 구한다</a:t>
            </a:r>
            <a:r>
              <a:rPr kumimoji="1" lang="en-US" altLang="ko-KR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ko-KR" altLang="en-US" dirty="0"/>
              <a:t>구해진 </a:t>
            </a:r>
            <a:r>
              <a:rPr kumimoji="1" lang="ko-KR" altLang="en-US" dirty="0" err="1"/>
              <a:t>기울의</a:t>
            </a:r>
            <a:r>
              <a:rPr kumimoji="1" lang="ko-KR" altLang="en-US" dirty="0"/>
              <a:t> 반대 방향</a:t>
            </a:r>
            <a:r>
              <a:rPr kumimoji="1" lang="en-US" altLang="ko-KR" dirty="0"/>
              <a:t>(</a:t>
            </a:r>
            <a:r>
              <a:rPr kumimoji="1" lang="ko-KR" altLang="en-US" dirty="0"/>
              <a:t>기울기가 </a:t>
            </a:r>
            <a:r>
              <a:rPr kumimoji="1" lang="en-US" altLang="ko-KR" dirty="0"/>
              <a:t>+</a:t>
            </a:r>
            <a:r>
              <a:rPr kumimoji="1" lang="ko-KR" altLang="en-US" dirty="0"/>
              <a:t>면 음의 방향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면 양의 방향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얼마간 이동시킨 뒤 다음 파라미터에서 미분을 구한다</a:t>
            </a:r>
            <a:r>
              <a:rPr kumimoji="1" lang="en-US" altLang="ko-KR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1" lang="ko-KR" altLang="en-US" dirty="0"/>
              <a:t>위에서 구한 미분 값이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이 아니면 위 과정을 반복한다</a:t>
            </a:r>
            <a:r>
              <a:rPr kumimoji="1" lang="en-US" altLang="ko-KR" dirty="0"/>
              <a:t>.</a:t>
            </a:r>
          </a:p>
          <a:p>
            <a:pPr lvl="1"/>
            <a:endParaRPr kumimoji="1"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dirty="0"/>
              <a:t>기울기가 한쪽으로만 가는 경우</a:t>
            </a:r>
            <a:endParaRPr kumimoji="1"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dirty="0"/>
              <a:t>적절한 </a:t>
            </a:r>
            <a:r>
              <a:rPr kumimoji="1" lang="ko-KR" altLang="en-US" dirty="0" err="1"/>
              <a:t>학습률을</a:t>
            </a:r>
            <a:r>
              <a:rPr kumimoji="1" lang="ko-KR" altLang="en-US" dirty="0"/>
              <a:t> 사용할 때</a:t>
            </a:r>
            <a:endParaRPr kumimoji="1"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dirty="0"/>
              <a:t>기울기가 양수와 음수를 반복하는 경우</a:t>
            </a:r>
            <a:endParaRPr kumimoji="1"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학습률이</a:t>
            </a:r>
            <a:r>
              <a:rPr kumimoji="1" lang="ko-KR" altLang="en-US" dirty="0"/>
              <a:t> 너무 클 때</a:t>
            </a:r>
            <a:endParaRPr kumimoji="1"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dirty="0"/>
              <a:t>최악의 경우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값이 발산하거나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수렴하지 않고 계속 진동할 수 있다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524F4FD-549F-6E2E-C26C-D13164E8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Gradient Descent(</a:t>
            </a:r>
            <a:r>
              <a:rPr kumimoji="1" lang="ko-KR" altLang="en-US" sz="3200" dirty="0"/>
              <a:t>경사 </a:t>
            </a:r>
            <a:r>
              <a:rPr kumimoji="1" lang="ko-KR" altLang="en-US" sz="3200" dirty="0" err="1"/>
              <a:t>하강법</a:t>
            </a:r>
            <a:r>
              <a:rPr kumimoji="1" lang="en-US" altLang="ko-KR" sz="32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3A35C-D9DC-E00D-5A6C-AE2BE7917AB4}"/>
              </a:ext>
            </a:extLst>
          </p:cNvPr>
          <p:cNvSpPr txBox="1"/>
          <p:nvPr/>
        </p:nvSpPr>
        <p:spPr>
          <a:xfrm>
            <a:off x="4710844" y="6303859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Gradient Descent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26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687C-11E6-B3DB-F215-2FFF22F6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93CC4A-8822-B363-B7A9-0502C288A335}"/>
              </a:ext>
            </a:extLst>
          </p:cNvPr>
          <p:cNvSpPr txBox="1"/>
          <p:nvPr/>
        </p:nvSpPr>
        <p:spPr>
          <a:xfrm>
            <a:off x="391380" y="1502545"/>
            <a:ext cx="114092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전체 학습 데이터를 사용해 한 번에 손실 함수의 기울기를 계산하고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epoch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번당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전체 데이터를 모두 사용해 파라미터를 업데이트한다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수렴 과정이 안정적이고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결과가 일정함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노이즈가 적다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데이터가 많을수록 메모리 사용량이 매우 큼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한 번의 업데이트에 시간이 오래 걸림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실시간 데이터나 온라인 학습에는 부적합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54E7717-F95B-F4C4-2034-024EC8C0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Batch Gradient Descent(</a:t>
            </a:r>
            <a:r>
              <a:rPr kumimoji="1" lang="ko-KR" altLang="en-US" sz="3200"/>
              <a:t>배치 경사하강법</a:t>
            </a:r>
            <a:r>
              <a:rPr kumimoji="1" lang="en-US" altLang="ko-KR" sz="3200"/>
              <a:t>)</a:t>
            </a:r>
            <a:endParaRPr kumimoji="1" lang="en-US" altLang="ko-KR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85E5D-EC67-6BC8-0BB6-FF2DC8EB3F6A}"/>
              </a:ext>
            </a:extLst>
          </p:cNvPr>
          <p:cNvSpPr txBox="1"/>
          <p:nvPr/>
        </p:nvSpPr>
        <p:spPr>
          <a:xfrm>
            <a:off x="5385708" y="603209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BGD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4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BAA8-C132-0708-1490-54653191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E630F8-98E8-3D43-D4BC-EE5565ACA452}"/>
              </a:ext>
            </a:extLst>
          </p:cNvPr>
          <p:cNvSpPr txBox="1"/>
          <p:nvPr/>
        </p:nvSpPr>
        <p:spPr>
          <a:xfrm>
            <a:off x="391380" y="1502545"/>
            <a:ext cx="114092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무작위로 선택한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개의 데이터 샘플만을 사용해 기울기를 계산하고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 샘플 한 개마다 파라미터를 갱신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빠른 업데이트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 덕분에 지역 최소값에 벗어날 수 있음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대용량 데이터나 온라인 학습에 적합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업데이트가 불안정해 손실 함수가 많이 출렁임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정확한 최소값에 수렴하기 어려움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4F0DD33-35FA-C117-90E3-DB109E80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Stochastic Gradient Descent(</a:t>
            </a:r>
            <a:r>
              <a:rPr kumimoji="1" lang="ko-KR" altLang="en-US" sz="3200" dirty="0"/>
              <a:t>확률적 </a:t>
            </a:r>
            <a:r>
              <a:rPr kumimoji="1" lang="ko-KR" altLang="en-US" sz="3200" dirty="0" err="1"/>
              <a:t>경사하강법</a:t>
            </a:r>
            <a:r>
              <a:rPr kumimoji="1" lang="en-US" altLang="ko-KR" sz="32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978BE-D12C-2DF7-1AD1-238307332ED8}"/>
              </a:ext>
            </a:extLst>
          </p:cNvPr>
          <p:cNvSpPr txBox="1"/>
          <p:nvPr/>
        </p:nvSpPr>
        <p:spPr>
          <a:xfrm>
            <a:off x="5390517" y="6046838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SGD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779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C190-7EBA-9ED1-BBA5-73FA8FCF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D1D5B7-1E97-3425-DF96-0F10973B31F1}"/>
              </a:ext>
            </a:extLst>
          </p:cNvPr>
          <p:cNvSpPr txBox="1"/>
          <p:nvPr/>
        </p:nvSpPr>
        <p:spPr>
          <a:xfrm>
            <a:off x="391380" y="1502545"/>
            <a:ext cx="11409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이론 관점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데이터가 매우 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입출력 비용이 크면 </a:t>
            </a:r>
            <a:r>
              <a:rPr kumimoji="1" lang="en-US" altLang="ko-KR" dirty="0"/>
              <a:t>BGD</a:t>
            </a:r>
            <a:r>
              <a:rPr kumimoji="1" lang="ko-KR" altLang="en-US" dirty="0"/>
              <a:t>가 더 오래 걸릴 수 있다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실습 관점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실습 코드는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데이터셋</a:t>
            </a:r>
            <a:r>
              <a:rPr kumimoji="1" lang="en-US" altLang="ko-KR" dirty="0"/>
              <a:t>＂</a:t>
            </a:r>
            <a:r>
              <a:rPr kumimoji="1" lang="ko-KR" altLang="en-US" dirty="0"/>
              <a:t>이 실제로 존재하지 않고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단순히 수식 계산만 반복한다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BGD</a:t>
            </a:r>
            <a:r>
              <a:rPr kumimoji="1" lang="ko-KR" altLang="en-US" dirty="0"/>
              <a:t>는 한 </a:t>
            </a:r>
            <a:r>
              <a:rPr kumimoji="1" lang="en-US" altLang="ko-KR" dirty="0"/>
              <a:t>epoch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SGD</a:t>
            </a:r>
            <a:r>
              <a:rPr kumimoji="1" lang="ko-KR" altLang="en-US" dirty="0"/>
              <a:t>는 한 </a:t>
            </a:r>
            <a:r>
              <a:rPr kumimoji="1" lang="en-US" altLang="ko-KR" dirty="0"/>
              <a:t>epoch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여러 번</a:t>
            </a:r>
            <a:r>
              <a:rPr kumimoji="1" lang="en-US" altLang="ko-KR" dirty="0"/>
              <a:t>(</a:t>
            </a:r>
            <a:r>
              <a:rPr kumimoji="1" lang="ko-KR" altLang="en-US" dirty="0"/>
              <a:t>예</a:t>
            </a:r>
            <a:r>
              <a:rPr kumimoji="1" lang="en-US" altLang="ko-KR" dirty="0"/>
              <a:t>:10</a:t>
            </a:r>
            <a:r>
              <a:rPr kumimoji="1" lang="ko-KR" altLang="en-US" dirty="0"/>
              <a:t>번</a:t>
            </a:r>
            <a:r>
              <a:rPr kumimoji="1" lang="en-US" altLang="ko-KR" dirty="0"/>
              <a:t>)</a:t>
            </a:r>
            <a:r>
              <a:rPr kumimoji="1" lang="ko-KR" altLang="en-US" dirty="0"/>
              <a:t>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따라서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SGD</a:t>
            </a:r>
            <a:r>
              <a:rPr kumimoji="1" lang="ko-KR" altLang="en-US" dirty="0"/>
              <a:t>가 한 </a:t>
            </a:r>
            <a:r>
              <a:rPr kumimoji="1" lang="en-US" altLang="ko-KR" dirty="0"/>
              <a:t>epoch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더 많은 연산을 하므로</a:t>
            </a:r>
            <a:r>
              <a:rPr kumimoji="1" lang="en-US" altLang="ko-KR" dirty="0"/>
              <a:t>, BGD</a:t>
            </a:r>
            <a:r>
              <a:rPr kumimoji="1" lang="ko-KR" altLang="en-US" dirty="0"/>
              <a:t>보다 소요시간이 더 크게 측정된다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실제 </a:t>
            </a:r>
            <a:r>
              <a:rPr kumimoji="1" lang="ko-KR" altLang="en-US" dirty="0" err="1"/>
              <a:t>머신러닝</a:t>
            </a:r>
            <a:r>
              <a:rPr kumimoji="1" lang="ko-KR" altLang="en-US" dirty="0"/>
              <a:t> 환경 관점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데이터가 매우 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입출력</a:t>
            </a:r>
            <a:r>
              <a:rPr kumimoji="1" lang="en-US" altLang="ko-KR" dirty="0"/>
              <a:t>(IO)</a:t>
            </a:r>
            <a:r>
              <a:rPr kumimoji="1" lang="ko-KR" altLang="en-US" dirty="0"/>
              <a:t> 시간이 무시할 수 없을 때는 </a:t>
            </a:r>
            <a:r>
              <a:rPr kumimoji="1" lang="en-US" altLang="ko-KR" dirty="0"/>
              <a:t>BGD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epoch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번당 소요 시간이 더 커질 수 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SGD</a:t>
            </a:r>
            <a:r>
              <a:rPr kumimoji="1" lang="ko-KR" altLang="en-US" dirty="0"/>
              <a:t>는 데이터를 쪼개서 여러 번 불러오므로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각 연산은 가볍지만 전체적으로는 연산 횟수가 많아진다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따라서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실제 환경에서는 데이터 크기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IO</a:t>
            </a:r>
            <a:r>
              <a:rPr kumimoji="1" lang="ko-KR" altLang="en-US" dirty="0"/>
              <a:t> 비용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연산량에</a:t>
            </a:r>
            <a:r>
              <a:rPr kumimoji="1" lang="ko-KR" altLang="en-US" dirty="0"/>
              <a:t> 따라 어느 쪽이 더 오래 걸릴지 달라질 수 있다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E9904B7-9455-9A6C-6DCD-98CC4D54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BGD VS SGD epoch </a:t>
            </a:r>
            <a:r>
              <a:rPr kumimoji="1" lang="ko-KR" altLang="en-US" sz="3200" dirty="0"/>
              <a:t>소요 시간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063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32E5-D2EC-5DC1-1E7F-AE6CC01C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6F6938-A111-277B-7DA6-75211C8E6CDD}"/>
              </a:ext>
            </a:extLst>
          </p:cNvPr>
          <p:cNvSpPr txBox="1"/>
          <p:nvPr/>
        </p:nvSpPr>
        <p:spPr>
          <a:xfrm>
            <a:off x="391380" y="1502545"/>
            <a:ext cx="11409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전체 데이터를 여러 개의 작은 배치로 나누어 각 배치마다 기울기를 계산해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미니배치마다 파라미터를 업데이트한다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BGD</a:t>
            </a:r>
            <a:r>
              <a:rPr kumimoji="1" lang="ko-KR" altLang="en-US" dirty="0"/>
              <a:t>보다 빠르고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SGD</a:t>
            </a:r>
            <a:r>
              <a:rPr kumimoji="1" lang="ko-KR" altLang="en-US" dirty="0"/>
              <a:t>보다 안정적이다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행렬 연산 및 </a:t>
            </a:r>
            <a:r>
              <a:rPr kumimoji="1" lang="en-US" altLang="ko-KR" dirty="0"/>
              <a:t>GPU </a:t>
            </a:r>
            <a:r>
              <a:rPr kumimoji="1" lang="ko-KR" altLang="en-US" dirty="0"/>
              <a:t>등 병렬처리에 효율적이다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배치 크기 설정이 필요하다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완전히 안정적이지는 않다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40D8E4E5-432F-7469-9FDE-4A68DFC9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Mini-Batch Gradient Descent(</a:t>
            </a:r>
            <a:r>
              <a:rPr kumimoji="1" lang="ko-KR" altLang="en-US" sz="3200" dirty="0"/>
              <a:t>미니배치 경사 </a:t>
            </a:r>
            <a:r>
              <a:rPr kumimoji="1" lang="ko-KR" altLang="en-US" sz="3200" dirty="0" err="1"/>
              <a:t>하강법</a:t>
            </a:r>
            <a:r>
              <a:rPr kumimoji="1" lang="en-US" altLang="ko-KR" sz="32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7DF80-9CC6-EFC5-A22F-DB111AA5C9DE}"/>
              </a:ext>
            </a:extLst>
          </p:cNvPr>
          <p:cNvSpPr txBox="1"/>
          <p:nvPr/>
        </p:nvSpPr>
        <p:spPr>
          <a:xfrm>
            <a:off x="5390517" y="6046838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SGD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432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A3C7-97D4-965C-1969-A4438411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5DD70-BFA8-5E34-7C7C-05C75408C7D7}"/>
              </a:ext>
            </a:extLst>
          </p:cNvPr>
          <p:cNvSpPr txBox="1"/>
          <p:nvPr/>
        </p:nvSpPr>
        <p:spPr>
          <a:xfrm>
            <a:off x="391380" y="1502545"/>
            <a:ext cx="114092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이론 관점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BGD : </a:t>
            </a:r>
            <a:r>
              <a:rPr kumimoji="1" lang="ko-KR" altLang="en-US" dirty="0"/>
              <a:t>전체 데이터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SGD : 1</a:t>
            </a:r>
            <a:r>
              <a:rPr kumimoji="1" lang="ko-KR" altLang="en-US" dirty="0"/>
              <a:t>개 샘플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MBGD : </a:t>
            </a:r>
            <a:r>
              <a:rPr kumimoji="1" lang="ko-KR" altLang="en-US" dirty="0"/>
              <a:t>소규모 묶음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실무 관점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SGD</a:t>
            </a:r>
            <a:r>
              <a:rPr kumimoji="1" lang="ko-KR" altLang="en-US" dirty="0"/>
              <a:t>라는 용어를 </a:t>
            </a:r>
            <a:r>
              <a:rPr kumimoji="1" lang="en-US" altLang="ko-KR" dirty="0"/>
              <a:t>Mini-Batch </a:t>
            </a:r>
            <a:r>
              <a:rPr kumimoji="1" lang="ko-KR" altLang="en-US" dirty="0"/>
              <a:t>방식까지 넓게 사용한다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프레임워크에서도 </a:t>
            </a:r>
            <a:r>
              <a:rPr kumimoji="1" lang="en-US" altLang="ko-KR" dirty="0"/>
              <a:t>optimizer</a:t>
            </a:r>
            <a:r>
              <a:rPr kumimoji="1" lang="ko-KR" altLang="en-US" dirty="0"/>
              <a:t> 이름이 </a:t>
            </a:r>
            <a:r>
              <a:rPr kumimoji="1" lang="en-US" altLang="ko-KR" dirty="0"/>
              <a:t>SGD</a:t>
            </a:r>
            <a:r>
              <a:rPr kumimoji="1" lang="ko-KR" altLang="en-US" dirty="0"/>
              <a:t>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실제로는 </a:t>
            </a:r>
            <a:r>
              <a:rPr kumimoji="1" lang="en-US" altLang="ko-KR" dirty="0"/>
              <a:t>mini-batch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중요한 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전체 데이터가 아닌 일부</a:t>
            </a:r>
            <a:r>
              <a:rPr kumimoji="1" lang="en-US" altLang="ko-KR" dirty="0"/>
              <a:t>(1</a:t>
            </a:r>
            <a:r>
              <a:rPr kumimoji="1" lang="ko-KR" altLang="en-US" dirty="0"/>
              <a:t>개 또는 미니배치</a:t>
            </a:r>
            <a:r>
              <a:rPr kumimoji="1" lang="en-US" altLang="ko-KR" dirty="0"/>
              <a:t>)</a:t>
            </a:r>
            <a:r>
              <a:rPr kumimoji="1" lang="ko-KR" altLang="en-US" dirty="0"/>
              <a:t>로 업데이트하는 것이 </a:t>
            </a:r>
            <a:r>
              <a:rPr kumimoji="1" lang="en-US" altLang="ko-KR" dirty="0"/>
              <a:t>BGD</a:t>
            </a:r>
            <a:r>
              <a:rPr kumimoji="1" lang="ko-KR" altLang="en-US" dirty="0" err="1"/>
              <a:t>와의</a:t>
            </a:r>
            <a:r>
              <a:rPr kumimoji="1" lang="ko-KR" altLang="en-US" dirty="0"/>
              <a:t> 본질적 차이점이다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3A782A8-7F21-FA87-E109-75032CE7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SGD VS MBGD</a:t>
            </a:r>
          </a:p>
        </p:txBody>
      </p:sp>
    </p:spTree>
    <p:extLst>
      <p:ext uri="{BB962C8B-B14F-4D97-AF65-F5344CB8AC3E}">
        <p14:creationId xmlns:p14="http://schemas.microsoft.com/office/powerpoint/2010/main" val="257818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557</Words>
  <Application>Microsoft Macintosh PowerPoint</Application>
  <PresentationFormat>와이드스크린</PresentationFormat>
  <Paragraphs>100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CNN</vt:lpstr>
      <vt:lpstr>Review</vt:lpstr>
      <vt:lpstr>Gradient Descent(경사 하강법)</vt:lpstr>
      <vt:lpstr>Batch Gradient Descent(배치 경사하강법)</vt:lpstr>
      <vt:lpstr>Stochastic Gradient Descent(확률적 경사하강법)</vt:lpstr>
      <vt:lpstr>BGD VS SGD epoch 소요 시간</vt:lpstr>
      <vt:lpstr>Mini-Batch Gradient Descent(미니배치 경사 하강법)</vt:lpstr>
      <vt:lpstr>SGD VS MBGD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2</cp:revision>
  <dcterms:created xsi:type="dcterms:W3CDTF">2025-07-12T08:26:30Z</dcterms:created>
  <dcterms:modified xsi:type="dcterms:W3CDTF">2025-07-12T10:20:46Z</dcterms:modified>
</cp:coreProperties>
</file>